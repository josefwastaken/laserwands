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  <p:sldId id="295" r:id="rId4"/>
    <p:sldId id="259" r:id="rId5"/>
    <p:sldId id="257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  <p:sldId id="277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8288000" cy="10287000"/>
  <p:notesSz cx="6858000" cy="9144000"/>
  <p:embeddedFontLst>
    <p:embeddedFont>
      <p:font typeface="Alternate Gothic No3" panose="020B0604020202020204" charset="-18"/>
      <p:regular r:id="rId41"/>
    </p:embeddedFont>
    <p:embeddedFont>
      <p:font typeface="DM Sans" pitchFamily="2" charset="-18"/>
      <p:regular r:id="rId42"/>
      <p:bold r:id="rId43"/>
      <p:italic r:id="rId44"/>
      <p:boldItalic r:id="rId45"/>
    </p:embeddedFont>
    <p:embeddedFont>
      <p:font typeface="DM Sans Bold" pitchFamily="2" charset="-18"/>
      <p:regular r:id="rId46"/>
      <p:bold r:id="rId47"/>
    </p:embeddedFont>
    <p:embeddedFont>
      <p:font typeface="Horizon" panose="020B0604020202020204" charset="-18"/>
      <p:regular r:id="rId4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70" y="38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4.jpe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275313" y="-441650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>
            <a:off x="12747936" y="457171"/>
            <a:ext cx="3597471" cy="3444579"/>
          </a:xfrm>
          <a:custGeom>
            <a:avLst/>
            <a:gdLst/>
            <a:ahLst/>
            <a:cxnLst/>
            <a:rect l="l" t="t" r="r" b="b"/>
            <a:pathLst>
              <a:path w="3597471" h="3444579">
                <a:moveTo>
                  <a:pt x="0" y="0"/>
                </a:moveTo>
                <a:lnTo>
                  <a:pt x="3597471" y="0"/>
                </a:lnTo>
                <a:lnTo>
                  <a:pt x="3597471" y="3444579"/>
                </a:lnTo>
                <a:lnTo>
                  <a:pt x="0" y="34445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-1946731" y="2842845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12385986" y="2198441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AutoShape 6"/>
          <p:cNvSpPr/>
          <p:nvPr/>
        </p:nvSpPr>
        <p:spPr>
          <a:xfrm>
            <a:off x="0" y="9386887"/>
            <a:ext cx="18288000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Box 7"/>
          <p:cNvSpPr txBox="1"/>
          <p:nvPr/>
        </p:nvSpPr>
        <p:spPr>
          <a:xfrm>
            <a:off x="3929325" y="4153728"/>
            <a:ext cx="10429350" cy="189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599"/>
              </a:lnSpc>
            </a:pPr>
            <a:r>
              <a:rPr lang="en-US" sz="1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LASERWANDS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9600811"/>
            <a:ext cx="5051668" cy="401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JOSEF STRACHOŇ, 3ITB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587655" y="9600811"/>
            <a:ext cx="5671645" cy="401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BC. VRATISLAV MEDŘICKÝ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60973" y="5934876"/>
            <a:ext cx="2966053" cy="873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Kouzla existují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46713" y="-25865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>
            <a:off x="13854766" y="-1857716"/>
            <a:ext cx="7548481" cy="7001216"/>
          </a:xfrm>
          <a:custGeom>
            <a:avLst/>
            <a:gdLst/>
            <a:ahLst/>
            <a:cxnLst/>
            <a:rect l="l" t="t" r="r" b="b"/>
            <a:pathLst>
              <a:path w="7548481" h="7001216">
                <a:moveTo>
                  <a:pt x="0" y="0"/>
                </a:moveTo>
                <a:lnTo>
                  <a:pt x="7548481" y="0"/>
                </a:lnTo>
                <a:lnTo>
                  <a:pt x="7548481" y="7001216"/>
                </a:lnTo>
                <a:lnTo>
                  <a:pt x="0" y="70012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2184014" y="476151"/>
            <a:ext cx="3597471" cy="3444579"/>
          </a:xfrm>
          <a:custGeom>
            <a:avLst/>
            <a:gdLst/>
            <a:ahLst/>
            <a:cxnLst/>
            <a:rect l="l" t="t" r="r" b="b"/>
            <a:pathLst>
              <a:path w="3597471" h="3444579">
                <a:moveTo>
                  <a:pt x="0" y="0"/>
                </a:moveTo>
                <a:lnTo>
                  <a:pt x="3597472" y="0"/>
                </a:lnTo>
                <a:lnTo>
                  <a:pt x="3597472" y="3444579"/>
                </a:lnTo>
                <a:lnTo>
                  <a:pt x="0" y="34445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1946731" y="2842845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3" name="TextBox 33"/>
          <p:cNvSpPr txBox="1"/>
          <p:nvPr/>
        </p:nvSpPr>
        <p:spPr>
          <a:xfrm>
            <a:off x="1296076" y="1671467"/>
            <a:ext cx="14768151" cy="96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11"/>
              </a:lnSpc>
              <a:spcBef>
                <a:spcPct val="0"/>
              </a:spcBef>
            </a:pPr>
            <a:r>
              <a:rPr lang="en-US" sz="8799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STAV V POLOLETÍ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DA60232-F824-E4E6-9072-B44539ADFD7B}"/>
              </a:ext>
            </a:extLst>
          </p:cNvPr>
          <p:cNvGrpSpPr/>
          <p:nvPr/>
        </p:nvGrpSpPr>
        <p:grpSpPr>
          <a:xfrm>
            <a:off x="1028700" y="10930346"/>
            <a:ext cx="5368741" cy="5947954"/>
            <a:chOff x="1028700" y="3310346"/>
            <a:chExt cx="5368741" cy="5947954"/>
          </a:xfrm>
        </p:grpSpPr>
        <p:grpSp>
          <p:nvGrpSpPr>
            <p:cNvPr id="41" name="Group 6">
              <a:extLst>
                <a:ext uri="{FF2B5EF4-FFF2-40B4-BE49-F238E27FC236}">
                  <a16:creationId xmlns:a16="http://schemas.microsoft.com/office/drawing/2014/main" id="{AE3147B2-E8D1-BF36-1953-ED490755AE4B}"/>
                </a:ext>
              </a:extLst>
            </p:cNvPr>
            <p:cNvGrpSpPr/>
            <p:nvPr/>
          </p:nvGrpSpPr>
          <p:grpSpPr>
            <a:xfrm>
              <a:off x="1028700" y="3310346"/>
              <a:ext cx="5368741" cy="5947954"/>
              <a:chOff x="0" y="0"/>
              <a:chExt cx="1413989" cy="1566539"/>
            </a:xfrm>
          </p:grpSpPr>
          <p:sp>
            <p:nvSpPr>
              <p:cNvPr id="50" name="Freeform 7">
                <a:extLst>
                  <a:ext uri="{FF2B5EF4-FFF2-40B4-BE49-F238E27FC236}">
                    <a16:creationId xmlns:a16="http://schemas.microsoft.com/office/drawing/2014/main" id="{88EEF1DD-8D39-D526-D3BB-7BE0A9B78ACA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1" name="TextBox 8">
                <a:extLst>
                  <a:ext uri="{FF2B5EF4-FFF2-40B4-BE49-F238E27FC236}">
                    <a16:creationId xmlns:a16="http://schemas.microsoft.com/office/drawing/2014/main" id="{096BBEE4-2C22-28AA-2D47-A41616E6140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42" name="Group 15">
              <a:extLst>
                <a:ext uri="{FF2B5EF4-FFF2-40B4-BE49-F238E27FC236}">
                  <a16:creationId xmlns:a16="http://schemas.microsoft.com/office/drawing/2014/main" id="{8B0F68E8-AEAB-1246-043C-797A6F7E851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273202" y="4798336"/>
              <a:ext cx="4879738" cy="2798959"/>
              <a:chOff x="0" y="0"/>
              <a:chExt cx="7981950" cy="4578350"/>
            </a:xfrm>
          </p:grpSpPr>
          <p:sp>
            <p:nvSpPr>
              <p:cNvPr id="45" name="Freeform 16">
                <a:extLst>
                  <a:ext uri="{FF2B5EF4-FFF2-40B4-BE49-F238E27FC236}">
                    <a16:creationId xmlns:a16="http://schemas.microsoft.com/office/drawing/2014/main" id="{114722BD-8170-1BDF-F45C-9F64C83E0BDE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6" name="Freeform 17">
                <a:extLst>
                  <a:ext uri="{FF2B5EF4-FFF2-40B4-BE49-F238E27FC236}">
                    <a16:creationId xmlns:a16="http://schemas.microsoft.com/office/drawing/2014/main" id="{11DA1E90-4AFB-2DEE-5323-D99A1ABE130C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7" name="Freeform 18">
                <a:extLst>
                  <a:ext uri="{FF2B5EF4-FFF2-40B4-BE49-F238E27FC236}">
                    <a16:creationId xmlns:a16="http://schemas.microsoft.com/office/drawing/2014/main" id="{8EBFFFDC-EF25-B7C8-1D9D-ADB4D15F8BD8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8" name="Freeform 19">
                <a:extLst>
                  <a:ext uri="{FF2B5EF4-FFF2-40B4-BE49-F238E27FC236}">
                    <a16:creationId xmlns:a16="http://schemas.microsoft.com/office/drawing/2014/main" id="{C59BD3B2-6A60-637D-1AD0-1C9637D222CD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9" name="Freeform 20">
                <a:extLst>
                  <a:ext uri="{FF2B5EF4-FFF2-40B4-BE49-F238E27FC236}">
                    <a16:creationId xmlns:a16="http://schemas.microsoft.com/office/drawing/2014/main" id="{E78BE99F-2F5E-ADC4-A62F-E023F3F47936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10321" r="-10321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43" name="TextBox 34">
              <a:extLst>
                <a:ext uri="{FF2B5EF4-FFF2-40B4-BE49-F238E27FC236}">
                  <a16:creationId xmlns:a16="http://schemas.microsoft.com/office/drawing/2014/main" id="{74D0A6DE-C90E-3F35-0241-79D1A63005A1}"/>
                </a:ext>
              </a:extLst>
            </p:cNvPr>
            <p:cNvSpPr txBox="1"/>
            <p:nvPr/>
          </p:nvSpPr>
          <p:spPr>
            <a:xfrm>
              <a:off x="1233299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Základní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zapojení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44" name="TextBox 37">
              <a:extLst>
                <a:ext uri="{FF2B5EF4-FFF2-40B4-BE49-F238E27FC236}">
                  <a16:creationId xmlns:a16="http://schemas.microsoft.com/office/drawing/2014/main" id="{D7684B38-2C19-4876-9683-4B55A972DFE4}"/>
                </a:ext>
              </a:extLst>
            </p:cNvPr>
            <p:cNvSpPr txBox="1"/>
            <p:nvPr/>
          </p:nvSpPr>
          <p:spPr>
            <a:xfrm>
              <a:off x="1731060" y="7834942"/>
              <a:ext cx="3964020" cy="11675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 pololetí bylo navrženo základní zapojení hůlky, které propojuje napájení, mikrokontrolér ESP32-C6 a pohybové senzory.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25222E1-C56C-5F19-7966-B89CAB5B9567}"/>
              </a:ext>
            </a:extLst>
          </p:cNvPr>
          <p:cNvGrpSpPr/>
          <p:nvPr/>
        </p:nvGrpSpPr>
        <p:grpSpPr>
          <a:xfrm>
            <a:off x="6888474" y="10930346"/>
            <a:ext cx="5368741" cy="5947954"/>
            <a:chOff x="6888474" y="3310346"/>
            <a:chExt cx="5368741" cy="5947954"/>
          </a:xfrm>
        </p:grpSpPr>
        <p:grpSp>
          <p:nvGrpSpPr>
            <p:cNvPr id="53" name="Group 9">
              <a:extLst>
                <a:ext uri="{FF2B5EF4-FFF2-40B4-BE49-F238E27FC236}">
                  <a16:creationId xmlns:a16="http://schemas.microsoft.com/office/drawing/2014/main" id="{B234E3D0-600F-34B1-907B-A61035CCDCAB}"/>
                </a:ext>
              </a:extLst>
            </p:cNvPr>
            <p:cNvGrpSpPr/>
            <p:nvPr/>
          </p:nvGrpSpPr>
          <p:grpSpPr>
            <a:xfrm>
              <a:off x="6888474" y="3310346"/>
              <a:ext cx="5368741" cy="5947954"/>
              <a:chOff x="0" y="0"/>
              <a:chExt cx="1413989" cy="1566539"/>
            </a:xfrm>
          </p:grpSpPr>
          <p:sp>
            <p:nvSpPr>
              <p:cNvPr id="62" name="Freeform 10">
                <a:extLst>
                  <a:ext uri="{FF2B5EF4-FFF2-40B4-BE49-F238E27FC236}">
                    <a16:creationId xmlns:a16="http://schemas.microsoft.com/office/drawing/2014/main" id="{CDD4C711-DEBF-A433-2B10-DF22E056F969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3" name="TextBox 11">
                <a:extLst>
                  <a:ext uri="{FF2B5EF4-FFF2-40B4-BE49-F238E27FC236}">
                    <a16:creationId xmlns:a16="http://schemas.microsoft.com/office/drawing/2014/main" id="{91FF1CF1-C58D-8AF5-8840-032376B530C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54" name="Group 21">
              <a:extLst>
                <a:ext uri="{FF2B5EF4-FFF2-40B4-BE49-F238E27FC236}">
                  <a16:creationId xmlns:a16="http://schemas.microsoft.com/office/drawing/2014/main" id="{623993DA-5204-144A-73D6-AADDDB7A9B9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132976" y="4798336"/>
              <a:ext cx="4879738" cy="2798959"/>
              <a:chOff x="0" y="0"/>
              <a:chExt cx="7981950" cy="4578350"/>
            </a:xfrm>
          </p:grpSpPr>
          <p:sp>
            <p:nvSpPr>
              <p:cNvPr id="57" name="Freeform 22">
                <a:extLst>
                  <a:ext uri="{FF2B5EF4-FFF2-40B4-BE49-F238E27FC236}">
                    <a16:creationId xmlns:a16="http://schemas.microsoft.com/office/drawing/2014/main" id="{97CDAE9C-795B-8F1F-8F7A-DC248EB29580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8" name="Freeform 23">
                <a:extLst>
                  <a:ext uri="{FF2B5EF4-FFF2-40B4-BE49-F238E27FC236}">
                    <a16:creationId xmlns:a16="http://schemas.microsoft.com/office/drawing/2014/main" id="{BBBB6828-57A7-BBC9-B2E0-FA4BB9EDCF8D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9" name="Freeform 24">
                <a:extLst>
                  <a:ext uri="{FF2B5EF4-FFF2-40B4-BE49-F238E27FC236}">
                    <a16:creationId xmlns:a16="http://schemas.microsoft.com/office/drawing/2014/main" id="{82CB025F-500F-2121-9407-B91DB831257A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0" name="Freeform 25">
                <a:extLst>
                  <a:ext uri="{FF2B5EF4-FFF2-40B4-BE49-F238E27FC236}">
                    <a16:creationId xmlns:a16="http://schemas.microsoft.com/office/drawing/2014/main" id="{EA79D0BF-C741-63FE-F536-BE7A7D9805D9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1" name="Freeform 26">
                <a:extLst>
                  <a:ext uri="{FF2B5EF4-FFF2-40B4-BE49-F238E27FC236}">
                    <a16:creationId xmlns:a16="http://schemas.microsoft.com/office/drawing/2014/main" id="{ABEDFBAA-75B1-119D-0172-831ED2412529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56523" b="-56523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55" name="TextBox 35">
              <a:extLst>
                <a:ext uri="{FF2B5EF4-FFF2-40B4-BE49-F238E27FC236}">
                  <a16:creationId xmlns:a16="http://schemas.microsoft.com/office/drawing/2014/main" id="{F91CAEC9-2138-B556-F5B7-9E45395963BD}"/>
                </a:ext>
              </a:extLst>
            </p:cNvPr>
            <p:cNvSpPr txBox="1"/>
            <p:nvPr/>
          </p:nvSpPr>
          <p:spPr>
            <a:xfrm>
              <a:off x="7093073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První</a:t>
              </a:r>
              <a:r>
                <a:rPr lang="en-US" sz="2599" b="1" u="none" strike="noStrike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u="none" strike="noStrike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prototyp</a:t>
              </a:r>
              <a:endParaRPr lang="en-US" sz="2599" b="1" u="none" strike="noStrike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56" name="TextBox 38">
              <a:extLst>
                <a:ext uri="{FF2B5EF4-FFF2-40B4-BE49-F238E27FC236}">
                  <a16:creationId xmlns:a16="http://schemas.microsoft.com/office/drawing/2014/main" id="{26EE1E1D-A077-44E8-A86B-3814FAEA1152}"/>
                </a:ext>
              </a:extLst>
            </p:cNvPr>
            <p:cNvSpPr txBox="1"/>
            <p:nvPr/>
          </p:nvSpPr>
          <p:spPr>
            <a:xfrm>
              <a:off x="7574554" y="7923322"/>
              <a:ext cx="3996583" cy="8723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Bylo sestaveno první zapojení s ESP32-C6, senzory, laserem, LED signalizací a napájením.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81F6679-729C-BE14-8A2A-5BB798C88E9F}"/>
              </a:ext>
            </a:extLst>
          </p:cNvPr>
          <p:cNvGrpSpPr/>
          <p:nvPr/>
        </p:nvGrpSpPr>
        <p:grpSpPr>
          <a:xfrm>
            <a:off x="12748249" y="10930346"/>
            <a:ext cx="5992350" cy="5947954"/>
            <a:chOff x="12748249" y="3310346"/>
            <a:chExt cx="5992350" cy="5947954"/>
          </a:xfrm>
        </p:grpSpPr>
        <p:grpSp>
          <p:nvGrpSpPr>
            <p:cNvPr id="65" name="Group 12">
              <a:extLst>
                <a:ext uri="{FF2B5EF4-FFF2-40B4-BE49-F238E27FC236}">
                  <a16:creationId xmlns:a16="http://schemas.microsoft.com/office/drawing/2014/main" id="{FAE79923-B5AA-1F7B-3242-1E66B406E81D}"/>
                </a:ext>
              </a:extLst>
            </p:cNvPr>
            <p:cNvGrpSpPr/>
            <p:nvPr/>
          </p:nvGrpSpPr>
          <p:grpSpPr>
            <a:xfrm>
              <a:off x="12748249" y="3310346"/>
              <a:ext cx="5992350" cy="5947954"/>
              <a:chOff x="0" y="0"/>
              <a:chExt cx="1578232" cy="1566539"/>
            </a:xfrm>
          </p:grpSpPr>
          <p:sp>
            <p:nvSpPr>
              <p:cNvPr id="74" name="Freeform 13">
                <a:extLst>
                  <a:ext uri="{FF2B5EF4-FFF2-40B4-BE49-F238E27FC236}">
                    <a16:creationId xmlns:a16="http://schemas.microsoft.com/office/drawing/2014/main" id="{E4079C1C-EEF6-AACB-9A55-F10F5ABEDE51}"/>
                  </a:ext>
                </a:extLst>
              </p:cNvPr>
              <p:cNvSpPr/>
              <p:nvPr/>
            </p:nvSpPr>
            <p:spPr>
              <a:xfrm>
                <a:off x="0" y="0"/>
                <a:ext cx="1578232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578232" h="1566539">
                    <a:moveTo>
                      <a:pt x="32299" y="0"/>
                    </a:moveTo>
                    <a:lnTo>
                      <a:pt x="1545933" y="0"/>
                    </a:lnTo>
                    <a:cubicBezTo>
                      <a:pt x="1563771" y="0"/>
                      <a:pt x="1578232" y="14461"/>
                      <a:pt x="1578232" y="32299"/>
                    </a:cubicBezTo>
                    <a:lnTo>
                      <a:pt x="1578232" y="1534240"/>
                    </a:lnTo>
                    <a:cubicBezTo>
                      <a:pt x="1578232" y="1542806"/>
                      <a:pt x="1574829" y="1551022"/>
                      <a:pt x="1568772" y="1557079"/>
                    </a:cubicBezTo>
                    <a:cubicBezTo>
                      <a:pt x="1562715" y="1563136"/>
                      <a:pt x="1554499" y="1566539"/>
                      <a:pt x="1545933" y="1566539"/>
                    </a:cubicBezTo>
                    <a:lnTo>
                      <a:pt x="32299" y="1566539"/>
                    </a:lnTo>
                    <a:cubicBezTo>
                      <a:pt x="23733" y="1566539"/>
                      <a:pt x="15517" y="1563136"/>
                      <a:pt x="9460" y="1557079"/>
                    </a:cubicBezTo>
                    <a:cubicBezTo>
                      <a:pt x="3403" y="1551022"/>
                      <a:pt x="0" y="1542806"/>
                      <a:pt x="0" y="1534240"/>
                    </a:cubicBezTo>
                    <a:lnTo>
                      <a:pt x="0" y="32299"/>
                    </a:lnTo>
                    <a:cubicBezTo>
                      <a:pt x="0" y="23733"/>
                      <a:pt x="3403" y="15517"/>
                      <a:pt x="9460" y="9460"/>
                    </a:cubicBezTo>
                    <a:cubicBezTo>
                      <a:pt x="15517" y="3403"/>
                      <a:pt x="23733" y="0"/>
                      <a:pt x="32299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5" name="TextBox 14">
                <a:extLst>
                  <a:ext uri="{FF2B5EF4-FFF2-40B4-BE49-F238E27FC236}">
                    <a16:creationId xmlns:a16="http://schemas.microsoft.com/office/drawing/2014/main" id="{AEB1EEEF-A27B-BA55-1914-711145FF5B3F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578232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66" name="Group 27">
              <a:extLst>
                <a:ext uri="{FF2B5EF4-FFF2-40B4-BE49-F238E27FC236}">
                  <a16:creationId xmlns:a16="http://schemas.microsoft.com/office/drawing/2014/main" id="{281F2283-6AD9-1E9E-CD36-BBBA4D6C55B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045723" y="4798336"/>
              <a:ext cx="4879738" cy="2798959"/>
              <a:chOff x="0" y="0"/>
              <a:chExt cx="7981950" cy="4578350"/>
            </a:xfrm>
          </p:grpSpPr>
          <p:sp>
            <p:nvSpPr>
              <p:cNvPr id="69" name="Freeform 28">
                <a:extLst>
                  <a:ext uri="{FF2B5EF4-FFF2-40B4-BE49-F238E27FC236}">
                    <a16:creationId xmlns:a16="http://schemas.microsoft.com/office/drawing/2014/main" id="{FE24A9B8-9362-D01F-3BE3-59E2B1FC749E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0" name="Freeform 29">
                <a:extLst>
                  <a:ext uri="{FF2B5EF4-FFF2-40B4-BE49-F238E27FC236}">
                    <a16:creationId xmlns:a16="http://schemas.microsoft.com/office/drawing/2014/main" id="{EE731633-2963-56C3-CE4C-19144D03C3D1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1" name="Freeform 30">
                <a:extLst>
                  <a:ext uri="{FF2B5EF4-FFF2-40B4-BE49-F238E27FC236}">
                    <a16:creationId xmlns:a16="http://schemas.microsoft.com/office/drawing/2014/main" id="{FB084854-C59C-352A-B13B-B2B954AC27D6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2" name="Freeform 31">
                <a:extLst>
                  <a:ext uri="{FF2B5EF4-FFF2-40B4-BE49-F238E27FC236}">
                    <a16:creationId xmlns:a16="http://schemas.microsoft.com/office/drawing/2014/main" id="{421FF130-F73D-7DC9-EF22-8EAB34378833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3" name="Freeform 32">
                <a:extLst>
                  <a:ext uri="{FF2B5EF4-FFF2-40B4-BE49-F238E27FC236}">
                    <a16:creationId xmlns:a16="http://schemas.microsoft.com/office/drawing/2014/main" id="{EDC33880-A2D2-B4AA-6198-18A017287493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83869" r="-83869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67" name="TextBox 36">
              <a:extLst>
                <a:ext uri="{FF2B5EF4-FFF2-40B4-BE49-F238E27FC236}">
                  <a16:creationId xmlns:a16="http://schemas.microsoft.com/office/drawing/2014/main" id="{5BDAD4A8-A391-C66B-7254-E2671EB71245}"/>
                </a:ext>
              </a:extLst>
            </p:cNvPr>
            <p:cNvSpPr txBox="1"/>
            <p:nvPr/>
          </p:nvSpPr>
          <p:spPr>
            <a:xfrm>
              <a:off x="13005820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Plán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dalšího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u="none" strike="noStrike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vývoje</a:t>
              </a:r>
              <a:endParaRPr lang="en-US" sz="2599" b="1" u="none" strike="noStrike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68" name="TextBox 39">
              <a:extLst>
                <a:ext uri="{FF2B5EF4-FFF2-40B4-BE49-F238E27FC236}">
                  <a16:creationId xmlns:a16="http://schemas.microsoft.com/office/drawing/2014/main" id="{491D6D9B-BBF3-A52B-B176-3820EDAA0A3B}"/>
                </a:ext>
              </a:extLst>
            </p:cNvPr>
            <p:cNvSpPr txBox="1"/>
            <p:nvPr/>
          </p:nvSpPr>
          <p:spPr>
            <a:xfrm>
              <a:off x="13369658" y="7923322"/>
              <a:ext cx="4231868" cy="8723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Cílem další fáze bylo rozšířit prototyp, řešit UWB lokalizaci, návrh PCB a testovací prostředí Playground.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F3735-9DE9-871C-0B6C-C46CE2FF0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3A1A26D-52BC-6E09-4E1C-702DF2A08D35}"/>
              </a:ext>
            </a:extLst>
          </p:cNvPr>
          <p:cNvSpPr/>
          <p:nvPr/>
        </p:nvSpPr>
        <p:spPr>
          <a:xfrm>
            <a:off x="4046713" y="-25865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0A3A495-B465-A3E2-6CF8-5C5523BCD133}"/>
              </a:ext>
            </a:extLst>
          </p:cNvPr>
          <p:cNvSpPr/>
          <p:nvPr/>
        </p:nvSpPr>
        <p:spPr>
          <a:xfrm>
            <a:off x="13854766" y="-1857716"/>
            <a:ext cx="7548481" cy="7001216"/>
          </a:xfrm>
          <a:custGeom>
            <a:avLst/>
            <a:gdLst/>
            <a:ahLst/>
            <a:cxnLst/>
            <a:rect l="l" t="t" r="r" b="b"/>
            <a:pathLst>
              <a:path w="7548481" h="7001216">
                <a:moveTo>
                  <a:pt x="0" y="0"/>
                </a:moveTo>
                <a:lnTo>
                  <a:pt x="7548481" y="0"/>
                </a:lnTo>
                <a:lnTo>
                  <a:pt x="7548481" y="7001216"/>
                </a:lnTo>
                <a:lnTo>
                  <a:pt x="0" y="70012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A0890C25-6B1D-3274-3C10-EBBBB653EC9F}"/>
              </a:ext>
            </a:extLst>
          </p:cNvPr>
          <p:cNvSpPr/>
          <p:nvPr/>
        </p:nvSpPr>
        <p:spPr>
          <a:xfrm>
            <a:off x="12184014" y="476151"/>
            <a:ext cx="3597471" cy="3444579"/>
          </a:xfrm>
          <a:custGeom>
            <a:avLst/>
            <a:gdLst/>
            <a:ahLst/>
            <a:cxnLst/>
            <a:rect l="l" t="t" r="r" b="b"/>
            <a:pathLst>
              <a:path w="3597471" h="3444579">
                <a:moveTo>
                  <a:pt x="0" y="0"/>
                </a:moveTo>
                <a:lnTo>
                  <a:pt x="3597472" y="0"/>
                </a:lnTo>
                <a:lnTo>
                  <a:pt x="3597472" y="3444579"/>
                </a:lnTo>
                <a:lnTo>
                  <a:pt x="0" y="34445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FBE0F39-1882-DD33-870B-7AE09C2575EE}"/>
              </a:ext>
            </a:extLst>
          </p:cNvPr>
          <p:cNvSpPr/>
          <p:nvPr/>
        </p:nvSpPr>
        <p:spPr>
          <a:xfrm>
            <a:off x="-1946731" y="2842845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C38FA942-7CE6-D548-26B2-C01BAB97C752}"/>
              </a:ext>
            </a:extLst>
          </p:cNvPr>
          <p:cNvSpPr txBox="1"/>
          <p:nvPr/>
        </p:nvSpPr>
        <p:spPr>
          <a:xfrm>
            <a:off x="1296076" y="1671467"/>
            <a:ext cx="14768151" cy="96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11"/>
              </a:lnSpc>
              <a:spcBef>
                <a:spcPct val="0"/>
              </a:spcBef>
            </a:pPr>
            <a:r>
              <a:rPr lang="en-US" sz="8799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STAV V POLOLETÍ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A2CF0B3-DB33-9FA6-CD27-39C0D6412280}"/>
              </a:ext>
            </a:extLst>
          </p:cNvPr>
          <p:cNvGrpSpPr/>
          <p:nvPr/>
        </p:nvGrpSpPr>
        <p:grpSpPr>
          <a:xfrm>
            <a:off x="6888474" y="10930346"/>
            <a:ext cx="5368741" cy="5947954"/>
            <a:chOff x="6888474" y="3310346"/>
            <a:chExt cx="5368741" cy="5947954"/>
          </a:xfrm>
        </p:grpSpPr>
        <p:grpSp>
          <p:nvGrpSpPr>
            <p:cNvPr id="53" name="Group 9">
              <a:extLst>
                <a:ext uri="{FF2B5EF4-FFF2-40B4-BE49-F238E27FC236}">
                  <a16:creationId xmlns:a16="http://schemas.microsoft.com/office/drawing/2014/main" id="{33337C3C-995D-914C-71A1-E6B9AE7807D5}"/>
                </a:ext>
              </a:extLst>
            </p:cNvPr>
            <p:cNvGrpSpPr/>
            <p:nvPr/>
          </p:nvGrpSpPr>
          <p:grpSpPr>
            <a:xfrm>
              <a:off x="6888474" y="3310346"/>
              <a:ext cx="5368741" cy="5947954"/>
              <a:chOff x="0" y="0"/>
              <a:chExt cx="1413989" cy="1566539"/>
            </a:xfrm>
          </p:grpSpPr>
          <p:sp>
            <p:nvSpPr>
              <p:cNvPr id="62" name="Freeform 10">
                <a:extLst>
                  <a:ext uri="{FF2B5EF4-FFF2-40B4-BE49-F238E27FC236}">
                    <a16:creationId xmlns:a16="http://schemas.microsoft.com/office/drawing/2014/main" id="{D36D488A-57AE-218B-3BBB-B505D11C0353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3" name="TextBox 11">
                <a:extLst>
                  <a:ext uri="{FF2B5EF4-FFF2-40B4-BE49-F238E27FC236}">
                    <a16:creationId xmlns:a16="http://schemas.microsoft.com/office/drawing/2014/main" id="{A906BE4F-0A0D-5256-98E5-D9213A4DB8EF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54" name="Group 21">
              <a:extLst>
                <a:ext uri="{FF2B5EF4-FFF2-40B4-BE49-F238E27FC236}">
                  <a16:creationId xmlns:a16="http://schemas.microsoft.com/office/drawing/2014/main" id="{7BCEA2A5-6551-7B72-B56A-B2E46D3F6ED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132976" y="4798336"/>
              <a:ext cx="4879738" cy="2798959"/>
              <a:chOff x="0" y="0"/>
              <a:chExt cx="7981950" cy="4578350"/>
            </a:xfrm>
          </p:grpSpPr>
          <p:sp>
            <p:nvSpPr>
              <p:cNvPr id="57" name="Freeform 22">
                <a:extLst>
                  <a:ext uri="{FF2B5EF4-FFF2-40B4-BE49-F238E27FC236}">
                    <a16:creationId xmlns:a16="http://schemas.microsoft.com/office/drawing/2014/main" id="{1F5D51E5-A5FD-9B16-096E-A2CF1122F8BD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8" name="Freeform 23">
                <a:extLst>
                  <a:ext uri="{FF2B5EF4-FFF2-40B4-BE49-F238E27FC236}">
                    <a16:creationId xmlns:a16="http://schemas.microsoft.com/office/drawing/2014/main" id="{26517A9C-58E8-8DB9-5D50-CB976AEC4855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9" name="Freeform 24">
                <a:extLst>
                  <a:ext uri="{FF2B5EF4-FFF2-40B4-BE49-F238E27FC236}">
                    <a16:creationId xmlns:a16="http://schemas.microsoft.com/office/drawing/2014/main" id="{35218887-03A3-F879-24F1-66A6742FF144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0" name="Freeform 25">
                <a:extLst>
                  <a:ext uri="{FF2B5EF4-FFF2-40B4-BE49-F238E27FC236}">
                    <a16:creationId xmlns:a16="http://schemas.microsoft.com/office/drawing/2014/main" id="{612D8CD4-3B5B-6762-F29D-06C9C54B90CF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1" name="Freeform 26">
                <a:extLst>
                  <a:ext uri="{FF2B5EF4-FFF2-40B4-BE49-F238E27FC236}">
                    <a16:creationId xmlns:a16="http://schemas.microsoft.com/office/drawing/2014/main" id="{4D64F7BF-6B00-3EC8-9771-A34F22FF8A14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4"/>
                <a:stretch>
                  <a:fillRect t="-56523" b="-56523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55" name="TextBox 35">
              <a:extLst>
                <a:ext uri="{FF2B5EF4-FFF2-40B4-BE49-F238E27FC236}">
                  <a16:creationId xmlns:a16="http://schemas.microsoft.com/office/drawing/2014/main" id="{48CE0C29-37F2-9B72-1BAE-9801FEE07951}"/>
                </a:ext>
              </a:extLst>
            </p:cNvPr>
            <p:cNvSpPr txBox="1"/>
            <p:nvPr/>
          </p:nvSpPr>
          <p:spPr>
            <a:xfrm>
              <a:off x="7093073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První</a:t>
              </a:r>
              <a:r>
                <a:rPr lang="en-US" sz="2599" b="1" u="none" strike="noStrike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u="none" strike="noStrike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prototyp</a:t>
              </a:r>
              <a:endParaRPr lang="en-US" sz="2599" b="1" u="none" strike="noStrike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56" name="TextBox 38">
              <a:extLst>
                <a:ext uri="{FF2B5EF4-FFF2-40B4-BE49-F238E27FC236}">
                  <a16:creationId xmlns:a16="http://schemas.microsoft.com/office/drawing/2014/main" id="{9B42262E-739E-9082-76C1-3724554B73B1}"/>
                </a:ext>
              </a:extLst>
            </p:cNvPr>
            <p:cNvSpPr txBox="1"/>
            <p:nvPr/>
          </p:nvSpPr>
          <p:spPr>
            <a:xfrm>
              <a:off x="7574554" y="7923322"/>
              <a:ext cx="3996583" cy="8723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Bylo sestaveno první zapojení s ESP32-C6, senzory, laserem, LED signalizací a napájením.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3625C2E-B31D-E728-3031-1CFFBEF51D20}"/>
              </a:ext>
            </a:extLst>
          </p:cNvPr>
          <p:cNvGrpSpPr/>
          <p:nvPr/>
        </p:nvGrpSpPr>
        <p:grpSpPr>
          <a:xfrm>
            <a:off x="12748249" y="10930346"/>
            <a:ext cx="5992350" cy="5947954"/>
            <a:chOff x="12748249" y="3310346"/>
            <a:chExt cx="5992350" cy="5947954"/>
          </a:xfrm>
        </p:grpSpPr>
        <p:grpSp>
          <p:nvGrpSpPr>
            <p:cNvPr id="65" name="Group 12">
              <a:extLst>
                <a:ext uri="{FF2B5EF4-FFF2-40B4-BE49-F238E27FC236}">
                  <a16:creationId xmlns:a16="http://schemas.microsoft.com/office/drawing/2014/main" id="{B77F803B-3BDE-EBD7-5691-E5E8E643BCD0}"/>
                </a:ext>
              </a:extLst>
            </p:cNvPr>
            <p:cNvGrpSpPr/>
            <p:nvPr/>
          </p:nvGrpSpPr>
          <p:grpSpPr>
            <a:xfrm>
              <a:off x="12748249" y="3310346"/>
              <a:ext cx="5992350" cy="5947954"/>
              <a:chOff x="0" y="0"/>
              <a:chExt cx="1578232" cy="1566539"/>
            </a:xfrm>
          </p:grpSpPr>
          <p:sp>
            <p:nvSpPr>
              <p:cNvPr id="74" name="Freeform 13">
                <a:extLst>
                  <a:ext uri="{FF2B5EF4-FFF2-40B4-BE49-F238E27FC236}">
                    <a16:creationId xmlns:a16="http://schemas.microsoft.com/office/drawing/2014/main" id="{C36B1AA3-69A3-1C15-4C0F-598E26EA33B8}"/>
                  </a:ext>
                </a:extLst>
              </p:cNvPr>
              <p:cNvSpPr/>
              <p:nvPr/>
            </p:nvSpPr>
            <p:spPr>
              <a:xfrm>
                <a:off x="0" y="0"/>
                <a:ext cx="1578232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578232" h="1566539">
                    <a:moveTo>
                      <a:pt x="32299" y="0"/>
                    </a:moveTo>
                    <a:lnTo>
                      <a:pt x="1545933" y="0"/>
                    </a:lnTo>
                    <a:cubicBezTo>
                      <a:pt x="1563771" y="0"/>
                      <a:pt x="1578232" y="14461"/>
                      <a:pt x="1578232" y="32299"/>
                    </a:cubicBezTo>
                    <a:lnTo>
                      <a:pt x="1578232" y="1534240"/>
                    </a:lnTo>
                    <a:cubicBezTo>
                      <a:pt x="1578232" y="1542806"/>
                      <a:pt x="1574829" y="1551022"/>
                      <a:pt x="1568772" y="1557079"/>
                    </a:cubicBezTo>
                    <a:cubicBezTo>
                      <a:pt x="1562715" y="1563136"/>
                      <a:pt x="1554499" y="1566539"/>
                      <a:pt x="1545933" y="1566539"/>
                    </a:cubicBezTo>
                    <a:lnTo>
                      <a:pt x="32299" y="1566539"/>
                    </a:lnTo>
                    <a:cubicBezTo>
                      <a:pt x="23733" y="1566539"/>
                      <a:pt x="15517" y="1563136"/>
                      <a:pt x="9460" y="1557079"/>
                    </a:cubicBezTo>
                    <a:cubicBezTo>
                      <a:pt x="3403" y="1551022"/>
                      <a:pt x="0" y="1542806"/>
                      <a:pt x="0" y="1534240"/>
                    </a:cubicBezTo>
                    <a:lnTo>
                      <a:pt x="0" y="32299"/>
                    </a:lnTo>
                    <a:cubicBezTo>
                      <a:pt x="0" y="23733"/>
                      <a:pt x="3403" y="15517"/>
                      <a:pt x="9460" y="9460"/>
                    </a:cubicBezTo>
                    <a:cubicBezTo>
                      <a:pt x="15517" y="3403"/>
                      <a:pt x="23733" y="0"/>
                      <a:pt x="32299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5" name="TextBox 14">
                <a:extLst>
                  <a:ext uri="{FF2B5EF4-FFF2-40B4-BE49-F238E27FC236}">
                    <a16:creationId xmlns:a16="http://schemas.microsoft.com/office/drawing/2014/main" id="{84C6AC2D-989C-6C48-368C-6E955875D78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578232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66" name="Group 27">
              <a:extLst>
                <a:ext uri="{FF2B5EF4-FFF2-40B4-BE49-F238E27FC236}">
                  <a16:creationId xmlns:a16="http://schemas.microsoft.com/office/drawing/2014/main" id="{78692CE5-FF44-2059-920F-DB06B5676CA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045723" y="4798336"/>
              <a:ext cx="4879738" cy="2798959"/>
              <a:chOff x="0" y="0"/>
              <a:chExt cx="7981950" cy="4578350"/>
            </a:xfrm>
          </p:grpSpPr>
          <p:sp>
            <p:nvSpPr>
              <p:cNvPr id="69" name="Freeform 28">
                <a:extLst>
                  <a:ext uri="{FF2B5EF4-FFF2-40B4-BE49-F238E27FC236}">
                    <a16:creationId xmlns:a16="http://schemas.microsoft.com/office/drawing/2014/main" id="{6C45F4A9-C68E-0E34-2B5D-BAF90995C186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0" name="Freeform 29">
                <a:extLst>
                  <a:ext uri="{FF2B5EF4-FFF2-40B4-BE49-F238E27FC236}">
                    <a16:creationId xmlns:a16="http://schemas.microsoft.com/office/drawing/2014/main" id="{E4CBA808-2BC6-25DF-6867-4F9DC02B812B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1" name="Freeform 30">
                <a:extLst>
                  <a:ext uri="{FF2B5EF4-FFF2-40B4-BE49-F238E27FC236}">
                    <a16:creationId xmlns:a16="http://schemas.microsoft.com/office/drawing/2014/main" id="{C662AE3A-86CA-8412-9534-1CA694CAF72A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2" name="Freeform 31">
                <a:extLst>
                  <a:ext uri="{FF2B5EF4-FFF2-40B4-BE49-F238E27FC236}">
                    <a16:creationId xmlns:a16="http://schemas.microsoft.com/office/drawing/2014/main" id="{5FC9ACDD-0042-8151-D8E2-6DD582EF9C36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3" name="Freeform 32">
                <a:extLst>
                  <a:ext uri="{FF2B5EF4-FFF2-40B4-BE49-F238E27FC236}">
                    <a16:creationId xmlns:a16="http://schemas.microsoft.com/office/drawing/2014/main" id="{E6D75B91-9371-AD32-A027-140CE0D06E70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83869" r="-83869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67" name="TextBox 36">
              <a:extLst>
                <a:ext uri="{FF2B5EF4-FFF2-40B4-BE49-F238E27FC236}">
                  <a16:creationId xmlns:a16="http://schemas.microsoft.com/office/drawing/2014/main" id="{13E2812D-902D-7BAF-E0FE-91EA3F9AA89F}"/>
                </a:ext>
              </a:extLst>
            </p:cNvPr>
            <p:cNvSpPr txBox="1"/>
            <p:nvPr/>
          </p:nvSpPr>
          <p:spPr>
            <a:xfrm>
              <a:off x="13005820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Plán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dalšího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u="none" strike="noStrike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vývoje</a:t>
              </a:r>
              <a:endParaRPr lang="en-US" sz="2599" b="1" u="none" strike="noStrike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68" name="TextBox 39">
              <a:extLst>
                <a:ext uri="{FF2B5EF4-FFF2-40B4-BE49-F238E27FC236}">
                  <a16:creationId xmlns:a16="http://schemas.microsoft.com/office/drawing/2014/main" id="{4B4A9B7B-D96F-F06D-DE08-55ED0B34B3E4}"/>
                </a:ext>
              </a:extLst>
            </p:cNvPr>
            <p:cNvSpPr txBox="1"/>
            <p:nvPr/>
          </p:nvSpPr>
          <p:spPr>
            <a:xfrm>
              <a:off x="13369658" y="7923322"/>
              <a:ext cx="4231868" cy="8723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Cílem další fáze bylo rozšířit prototyp, řešit UWB lokalizaci, návrh PCB a testovací prostředí Playground.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61DE3D0-C00C-3EEC-1CC0-07B962E4BDE6}"/>
              </a:ext>
            </a:extLst>
          </p:cNvPr>
          <p:cNvGrpSpPr/>
          <p:nvPr/>
        </p:nvGrpSpPr>
        <p:grpSpPr>
          <a:xfrm>
            <a:off x="1028700" y="3310346"/>
            <a:ext cx="5368741" cy="5947954"/>
            <a:chOff x="1028700" y="3310346"/>
            <a:chExt cx="5368741" cy="59479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30BA47-E670-AC45-B5FB-C4D35997E3D0}"/>
                </a:ext>
              </a:extLst>
            </p:cNvPr>
            <p:cNvGrpSpPr/>
            <p:nvPr/>
          </p:nvGrpSpPr>
          <p:grpSpPr>
            <a:xfrm>
              <a:off x="1028700" y="3310346"/>
              <a:ext cx="5368741" cy="5947954"/>
              <a:chOff x="0" y="0"/>
              <a:chExt cx="1413989" cy="1566539"/>
            </a:xfrm>
          </p:grpSpPr>
          <p:sp>
            <p:nvSpPr>
              <p:cNvPr id="16" name="Freeform 7">
                <a:extLst>
                  <a:ext uri="{FF2B5EF4-FFF2-40B4-BE49-F238E27FC236}">
                    <a16:creationId xmlns:a16="http://schemas.microsoft.com/office/drawing/2014/main" id="{1BC4969D-50D7-7209-8587-6D0B4BCFF064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7" name="TextBox 8">
                <a:extLst>
                  <a:ext uri="{FF2B5EF4-FFF2-40B4-BE49-F238E27FC236}">
                    <a16:creationId xmlns:a16="http://schemas.microsoft.com/office/drawing/2014/main" id="{EB0C21F9-D0CE-E188-D331-3F89B7A2455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8" name="Group 15">
              <a:extLst>
                <a:ext uri="{FF2B5EF4-FFF2-40B4-BE49-F238E27FC236}">
                  <a16:creationId xmlns:a16="http://schemas.microsoft.com/office/drawing/2014/main" id="{7A9C4016-7DA5-B89A-A1B4-BC7987E5ACB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273202" y="4798336"/>
              <a:ext cx="4879738" cy="2798959"/>
              <a:chOff x="0" y="0"/>
              <a:chExt cx="7981950" cy="4578350"/>
            </a:xfrm>
          </p:grpSpPr>
          <p:sp>
            <p:nvSpPr>
              <p:cNvPr id="11" name="Freeform 16">
                <a:extLst>
                  <a:ext uri="{FF2B5EF4-FFF2-40B4-BE49-F238E27FC236}">
                    <a16:creationId xmlns:a16="http://schemas.microsoft.com/office/drawing/2014/main" id="{9F4C5609-0CD0-D16C-B3FC-30EF7763C593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2" name="Freeform 17">
                <a:extLst>
                  <a:ext uri="{FF2B5EF4-FFF2-40B4-BE49-F238E27FC236}">
                    <a16:creationId xmlns:a16="http://schemas.microsoft.com/office/drawing/2014/main" id="{025556B4-A8F3-302D-0F9C-D1C553242701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3" name="Freeform 18">
                <a:extLst>
                  <a:ext uri="{FF2B5EF4-FFF2-40B4-BE49-F238E27FC236}">
                    <a16:creationId xmlns:a16="http://schemas.microsoft.com/office/drawing/2014/main" id="{393B66A5-D098-B43C-3B0C-B61F967CBA4E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4" name="Freeform 19">
                <a:extLst>
                  <a:ext uri="{FF2B5EF4-FFF2-40B4-BE49-F238E27FC236}">
                    <a16:creationId xmlns:a16="http://schemas.microsoft.com/office/drawing/2014/main" id="{3088162E-FFEC-E967-8B1E-B0816393A0EF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5" name="Freeform 20">
                <a:extLst>
                  <a:ext uri="{FF2B5EF4-FFF2-40B4-BE49-F238E27FC236}">
                    <a16:creationId xmlns:a16="http://schemas.microsoft.com/office/drawing/2014/main" id="{FC796BDB-8DD3-DFEE-CDB6-5BA561A7156E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0321" r="-10321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9" name="TextBox 34">
              <a:extLst>
                <a:ext uri="{FF2B5EF4-FFF2-40B4-BE49-F238E27FC236}">
                  <a16:creationId xmlns:a16="http://schemas.microsoft.com/office/drawing/2014/main" id="{93ADFC78-A34C-6F25-C152-6CAC0F602201}"/>
                </a:ext>
              </a:extLst>
            </p:cNvPr>
            <p:cNvSpPr txBox="1"/>
            <p:nvPr/>
          </p:nvSpPr>
          <p:spPr>
            <a:xfrm>
              <a:off x="1233299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Základní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zapojení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10" name="TextBox 37">
              <a:extLst>
                <a:ext uri="{FF2B5EF4-FFF2-40B4-BE49-F238E27FC236}">
                  <a16:creationId xmlns:a16="http://schemas.microsoft.com/office/drawing/2014/main" id="{E959CB63-92D9-54EE-95BE-2317EB974DD8}"/>
                </a:ext>
              </a:extLst>
            </p:cNvPr>
            <p:cNvSpPr txBox="1"/>
            <p:nvPr/>
          </p:nvSpPr>
          <p:spPr>
            <a:xfrm>
              <a:off x="1731060" y="7834942"/>
              <a:ext cx="3964020" cy="11675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 pololetí bylo navrženo základní zapojení hůlky, které propojuje napájení, mikrokontrolér ESP32-C6 a pohybové senzory.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2903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46713" y="-25865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>
            <a:off x="13854766" y="-1857716"/>
            <a:ext cx="7548481" cy="7001216"/>
          </a:xfrm>
          <a:custGeom>
            <a:avLst/>
            <a:gdLst/>
            <a:ahLst/>
            <a:cxnLst/>
            <a:rect l="l" t="t" r="r" b="b"/>
            <a:pathLst>
              <a:path w="7548481" h="7001216">
                <a:moveTo>
                  <a:pt x="0" y="0"/>
                </a:moveTo>
                <a:lnTo>
                  <a:pt x="7548481" y="0"/>
                </a:lnTo>
                <a:lnTo>
                  <a:pt x="7548481" y="7001216"/>
                </a:lnTo>
                <a:lnTo>
                  <a:pt x="0" y="70012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2184014" y="476151"/>
            <a:ext cx="3597471" cy="3444579"/>
          </a:xfrm>
          <a:custGeom>
            <a:avLst/>
            <a:gdLst/>
            <a:ahLst/>
            <a:cxnLst/>
            <a:rect l="l" t="t" r="r" b="b"/>
            <a:pathLst>
              <a:path w="3597471" h="3444579">
                <a:moveTo>
                  <a:pt x="0" y="0"/>
                </a:moveTo>
                <a:lnTo>
                  <a:pt x="3597472" y="0"/>
                </a:lnTo>
                <a:lnTo>
                  <a:pt x="3597472" y="3444579"/>
                </a:lnTo>
                <a:lnTo>
                  <a:pt x="0" y="34445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1946731" y="2842845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3" name="TextBox 33"/>
          <p:cNvSpPr txBox="1"/>
          <p:nvPr/>
        </p:nvSpPr>
        <p:spPr>
          <a:xfrm>
            <a:off x="1296076" y="1671467"/>
            <a:ext cx="14768151" cy="96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11"/>
              </a:lnSpc>
              <a:spcBef>
                <a:spcPct val="0"/>
              </a:spcBef>
            </a:pPr>
            <a:r>
              <a:rPr lang="en-US" sz="8799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STAV V POLOLETÍ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06A9496-A069-4415-74B4-5D22D8E6347D}"/>
              </a:ext>
            </a:extLst>
          </p:cNvPr>
          <p:cNvGrpSpPr/>
          <p:nvPr/>
        </p:nvGrpSpPr>
        <p:grpSpPr>
          <a:xfrm>
            <a:off x="12748249" y="10930346"/>
            <a:ext cx="5992350" cy="5947954"/>
            <a:chOff x="12748249" y="3310346"/>
            <a:chExt cx="5992350" cy="5947954"/>
          </a:xfrm>
        </p:grpSpPr>
        <p:grpSp>
          <p:nvGrpSpPr>
            <p:cNvPr id="65" name="Group 12">
              <a:extLst>
                <a:ext uri="{FF2B5EF4-FFF2-40B4-BE49-F238E27FC236}">
                  <a16:creationId xmlns:a16="http://schemas.microsoft.com/office/drawing/2014/main" id="{BBD11E73-48EA-5024-2343-7F174CFFFDA7}"/>
                </a:ext>
              </a:extLst>
            </p:cNvPr>
            <p:cNvGrpSpPr/>
            <p:nvPr/>
          </p:nvGrpSpPr>
          <p:grpSpPr>
            <a:xfrm>
              <a:off x="12748249" y="3310346"/>
              <a:ext cx="5992350" cy="5947954"/>
              <a:chOff x="0" y="0"/>
              <a:chExt cx="1578232" cy="1566539"/>
            </a:xfrm>
          </p:grpSpPr>
          <p:sp>
            <p:nvSpPr>
              <p:cNvPr id="74" name="Freeform 13">
                <a:extLst>
                  <a:ext uri="{FF2B5EF4-FFF2-40B4-BE49-F238E27FC236}">
                    <a16:creationId xmlns:a16="http://schemas.microsoft.com/office/drawing/2014/main" id="{1BDC4AD7-CCA5-5DEB-5A29-E4BA04C45F84}"/>
                  </a:ext>
                </a:extLst>
              </p:cNvPr>
              <p:cNvSpPr/>
              <p:nvPr/>
            </p:nvSpPr>
            <p:spPr>
              <a:xfrm>
                <a:off x="0" y="0"/>
                <a:ext cx="1578232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578232" h="1566539">
                    <a:moveTo>
                      <a:pt x="32299" y="0"/>
                    </a:moveTo>
                    <a:lnTo>
                      <a:pt x="1545933" y="0"/>
                    </a:lnTo>
                    <a:cubicBezTo>
                      <a:pt x="1563771" y="0"/>
                      <a:pt x="1578232" y="14461"/>
                      <a:pt x="1578232" y="32299"/>
                    </a:cubicBezTo>
                    <a:lnTo>
                      <a:pt x="1578232" y="1534240"/>
                    </a:lnTo>
                    <a:cubicBezTo>
                      <a:pt x="1578232" y="1542806"/>
                      <a:pt x="1574829" y="1551022"/>
                      <a:pt x="1568772" y="1557079"/>
                    </a:cubicBezTo>
                    <a:cubicBezTo>
                      <a:pt x="1562715" y="1563136"/>
                      <a:pt x="1554499" y="1566539"/>
                      <a:pt x="1545933" y="1566539"/>
                    </a:cubicBezTo>
                    <a:lnTo>
                      <a:pt x="32299" y="1566539"/>
                    </a:lnTo>
                    <a:cubicBezTo>
                      <a:pt x="23733" y="1566539"/>
                      <a:pt x="15517" y="1563136"/>
                      <a:pt x="9460" y="1557079"/>
                    </a:cubicBezTo>
                    <a:cubicBezTo>
                      <a:pt x="3403" y="1551022"/>
                      <a:pt x="0" y="1542806"/>
                      <a:pt x="0" y="1534240"/>
                    </a:cubicBezTo>
                    <a:lnTo>
                      <a:pt x="0" y="32299"/>
                    </a:lnTo>
                    <a:cubicBezTo>
                      <a:pt x="0" y="23733"/>
                      <a:pt x="3403" y="15517"/>
                      <a:pt x="9460" y="9460"/>
                    </a:cubicBezTo>
                    <a:cubicBezTo>
                      <a:pt x="15517" y="3403"/>
                      <a:pt x="23733" y="0"/>
                      <a:pt x="32299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5" name="TextBox 14">
                <a:extLst>
                  <a:ext uri="{FF2B5EF4-FFF2-40B4-BE49-F238E27FC236}">
                    <a16:creationId xmlns:a16="http://schemas.microsoft.com/office/drawing/2014/main" id="{836AE01A-B6C0-864E-6CC3-C2D0C3FCA8E0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578232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66" name="Group 27">
              <a:extLst>
                <a:ext uri="{FF2B5EF4-FFF2-40B4-BE49-F238E27FC236}">
                  <a16:creationId xmlns:a16="http://schemas.microsoft.com/office/drawing/2014/main" id="{48B8519F-1BDE-30CB-3559-A7D1AC44736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045723" y="4798336"/>
              <a:ext cx="4879738" cy="2798959"/>
              <a:chOff x="0" y="0"/>
              <a:chExt cx="7981950" cy="4578350"/>
            </a:xfrm>
          </p:grpSpPr>
          <p:sp>
            <p:nvSpPr>
              <p:cNvPr id="69" name="Freeform 28">
                <a:extLst>
                  <a:ext uri="{FF2B5EF4-FFF2-40B4-BE49-F238E27FC236}">
                    <a16:creationId xmlns:a16="http://schemas.microsoft.com/office/drawing/2014/main" id="{D2979823-A9E8-E53C-9750-5A0E64E69A23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0" name="Freeform 29">
                <a:extLst>
                  <a:ext uri="{FF2B5EF4-FFF2-40B4-BE49-F238E27FC236}">
                    <a16:creationId xmlns:a16="http://schemas.microsoft.com/office/drawing/2014/main" id="{6EE0719A-52E3-0285-E999-4D84BBA0D909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1" name="Freeform 30">
                <a:extLst>
                  <a:ext uri="{FF2B5EF4-FFF2-40B4-BE49-F238E27FC236}">
                    <a16:creationId xmlns:a16="http://schemas.microsoft.com/office/drawing/2014/main" id="{DA89AEC9-4A29-3C45-7DE2-9CC9291EFE5E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2" name="Freeform 31">
                <a:extLst>
                  <a:ext uri="{FF2B5EF4-FFF2-40B4-BE49-F238E27FC236}">
                    <a16:creationId xmlns:a16="http://schemas.microsoft.com/office/drawing/2014/main" id="{D47A600F-A7E6-978B-F704-1D040893845F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3" name="Freeform 32">
                <a:extLst>
                  <a:ext uri="{FF2B5EF4-FFF2-40B4-BE49-F238E27FC236}">
                    <a16:creationId xmlns:a16="http://schemas.microsoft.com/office/drawing/2014/main" id="{A07D5C9A-50B0-5B82-EBC8-A5BCE4C8F022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83869" r="-83869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67" name="TextBox 36">
              <a:extLst>
                <a:ext uri="{FF2B5EF4-FFF2-40B4-BE49-F238E27FC236}">
                  <a16:creationId xmlns:a16="http://schemas.microsoft.com/office/drawing/2014/main" id="{5B48A664-47F0-FE24-2131-9D06EE934CB5}"/>
                </a:ext>
              </a:extLst>
            </p:cNvPr>
            <p:cNvSpPr txBox="1"/>
            <p:nvPr/>
          </p:nvSpPr>
          <p:spPr>
            <a:xfrm>
              <a:off x="13005820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Plán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dalšího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u="none" strike="noStrike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vývoje</a:t>
              </a:r>
              <a:endParaRPr lang="en-US" sz="2599" b="1" u="none" strike="noStrike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68" name="TextBox 39">
              <a:extLst>
                <a:ext uri="{FF2B5EF4-FFF2-40B4-BE49-F238E27FC236}">
                  <a16:creationId xmlns:a16="http://schemas.microsoft.com/office/drawing/2014/main" id="{1B978BAB-3466-D3E2-8EEC-5CC932925C89}"/>
                </a:ext>
              </a:extLst>
            </p:cNvPr>
            <p:cNvSpPr txBox="1"/>
            <p:nvPr/>
          </p:nvSpPr>
          <p:spPr>
            <a:xfrm>
              <a:off x="13369658" y="7923322"/>
              <a:ext cx="4231868" cy="8723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Cílem další fáze bylo rozšířit prototyp, řešit UWB lokalizaci, návrh PCB a testovací prostředí Playground.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B6DD1F1C-AF8B-94B0-B68E-9CA027347586}"/>
              </a:ext>
            </a:extLst>
          </p:cNvPr>
          <p:cNvGrpSpPr/>
          <p:nvPr/>
        </p:nvGrpSpPr>
        <p:grpSpPr>
          <a:xfrm>
            <a:off x="6888474" y="3310346"/>
            <a:ext cx="5368741" cy="5947954"/>
            <a:chOff x="6888474" y="3310346"/>
            <a:chExt cx="5368741" cy="5947954"/>
          </a:xfrm>
        </p:grpSpPr>
        <p:grpSp>
          <p:nvGrpSpPr>
            <p:cNvPr id="77" name="Group 9">
              <a:extLst>
                <a:ext uri="{FF2B5EF4-FFF2-40B4-BE49-F238E27FC236}">
                  <a16:creationId xmlns:a16="http://schemas.microsoft.com/office/drawing/2014/main" id="{C0AA74C9-82D5-D632-456A-C776CF7969D0}"/>
                </a:ext>
              </a:extLst>
            </p:cNvPr>
            <p:cNvGrpSpPr/>
            <p:nvPr/>
          </p:nvGrpSpPr>
          <p:grpSpPr>
            <a:xfrm>
              <a:off x="6888474" y="3310346"/>
              <a:ext cx="5368741" cy="5947954"/>
              <a:chOff x="0" y="0"/>
              <a:chExt cx="1413989" cy="1566539"/>
            </a:xfrm>
          </p:grpSpPr>
          <p:sp>
            <p:nvSpPr>
              <p:cNvPr id="86" name="Freeform 10">
                <a:extLst>
                  <a:ext uri="{FF2B5EF4-FFF2-40B4-BE49-F238E27FC236}">
                    <a16:creationId xmlns:a16="http://schemas.microsoft.com/office/drawing/2014/main" id="{AB904684-C8AF-361B-D720-A6BFFB9A8C53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7" name="TextBox 11">
                <a:extLst>
                  <a:ext uri="{FF2B5EF4-FFF2-40B4-BE49-F238E27FC236}">
                    <a16:creationId xmlns:a16="http://schemas.microsoft.com/office/drawing/2014/main" id="{0AB828F1-B94A-A648-C6CC-E3DDBF90396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78" name="Group 21">
              <a:extLst>
                <a:ext uri="{FF2B5EF4-FFF2-40B4-BE49-F238E27FC236}">
                  <a16:creationId xmlns:a16="http://schemas.microsoft.com/office/drawing/2014/main" id="{F2E175ED-B2E2-4ED8-4072-B5DDFB66D93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132976" y="4798336"/>
              <a:ext cx="4879738" cy="2798959"/>
              <a:chOff x="0" y="0"/>
              <a:chExt cx="7981950" cy="4578350"/>
            </a:xfrm>
          </p:grpSpPr>
          <p:sp>
            <p:nvSpPr>
              <p:cNvPr id="81" name="Freeform 22">
                <a:extLst>
                  <a:ext uri="{FF2B5EF4-FFF2-40B4-BE49-F238E27FC236}">
                    <a16:creationId xmlns:a16="http://schemas.microsoft.com/office/drawing/2014/main" id="{38075F59-E703-86EE-5E32-B1D53AACF9BE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2" name="Freeform 23">
                <a:extLst>
                  <a:ext uri="{FF2B5EF4-FFF2-40B4-BE49-F238E27FC236}">
                    <a16:creationId xmlns:a16="http://schemas.microsoft.com/office/drawing/2014/main" id="{C948C008-8FD6-0BD7-F901-810CEC161A2E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3" name="Freeform 24">
                <a:extLst>
                  <a:ext uri="{FF2B5EF4-FFF2-40B4-BE49-F238E27FC236}">
                    <a16:creationId xmlns:a16="http://schemas.microsoft.com/office/drawing/2014/main" id="{82CC0595-2FCE-9C0D-E8C7-92CBE7C6F8E4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4" name="Freeform 25">
                <a:extLst>
                  <a:ext uri="{FF2B5EF4-FFF2-40B4-BE49-F238E27FC236}">
                    <a16:creationId xmlns:a16="http://schemas.microsoft.com/office/drawing/2014/main" id="{1CAFC851-9FD5-5B64-3543-0A6A5B6B06A6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5" name="Freeform 26">
                <a:extLst>
                  <a:ext uri="{FF2B5EF4-FFF2-40B4-BE49-F238E27FC236}">
                    <a16:creationId xmlns:a16="http://schemas.microsoft.com/office/drawing/2014/main" id="{01F5A4CF-21F7-84DF-D2B3-B4592C3480A8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56523" b="-56523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79" name="TextBox 35">
              <a:extLst>
                <a:ext uri="{FF2B5EF4-FFF2-40B4-BE49-F238E27FC236}">
                  <a16:creationId xmlns:a16="http://schemas.microsoft.com/office/drawing/2014/main" id="{D0FE583F-9DA3-F9BC-439C-45AE0D2F8420}"/>
                </a:ext>
              </a:extLst>
            </p:cNvPr>
            <p:cNvSpPr txBox="1"/>
            <p:nvPr/>
          </p:nvSpPr>
          <p:spPr>
            <a:xfrm>
              <a:off x="7093073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První</a:t>
              </a:r>
              <a:r>
                <a:rPr lang="en-US" sz="2599" b="1" u="none" strike="noStrike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u="none" strike="noStrike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prototyp</a:t>
              </a:r>
              <a:endParaRPr lang="en-US" sz="2599" b="1" u="none" strike="noStrike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80" name="TextBox 38">
              <a:extLst>
                <a:ext uri="{FF2B5EF4-FFF2-40B4-BE49-F238E27FC236}">
                  <a16:creationId xmlns:a16="http://schemas.microsoft.com/office/drawing/2014/main" id="{57B0F5BA-FDE9-7115-C574-AA343E14DF06}"/>
                </a:ext>
              </a:extLst>
            </p:cNvPr>
            <p:cNvSpPr txBox="1"/>
            <p:nvPr/>
          </p:nvSpPr>
          <p:spPr>
            <a:xfrm>
              <a:off x="7574554" y="7923322"/>
              <a:ext cx="3996583" cy="8723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Bylo sestaveno první zapojení s ESP32-C6, senzory, laserem, LED signalizací a napájením.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7CBACE09-A8D1-DAD3-C24B-DBED8EEFFA29}"/>
              </a:ext>
            </a:extLst>
          </p:cNvPr>
          <p:cNvGrpSpPr/>
          <p:nvPr/>
        </p:nvGrpSpPr>
        <p:grpSpPr>
          <a:xfrm>
            <a:off x="1028700" y="3310346"/>
            <a:ext cx="5368741" cy="5947954"/>
            <a:chOff x="1028700" y="3310346"/>
            <a:chExt cx="5368741" cy="5947954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E3CDA31C-A8DD-9BB5-C7D5-4BAAAA557DC5}"/>
                </a:ext>
              </a:extLst>
            </p:cNvPr>
            <p:cNvGrpSpPr/>
            <p:nvPr/>
          </p:nvGrpSpPr>
          <p:grpSpPr>
            <a:xfrm>
              <a:off x="1028700" y="3310346"/>
              <a:ext cx="5368741" cy="5947954"/>
              <a:chOff x="0" y="0"/>
              <a:chExt cx="1413989" cy="1566539"/>
            </a:xfrm>
          </p:grpSpPr>
          <p:sp>
            <p:nvSpPr>
              <p:cNvPr id="98" name="Freeform 7">
                <a:extLst>
                  <a:ext uri="{FF2B5EF4-FFF2-40B4-BE49-F238E27FC236}">
                    <a16:creationId xmlns:a16="http://schemas.microsoft.com/office/drawing/2014/main" id="{54486B51-9632-02C9-43AB-AE45D616261F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99" name="TextBox 8">
                <a:extLst>
                  <a:ext uri="{FF2B5EF4-FFF2-40B4-BE49-F238E27FC236}">
                    <a16:creationId xmlns:a16="http://schemas.microsoft.com/office/drawing/2014/main" id="{85597C45-E4E9-D688-BECB-465F40280B48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90" name="Group 15">
              <a:extLst>
                <a:ext uri="{FF2B5EF4-FFF2-40B4-BE49-F238E27FC236}">
                  <a16:creationId xmlns:a16="http://schemas.microsoft.com/office/drawing/2014/main" id="{35465ED9-C0E5-2516-0C88-F4D3CC17D3C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273202" y="4798336"/>
              <a:ext cx="4879738" cy="2798959"/>
              <a:chOff x="0" y="0"/>
              <a:chExt cx="7981950" cy="4578350"/>
            </a:xfrm>
          </p:grpSpPr>
          <p:sp>
            <p:nvSpPr>
              <p:cNvPr id="93" name="Freeform 16">
                <a:extLst>
                  <a:ext uri="{FF2B5EF4-FFF2-40B4-BE49-F238E27FC236}">
                    <a16:creationId xmlns:a16="http://schemas.microsoft.com/office/drawing/2014/main" id="{99D85ACC-AAD5-A7E9-B6FB-C239F894A9BB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94" name="Freeform 17">
                <a:extLst>
                  <a:ext uri="{FF2B5EF4-FFF2-40B4-BE49-F238E27FC236}">
                    <a16:creationId xmlns:a16="http://schemas.microsoft.com/office/drawing/2014/main" id="{4B382D5B-8DCE-35A4-AC8E-579B417A61DE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95" name="Freeform 18">
                <a:extLst>
                  <a:ext uri="{FF2B5EF4-FFF2-40B4-BE49-F238E27FC236}">
                    <a16:creationId xmlns:a16="http://schemas.microsoft.com/office/drawing/2014/main" id="{20782195-13BE-A620-290F-24AC8634340D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96" name="Freeform 19">
                <a:extLst>
                  <a:ext uri="{FF2B5EF4-FFF2-40B4-BE49-F238E27FC236}">
                    <a16:creationId xmlns:a16="http://schemas.microsoft.com/office/drawing/2014/main" id="{DEC01565-B6CA-D267-C373-DEAE513BD1BB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97" name="Freeform 20">
                <a:extLst>
                  <a:ext uri="{FF2B5EF4-FFF2-40B4-BE49-F238E27FC236}">
                    <a16:creationId xmlns:a16="http://schemas.microsoft.com/office/drawing/2014/main" id="{43334183-D815-38BD-8EA9-2AB70027D565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0321" r="-10321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91" name="TextBox 34">
              <a:extLst>
                <a:ext uri="{FF2B5EF4-FFF2-40B4-BE49-F238E27FC236}">
                  <a16:creationId xmlns:a16="http://schemas.microsoft.com/office/drawing/2014/main" id="{2535B2CE-A451-481B-AD42-E20219DA7395}"/>
                </a:ext>
              </a:extLst>
            </p:cNvPr>
            <p:cNvSpPr txBox="1"/>
            <p:nvPr/>
          </p:nvSpPr>
          <p:spPr>
            <a:xfrm>
              <a:off x="1233299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Základní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zapojení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92" name="TextBox 37">
              <a:extLst>
                <a:ext uri="{FF2B5EF4-FFF2-40B4-BE49-F238E27FC236}">
                  <a16:creationId xmlns:a16="http://schemas.microsoft.com/office/drawing/2014/main" id="{4639C6C9-64E1-B46F-4A4D-B897A8F730F1}"/>
                </a:ext>
              </a:extLst>
            </p:cNvPr>
            <p:cNvSpPr txBox="1"/>
            <p:nvPr/>
          </p:nvSpPr>
          <p:spPr>
            <a:xfrm>
              <a:off x="1731060" y="7834942"/>
              <a:ext cx="3964020" cy="11675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 pololetí bylo navrženo základní zapojení hůlky, které propojuje napájení, mikrokontrolér ESP32-C6 a pohybové senzory.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46713" y="-25865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>
            <a:off x="13854766" y="-1857716"/>
            <a:ext cx="7548481" cy="7001216"/>
          </a:xfrm>
          <a:custGeom>
            <a:avLst/>
            <a:gdLst/>
            <a:ahLst/>
            <a:cxnLst/>
            <a:rect l="l" t="t" r="r" b="b"/>
            <a:pathLst>
              <a:path w="7548481" h="7001216">
                <a:moveTo>
                  <a:pt x="0" y="0"/>
                </a:moveTo>
                <a:lnTo>
                  <a:pt x="7548481" y="0"/>
                </a:lnTo>
                <a:lnTo>
                  <a:pt x="7548481" y="7001216"/>
                </a:lnTo>
                <a:lnTo>
                  <a:pt x="0" y="70012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2184014" y="476151"/>
            <a:ext cx="3597471" cy="3444579"/>
          </a:xfrm>
          <a:custGeom>
            <a:avLst/>
            <a:gdLst/>
            <a:ahLst/>
            <a:cxnLst/>
            <a:rect l="l" t="t" r="r" b="b"/>
            <a:pathLst>
              <a:path w="3597471" h="3444579">
                <a:moveTo>
                  <a:pt x="0" y="0"/>
                </a:moveTo>
                <a:lnTo>
                  <a:pt x="3597472" y="0"/>
                </a:lnTo>
                <a:lnTo>
                  <a:pt x="3597472" y="3444579"/>
                </a:lnTo>
                <a:lnTo>
                  <a:pt x="0" y="34445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1946731" y="2842845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3" name="TextBox 33"/>
          <p:cNvSpPr txBox="1"/>
          <p:nvPr/>
        </p:nvSpPr>
        <p:spPr>
          <a:xfrm>
            <a:off x="1296076" y="1671467"/>
            <a:ext cx="14768151" cy="96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11"/>
              </a:lnSpc>
              <a:spcBef>
                <a:spcPct val="0"/>
              </a:spcBef>
            </a:pPr>
            <a:r>
              <a:rPr lang="en-US" sz="8799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STAV V POLOLETÍ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5086B72-5505-0905-A4AD-1DB7F4C2C0F3}"/>
              </a:ext>
            </a:extLst>
          </p:cNvPr>
          <p:cNvGrpSpPr/>
          <p:nvPr/>
        </p:nvGrpSpPr>
        <p:grpSpPr>
          <a:xfrm>
            <a:off x="1028700" y="3310346"/>
            <a:ext cx="5368741" cy="5947954"/>
            <a:chOff x="1028700" y="3310346"/>
            <a:chExt cx="5368741" cy="5947954"/>
          </a:xfrm>
        </p:grpSpPr>
        <p:grpSp>
          <p:nvGrpSpPr>
            <p:cNvPr id="6" name="Group 6"/>
            <p:cNvGrpSpPr/>
            <p:nvPr/>
          </p:nvGrpSpPr>
          <p:grpSpPr>
            <a:xfrm>
              <a:off x="1028700" y="3310346"/>
              <a:ext cx="5368741" cy="5947954"/>
              <a:chOff x="0" y="0"/>
              <a:chExt cx="1413989" cy="156653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1273202" y="4798336"/>
              <a:ext cx="4879738" cy="2798959"/>
              <a:chOff x="0" y="0"/>
              <a:chExt cx="7981950" cy="45783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10321" r="-10321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233299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Základní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zapojení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731060" y="7834942"/>
              <a:ext cx="3964020" cy="11675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 pololetí bylo navrženo základní zapojení hůlky, které propojuje napájení, mikrokontrolér ESP32-C6 a pohybové senzory.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36C77A9-7355-B8BA-BB35-3393CB7492FF}"/>
              </a:ext>
            </a:extLst>
          </p:cNvPr>
          <p:cNvGrpSpPr/>
          <p:nvPr/>
        </p:nvGrpSpPr>
        <p:grpSpPr>
          <a:xfrm>
            <a:off x="6888474" y="3310346"/>
            <a:ext cx="5368741" cy="5947954"/>
            <a:chOff x="6888474" y="3310346"/>
            <a:chExt cx="5368741" cy="5947954"/>
          </a:xfrm>
        </p:grpSpPr>
        <p:grpSp>
          <p:nvGrpSpPr>
            <p:cNvPr id="9" name="Group 9"/>
            <p:cNvGrpSpPr/>
            <p:nvPr/>
          </p:nvGrpSpPr>
          <p:grpSpPr>
            <a:xfrm>
              <a:off x="6888474" y="3310346"/>
              <a:ext cx="5368741" cy="5947954"/>
              <a:chOff x="0" y="0"/>
              <a:chExt cx="1413989" cy="156653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>
              <a:grpSpLocks noChangeAspect="1"/>
            </p:cNvGrpSpPr>
            <p:nvPr/>
          </p:nvGrpSpPr>
          <p:grpSpPr>
            <a:xfrm>
              <a:off x="7132976" y="4798336"/>
              <a:ext cx="4879738" cy="2798959"/>
              <a:chOff x="0" y="0"/>
              <a:chExt cx="7981950" cy="457835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56523" b="-56523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7093073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První</a:t>
              </a:r>
              <a:r>
                <a:rPr lang="en-US" sz="2599" b="1" u="none" strike="noStrike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u="none" strike="noStrike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prototyp</a:t>
              </a:r>
              <a:endParaRPr lang="en-US" sz="2599" b="1" u="none" strike="noStrike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74554" y="7923322"/>
              <a:ext cx="3996583" cy="8723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Bylo sestaveno první zapojení s ESP32-C6, senzory, laserem, LED signalizací a napájením.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632AED4-BAAF-9536-FE82-730B1B4DFB79}"/>
              </a:ext>
            </a:extLst>
          </p:cNvPr>
          <p:cNvGrpSpPr/>
          <p:nvPr/>
        </p:nvGrpSpPr>
        <p:grpSpPr>
          <a:xfrm>
            <a:off x="12748249" y="3310346"/>
            <a:ext cx="5992350" cy="5947954"/>
            <a:chOff x="12748249" y="3310346"/>
            <a:chExt cx="5992350" cy="5947954"/>
          </a:xfrm>
        </p:grpSpPr>
        <p:grpSp>
          <p:nvGrpSpPr>
            <p:cNvPr id="12" name="Group 12"/>
            <p:cNvGrpSpPr/>
            <p:nvPr/>
          </p:nvGrpSpPr>
          <p:grpSpPr>
            <a:xfrm>
              <a:off x="12748249" y="3310346"/>
              <a:ext cx="5992350" cy="5947954"/>
              <a:chOff x="0" y="0"/>
              <a:chExt cx="1578232" cy="1566539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578232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578232" h="1566539">
                    <a:moveTo>
                      <a:pt x="32299" y="0"/>
                    </a:moveTo>
                    <a:lnTo>
                      <a:pt x="1545933" y="0"/>
                    </a:lnTo>
                    <a:cubicBezTo>
                      <a:pt x="1563771" y="0"/>
                      <a:pt x="1578232" y="14461"/>
                      <a:pt x="1578232" y="32299"/>
                    </a:cubicBezTo>
                    <a:lnTo>
                      <a:pt x="1578232" y="1534240"/>
                    </a:lnTo>
                    <a:cubicBezTo>
                      <a:pt x="1578232" y="1542806"/>
                      <a:pt x="1574829" y="1551022"/>
                      <a:pt x="1568772" y="1557079"/>
                    </a:cubicBezTo>
                    <a:cubicBezTo>
                      <a:pt x="1562715" y="1563136"/>
                      <a:pt x="1554499" y="1566539"/>
                      <a:pt x="1545933" y="1566539"/>
                    </a:cubicBezTo>
                    <a:lnTo>
                      <a:pt x="32299" y="1566539"/>
                    </a:lnTo>
                    <a:cubicBezTo>
                      <a:pt x="23733" y="1566539"/>
                      <a:pt x="15517" y="1563136"/>
                      <a:pt x="9460" y="1557079"/>
                    </a:cubicBezTo>
                    <a:cubicBezTo>
                      <a:pt x="3403" y="1551022"/>
                      <a:pt x="0" y="1542806"/>
                      <a:pt x="0" y="1534240"/>
                    </a:cubicBezTo>
                    <a:lnTo>
                      <a:pt x="0" y="32299"/>
                    </a:lnTo>
                    <a:cubicBezTo>
                      <a:pt x="0" y="23733"/>
                      <a:pt x="3403" y="15517"/>
                      <a:pt x="9460" y="9460"/>
                    </a:cubicBezTo>
                    <a:cubicBezTo>
                      <a:pt x="15517" y="3403"/>
                      <a:pt x="23733" y="0"/>
                      <a:pt x="32299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1578232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>
              <a:grpSpLocks noChangeAspect="1"/>
            </p:cNvGrpSpPr>
            <p:nvPr/>
          </p:nvGrpSpPr>
          <p:grpSpPr>
            <a:xfrm>
              <a:off x="13045723" y="4798336"/>
              <a:ext cx="4879738" cy="2798959"/>
              <a:chOff x="0" y="0"/>
              <a:chExt cx="7981950" cy="457835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83869" r="-83869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3005820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Plán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dalšího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u="none" strike="noStrike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vývoje</a:t>
              </a:r>
              <a:endParaRPr lang="en-US" sz="2599" b="1" u="none" strike="noStrike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369658" y="7923322"/>
              <a:ext cx="4231868" cy="8723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Cílem další fáze bylo rozšířit prototyp, řešit UWB lokalizaci, návrh PCB a testovací prostředí Playground.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823865" y="-3512945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8100000">
            <a:off x="6703302" y="-2336969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6" y="0"/>
                </a:lnTo>
                <a:lnTo>
                  <a:pt x="4881396" y="4673938"/>
                </a:lnTo>
                <a:lnTo>
                  <a:pt x="0" y="46739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1397259" y="3382367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2402598" y="1682223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>
            <a:off x="13175162" y="3877328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6" y="0"/>
                </a:lnTo>
                <a:lnTo>
                  <a:pt x="8168276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7" name="Group 7"/>
          <p:cNvGrpSpPr/>
          <p:nvPr/>
        </p:nvGrpSpPr>
        <p:grpSpPr>
          <a:xfrm>
            <a:off x="1296076" y="5095875"/>
            <a:ext cx="12838348" cy="4162425"/>
            <a:chOff x="0" y="0"/>
            <a:chExt cx="3381293" cy="109627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81293" cy="1096276"/>
            </a:xfrm>
            <a:custGeom>
              <a:avLst/>
              <a:gdLst/>
              <a:ahLst/>
              <a:cxnLst/>
              <a:rect l="l" t="t" r="r" b="b"/>
              <a:pathLst>
                <a:path w="3381293" h="1096276">
                  <a:moveTo>
                    <a:pt x="15076" y="0"/>
                  </a:moveTo>
                  <a:lnTo>
                    <a:pt x="3366217" y="0"/>
                  </a:lnTo>
                  <a:cubicBezTo>
                    <a:pt x="3374544" y="0"/>
                    <a:pt x="3381293" y="6750"/>
                    <a:pt x="3381293" y="15076"/>
                  </a:cubicBezTo>
                  <a:lnTo>
                    <a:pt x="3381293" y="1081201"/>
                  </a:lnTo>
                  <a:cubicBezTo>
                    <a:pt x="3381293" y="1085199"/>
                    <a:pt x="3379705" y="1089034"/>
                    <a:pt x="3376878" y="1091861"/>
                  </a:cubicBezTo>
                  <a:cubicBezTo>
                    <a:pt x="3374050" y="1094688"/>
                    <a:pt x="3370216" y="1096276"/>
                    <a:pt x="3366217" y="1096276"/>
                  </a:cubicBezTo>
                  <a:lnTo>
                    <a:pt x="15076" y="1096276"/>
                  </a:lnTo>
                  <a:cubicBezTo>
                    <a:pt x="6750" y="1096276"/>
                    <a:pt x="0" y="1089527"/>
                    <a:pt x="0" y="1081201"/>
                  </a:cubicBezTo>
                  <a:lnTo>
                    <a:pt x="0" y="15076"/>
                  </a:lnTo>
                  <a:cubicBezTo>
                    <a:pt x="0" y="11077"/>
                    <a:pt x="1588" y="7243"/>
                    <a:pt x="4416" y="4416"/>
                  </a:cubicBezTo>
                  <a:cubicBezTo>
                    <a:pt x="7243" y="1588"/>
                    <a:pt x="11077" y="0"/>
                    <a:pt x="1507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3381293" cy="11439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96076" y="2025123"/>
            <a:ext cx="7173738" cy="1610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2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CO SE ZMĚNILO V POLOLETÍ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8874170" y="449131"/>
            <a:ext cx="8883366" cy="5095391"/>
            <a:chOff x="0" y="0"/>
            <a:chExt cx="7981950" cy="4578350"/>
          </a:xfrm>
        </p:grpSpPr>
        <p:sp>
          <p:nvSpPr>
            <p:cNvPr id="12" name="Freeform 12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962660" y="276860"/>
              <a:ext cx="6055360" cy="3789680"/>
            </a:xfrm>
            <a:custGeom>
              <a:avLst/>
              <a:gdLst/>
              <a:ahLst/>
              <a:cxnLst/>
              <a:rect l="l" t="t" r="r" b="b"/>
              <a:pathLst>
                <a:path w="6055360" h="378968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4"/>
              <a:stretch>
                <a:fillRect t="-27595" b="-27595"/>
              </a:stretch>
            </a:blipFill>
          </p:spPr>
          <p:txBody>
            <a:bodyPr/>
            <a:lstStyle/>
            <a:p>
              <a:endParaRPr lang="cs-CZ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1EA90CE-57D7-4BA8-A81E-CBBF62A11C01}"/>
              </a:ext>
            </a:extLst>
          </p:cNvPr>
          <p:cNvGrpSpPr/>
          <p:nvPr/>
        </p:nvGrpSpPr>
        <p:grpSpPr>
          <a:xfrm>
            <a:off x="2209994" y="10720651"/>
            <a:ext cx="3120902" cy="2423849"/>
            <a:chOff x="2190847" y="5458797"/>
            <a:chExt cx="3120902" cy="2423849"/>
          </a:xfrm>
        </p:grpSpPr>
        <p:sp>
          <p:nvSpPr>
            <p:cNvPr id="27" name="TextBox 21">
              <a:extLst>
                <a:ext uri="{FF2B5EF4-FFF2-40B4-BE49-F238E27FC236}">
                  <a16:creationId xmlns:a16="http://schemas.microsoft.com/office/drawing/2014/main" id="{4DD9BBFC-8974-8BAE-89E8-4ADAAAF12010}"/>
                </a:ext>
              </a:extLst>
            </p:cNvPr>
            <p:cNvSpPr txBox="1"/>
            <p:nvPr/>
          </p:nvSpPr>
          <p:spPr>
            <a:xfrm>
              <a:off x="2190847" y="6667148"/>
              <a:ext cx="3120902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Vývoj a testování lokalizační infrastruktury využívající technologii UWB pro určování polohy hráčů.</a:t>
              </a:r>
            </a:p>
          </p:txBody>
        </p:sp>
        <p:sp>
          <p:nvSpPr>
            <p:cNvPr id="28" name="TextBox 22">
              <a:extLst>
                <a:ext uri="{FF2B5EF4-FFF2-40B4-BE49-F238E27FC236}">
                  <a16:creationId xmlns:a16="http://schemas.microsoft.com/office/drawing/2014/main" id="{BA1188A2-E95F-0EBE-5B56-418A98253823}"/>
                </a:ext>
              </a:extLst>
            </p:cNvPr>
            <p:cNvSpPr txBox="1"/>
            <p:nvPr/>
          </p:nvSpPr>
          <p:spPr>
            <a:xfrm>
              <a:off x="2190847" y="5458797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</a:t>
              </a:r>
            </a:p>
          </p:txBody>
        </p:sp>
        <p:sp>
          <p:nvSpPr>
            <p:cNvPr id="29" name="TextBox 23">
              <a:extLst>
                <a:ext uri="{FF2B5EF4-FFF2-40B4-BE49-F238E27FC236}">
                  <a16:creationId xmlns:a16="http://schemas.microsoft.com/office/drawing/2014/main" id="{40E5AFC1-6F48-1497-A651-C9287B8F1A52}"/>
                </a:ext>
              </a:extLst>
            </p:cNvPr>
            <p:cNvSpPr txBox="1"/>
            <p:nvPr/>
          </p:nvSpPr>
          <p:spPr>
            <a:xfrm>
              <a:off x="2190847" y="6133140"/>
              <a:ext cx="1957850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UWB KOTVY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A1F72D-1314-67DA-1327-617E0F6806AE}"/>
              </a:ext>
            </a:extLst>
          </p:cNvPr>
          <p:cNvGrpSpPr/>
          <p:nvPr/>
        </p:nvGrpSpPr>
        <p:grpSpPr>
          <a:xfrm>
            <a:off x="6212046" y="10720651"/>
            <a:ext cx="3120902" cy="2423849"/>
            <a:chOff x="6192899" y="5458797"/>
            <a:chExt cx="3120902" cy="2423849"/>
          </a:xfrm>
        </p:grpSpPr>
        <p:sp>
          <p:nvSpPr>
            <p:cNvPr id="31" name="TextBox 19">
              <a:extLst>
                <a:ext uri="{FF2B5EF4-FFF2-40B4-BE49-F238E27FC236}">
                  <a16:creationId xmlns:a16="http://schemas.microsoft.com/office/drawing/2014/main" id="{34E32BC6-9BBB-DC78-5987-128AD4EF9170}"/>
                </a:ext>
              </a:extLst>
            </p:cNvPr>
            <p:cNvSpPr txBox="1"/>
            <p:nvPr/>
          </p:nvSpPr>
          <p:spPr>
            <a:xfrm>
              <a:off x="6192899" y="6667148"/>
              <a:ext cx="3120902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ávrh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vlastní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desky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plošných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spojů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programu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KiCad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pro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integraci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všech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komponent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do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jednoho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zařízení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32" name="TextBox 20">
              <a:extLst>
                <a:ext uri="{FF2B5EF4-FFF2-40B4-BE49-F238E27FC236}">
                  <a16:creationId xmlns:a16="http://schemas.microsoft.com/office/drawing/2014/main" id="{9658965F-68E5-33D1-D2EA-32B0474B9276}"/>
                </a:ext>
              </a:extLst>
            </p:cNvPr>
            <p:cNvSpPr txBox="1"/>
            <p:nvPr/>
          </p:nvSpPr>
          <p:spPr>
            <a:xfrm>
              <a:off x="6192899" y="5458797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</a:t>
              </a:r>
            </a:p>
          </p:txBody>
        </p:sp>
        <p:sp>
          <p:nvSpPr>
            <p:cNvPr id="33" name="TextBox 24">
              <a:extLst>
                <a:ext uri="{FF2B5EF4-FFF2-40B4-BE49-F238E27FC236}">
                  <a16:creationId xmlns:a16="http://schemas.microsoft.com/office/drawing/2014/main" id="{2FA49B41-C758-8778-3146-EDBC5F3D9372}"/>
                </a:ext>
              </a:extLst>
            </p:cNvPr>
            <p:cNvSpPr txBox="1"/>
            <p:nvPr/>
          </p:nvSpPr>
          <p:spPr>
            <a:xfrm>
              <a:off x="6192899" y="6133140"/>
              <a:ext cx="209562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VLASTNÍ PCB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CAF0579-D9F4-89B1-E873-BB1978586CD4}"/>
              </a:ext>
            </a:extLst>
          </p:cNvPr>
          <p:cNvGrpSpPr/>
          <p:nvPr/>
        </p:nvGrpSpPr>
        <p:grpSpPr>
          <a:xfrm>
            <a:off x="10214098" y="10720651"/>
            <a:ext cx="3120902" cy="2423849"/>
            <a:chOff x="10194951" y="5458797"/>
            <a:chExt cx="3120902" cy="2423849"/>
          </a:xfrm>
        </p:grpSpPr>
        <p:sp>
          <p:nvSpPr>
            <p:cNvPr id="35" name="TextBox 17">
              <a:extLst>
                <a:ext uri="{FF2B5EF4-FFF2-40B4-BE49-F238E27FC236}">
                  <a16:creationId xmlns:a16="http://schemas.microsoft.com/office/drawing/2014/main" id="{58B64378-3430-E4DF-36C7-A71C13E04D41}"/>
                </a:ext>
              </a:extLst>
            </p:cNvPr>
            <p:cNvSpPr txBox="1"/>
            <p:nvPr/>
          </p:nvSpPr>
          <p:spPr>
            <a:xfrm>
              <a:off x="10194951" y="6667148"/>
              <a:ext cx="3120902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Testovací prostředí pro ověřování herních mechanik, zásahů a funkcí systému bez dokončeného hardwaru.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A018F9C2-A44A-215B-EFFD-906A70D192C5}"/>
                </a:ext>
              </a:extLst>
            </p:cNvPr>
            <p:cNvSpPr txBox="1"/>
            <p:nvPr/>
          </p:nvSpPr>
          <p:spPr>
            <a:xfrm>
              <a:off x="10194951" y="5458797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03</a:t>
              </a:r>
            </a:p>
          </p:txBody>
        </p:sp>
        <p:sp>
          <p:nvSpPr>
            <p:cNvPr id="37" name="TextBox 25">
              <a:extLst>
                <a:ext uri="{FF2B5EF4-FFF2-40B4-BE49-F238E27FC236}">
                  <a16:creationId xmlns:a16="http://schemas.microsoft.com/office/drawing/2014/main" id="{93E0E813-EE27-0F7E-60AB-BA9E61DD0628}"/>
                </a:ext>
              </a:extLst>
            </p:cNvPr>
            <p:cNvSpPr txBox="1"/>
            <p:nvPr/>
          </p:nvSpPr>
          <p:spPr>
            <a:xfrm>
              <a:off x="10194951" y="6133140"/>
              <a:ext cx="224700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PLAYGROUND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823865" y="-3512945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8100000">
            <a:off x="6703302" y="-2336969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6" y="0"/>
                </a:lnTo>
                <a:lnTo>
                  <a:pt x="4881396" y="4673938"/>
                </a:lnTo>
                <a:lnTo>
                  <a:pt x="0" y="46739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1397259" y="3382367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2402598" y="1682223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>
            <a:off x="13175162" y="3877328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6" y="0"/>
                </a:lnTo>
                <a:lnTo>
                  <a:pt x="8168276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7" name="Group 7"/>
          <p:cNvGrpSpPr/>
          <p:nvPr/>
        </p:nvGrpSpPr>
        <p:grpSpPr>
          <a:xfrm>
            <a:off x="1296076" y="5095875"/>
            <a:ext cx="12838348" cy="4162425"/>
            <a:chOff x="0" y="0"/>
            <a:chExt cx="3381293" cy="109627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81293" cy="1096276"/>
            </a:xfrm>
            <a:custGeom>
              <a:avLst/>
              <a:gdLst/>
              <a:ahLst/>
              <a:cxnLst/>
              <a:rect l="l" t="t" r="r" b="b"/>
              <a:pathLst>
                <a:path w="3381293" h="1096276">
                  <a:moveTo>
                    <a:pt x="15076" y="0"/>
                  </a:moveTo>
                  <a:lnTo>
                    <a:pt x="3366217" y="0"/>
                  </a:lnTo>
                  <a:cubicBezTo>
                    <a:pt x="3374544" y="0"/>
                    <a:pt x="3381293" y="6750"/>
                    <a:pt x="3381293" y="15076"/>
                  </a:cubicBezTo>
                  <a:lnTo>
                    <a:pt x="3381293" y="1081201"/>
                  </a:lnTo>
                  <a:cubicBezTo>
                    <a:pt x="3381293" y="1085199"/>
                    <a:pt x="3379705" y="1089034"/>
                    <a:pt x="3376878" y="1091861"/>
                  </a:cubicBezTo>
                  <a:cubicBezTo>
                    <a:pt x="3374050" y="1094688"/>
                    <a:pt x="3370216" y="1096276"/>
                    <a:pt x="3366217" y="1096276"/>
                  </a:cubicBezTo>
                  <a:lnTo>
                    <a:pt x="15076" y="1096276"/>
                  </a:lnTo>
                  <a:cubicBezTo>
                    <a:pt x="6750" y="1096276"/>
                    <a:pt x="0" y="1089527"/>
                    <a:pt x="0" y="1081201"/>
                  </a:cubicBezTo>
                  <a:lnTo>
                    <a:pt x="0" y="15076"/>
                  </a:lnTo>
                  <a:cubicBezTo>
                    <a:pt x="0" y="11077"/>
                    <a:pt x="1588" y="7243"/>
                    <a:pt x="4416" y="4416"/>
                  </a:cubicBezTo>
                  <a:cubicBezTo>
                    <a:pt x="7243" y="1588"/>
                    <a:pt x="11077" y="0"/>
                    <a:pt x="1507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3381293" cy="11439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96076" y="2025123"/>
            <a:ext cx="7173738" cy="1610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2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CO SE ZMĚNILO V POLOLETÍ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8874170" y="449131"/>
            <a:ext cx="8883366" cy="5095391"/>
            <a:chOff x="0" y="0"/>
            <a:chExt cx="7981950" cy="4578350"/>
          </a:xfrm>
        </p:grpSpPr>
        <p:sp>
          <p:nvSpPr>
            <p:cNvPr id="12" name="Freeform 12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962660" y="276860"/>
              <a:ext cx="6055360" cy="3789680"/>
            </a:xfrm>
            <a:custGeom>
              <a:avLst/>
              <a:gdLst/>
              <a:ahLst/>
              <a:cxnLst/>
              <a:rect l="l" t="t" r="r" b="b"/>
              <a:pathLst>
                <a:path w="6055360" h="378968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4"/>
              <a:stretch>
                <a:fillRect t="-27595" b="-27595"/>
              </a:stretch>
            </a:blipFill>
          </p:spPr>
          <p:txBody>
            <a:bodyPr/>
            <a:lstStyle/>
            <a:p>
              <a:endParaRPr lang="cs-CZ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E969808-5ADD-0C3A-3BCC-A1AFC9D40CC0}"/>
              </a:ext>
            </a:extLst>
          </p:cNvPr>
          <p:cNvGrpSpPr/>
          <p:nvPr/>
        </p:nvGrpSpPr>
        <p:grpSpPr>
          <a:xfrm>
            <a:off x="2190847" y="5458797"/>
            <a:ext cx="3120902" cy="2423849"/>
            <a:chOff x="2190847" y="5458797"/>
            <a:chExt cx="3120902" cy="2423849"/>
          </a:xfrm>
        </p:grpSpPr>
        <p:sp>
          <p:nvSpPr>
            <p:cNvPr id="39" name="TextBox 21">
              <a:extLst>
                <a:ext uri="{FF2B5EF4-FFF2-40B4-BE49-F238E27FC236}">
                  <a16:creationId xmlns:a16="http://schemas.microsoft.com/office/drawing/2014/main" id="{11E95E24-3883-FC41-8B6C-C1337DBBCF2E}"/>
                </a:ext>
              </a:extLst>
            </p:cNvPr>
            <p:cNvSpPr txBox="1"/>
            <p:nvPr/>
          </p:nvSpPr>
          <p:spPr>
            <a:xfrm>
              <a:off x="2190847" y="6667148"/>
              <a:ext cx="3120902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Vývoj a testování lokalizační infrastruktury využívající technologii UWB pro určování polohy hráčů.</a:t>
              </a:r>
            </a:p>
          </p:txBody>
        </p:sp>
        <p:sp>
          <p:nvSpPr>
            <p:cNvPr id="40" name="TextBox 22">
              <a:extLst>
                <a:ext uri="{FF2B5EF4-FFF2-40B4-BE49-F238E27FC236}">
                  <a16:creationId xmlns:a16="http://schemas.microsoft.com/office/drawing/2014/main" id="{FDEA3FB3-FF5B-2F7C-4FDA-274AF32A4F46}"/>
                </a:ext>
              </a:extLst>
            </p:cNvPr>
            <p:cNvSpPr txBox="1"/>
            <p:nvPr/>
          </p:nvSpPr>
          <p:spPr>
            <a:xfrm>
              <a:off x="2190847" y="5458797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</a:t>
              </a:r>
            </a:p>
          </p:txBody>
        </p:sp>
        <p:sp>
          <p:nvSpPr>
            <p:cNvPr id="41" name="TextBox 23">
              <a:extLst>
                <a:ext uri="{FF2B5EF4-FFF2-40B4-BE49-F238E27FC236}">
                  <a16:creationId xmlns:a16="http://schemas.microsoft.com/office/drawing/2014/main" id="{71E833B1-24D3-7926-1BBC-47744A92A646}"/>
                </a:ext>
              </a:extLst>
            </p:cNvPr>
            <p:cNvSpPr txBox="1"/>
            <p:nvPr/>
          </p:nvSpPr>
          <p:spPr>
            <a:xfrm>
              <a:off x="2190847" y="6133140"/>
              <a:ext cx="1957850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UWB KOTVY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7197A89-CB21-7101-80CA-77F23E7F6B6B}"/>
              </a:ext>
            </a:extLst>
          </p:cNvPr>
          <p:cNvGrpSpPr/>
          <p:nvPr/>
        </p:nvGrpSpPr>
        <p:grpSpPr>
          <a:xfrm>
            <a:off x="6212046" y="10720651"/>
            <a:ext cx="3120902" cy="2423849"/>
            <a:chOff x="6192899" y="5458797"/>
            <a:chExt cx="3120902" cy="2423849"/>
          </a:xfrm>
        </p:grpSpPr>
        <p:sp>
          <p:nvSpPr>
            <p:cNvPr id="43" name="TextBox 19">
              <a:extLst>
                <a:ext uri="{FF2B5EF4-FFF2-40B4-BE49-F238E27FC236}">
                  <a16:creationId xmlns:a16="http://schemas.microsoft.com/office/drawing/2014/main" id="{221C6C51-5585-1AF3-0625-1729F7282F8A}"/>
                </a:ext>
              </a:extLst>
            </p:cNvPr>
            <p:cNvSpPr txBox="1"/>
            <p:nvPr/>
          </p:nvSpPr>
          <p:spPr>
            <a:xfrm>
              <a:off x="6192899" y="6667148"/>
              <a:ext cx="3120902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ávrh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vlastní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desky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plošných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spojů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programu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KiCad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pro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integraci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všech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komponent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do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jednoho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zařízení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44" name="TextBox 20">
              <a:extLst>
                <a:ext uri="{FF2B5EF4-FFF2-40B4-BE49-F238E27FC236}">
                  <a16:creationId xmlns:a16="http://schemas.microsoft.com/office/drawing/2014/main" id="{7211F63A-0E5F-68B1-5B3F-46F67791F4D7}"/>
                </a:ext>
              </a:extLst>
            </p:cNvPr>
            <p:cNvSpPr txBox="1"/>
            <p:nvPr/>
          </p:nvSpPr>
          <p:spPr>
            <a:xfrm>
              <a:off x="6192899" y="5458797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</a:t>
              </a:r>
            </a:p>
          </p:txBody>
        </p:sp>
        <p:sp>
          <p:nvSpPr>
            <p:cNvPr id="45" name="TextBox 24">
              <a:extLst>
                <a:ext uri="{FF2B5EF4-FFF2-40B4-BE49-F238E27FC236}">
                  <a16:creationId xmlns:a16="http://schemas.microsoft.com/office/drawing/2014/main" id="{F123D5C7-A509-47E0-6FDD-7802AB8D8C47}"/>
                </a:ext>
              </a:extLst>
            </p:cNvPr>
            <p:cNvSpPr txBox="1"/>
            <p:nvPr/>
          </p:nvSpPr>
          <p:spPr>
            <a:xfrm>
              <a:off x="6192899" y="6133140"/>
              <a:ext cx="209562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VLASTNÍ PCB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823865" y="-3512945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8100000">
            <a:off x="6703302" y="-2336969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6" y="0"/>
                </a:lnTo>
                <a:lnTo>
                  <a:pt x="4881396" y="4673938"/>
                </a:lnTo>
                <a:lnTo>
                  <a:pt x="0" y="46739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1397259" y="3382367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2402598" y="1682223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>
            <a:off x="13175162" y="3877328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6" y="0"/>
                </a:lnTo>
                <a:lnTo>
                  <a:pt x="8168276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7" name="Group 7"/>
          <p:cNvGrpSpPr/>
          <p:nvPr/>
        </p:nvGrpSpPr>
        <p:grpSpPr>
          <a:xfrm>
            <a:off x="1296076" y="5095875"/>
            <a:ext cx="12838348" cy="4162425"/>
            <a:chOff x="0" y="0"/>
            <a:chExt cx="3381293" cy="109627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81293" cy="1096276"/>
            </a:xfrm>
            <a:custGeom>
              <a:avLst/>
              <a:gdLst/>
              <a:ahLst/>
              <a:cxnLst/>
              <a:rect l="l" t="t" r="r" b="b"/>
              <a:pathLst>
                <a:path w="3381293" h="1096276">
                  <a:moveTo>
                    <a:pt x="15076" y="0"/>
                  </a:moveTo>
                  <a:lnTo>
                    <a:pt x="3366217" y="0"/>
                  </a:lnTo>
                  <a:cubicBezTo>
                    <a:pt x="3374544" y="0"/>
                    <a:pt x="3381293" y="6750"/>
                    <a:pt x="3381293" y="15076"/>
                  </a:cubicBezTo>
                  <a:lnTo>
                    <a:pt x="3381293" y="1081201"/>
                  </a:lnTo>
                  <a:cubicBezTo>
                    <a:pt x="3381293" y="1085199"/>
                    <a:pt x="3379705" y="1089034"/>
                    <a:pt x="3376878" y="1091861"/>
                  </a:cubicBezTo>
                  <a:cubicBezTo>
                    <a:pt x="3374050" y="1094688"/>
                    <a:pt x="3370216" y="1096276"/>
                    <a:pt x="3366217" y="1096276"/>
                  </a:cubicBezTo>
                  <a:lnTo>
                    <a:pt x="15076" y="1096276"/>
                  </a:lnTo>
                  <a:cubicBezTo>
                    <a:pt x="6750" y="1096276"/>
                    <a:pt x="0" y="1089527"/>
                    <a:pt x="0" y="1081201"/>
                  </a:cubicBezTo>
                  <a:lnTo>
                    <a:pt x="0" y="15076"/>
                  </a:lnTo>
                  <a:cubicBezTo>
                    <a:pt x="0" y="11077"/>
                    <a:pt x="1588" y="7243"/>
                    <a:pt x="4416" y="4416"/>
                  </a:cubicBezTo>
                  <a:cubicBezTo>
                    <a:pt x="7243" y="1588"/>
                    <a:pt x="11077" y="0"/>
                    <a:pt x="1507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3381293" cy="11439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96076" y="2025123"/>
            <a:ext cx="7173738" cy="1610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2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CO SE ZMĚNILO V POLOLETÍ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8874170" y="449131"/>
            <a:ext cx="8883366" cy="5095391"/>
            <a:chOff x="0" y="0"/>
            <a:chExt cx="7981950" cy="4578350"/>
          </a:xfrm>
        </p:grpSpPr>
        <p:sp>
          <p:nvSpPr>
            <p:cNvPr id="12" name="Freeform 12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962660" y="276860"/>
              <a:ext cx="6055360" cy="3789680"/>
            </a:xfrm>
            <a:custGeom>
              <a:avLst/>
              <a:gdLst/>
              <a:ahLst/>
              <a:cxnLst/>
              <a:rect l="l" t="t" r="r" b="b"/>
              <a:pathLst>
                <a:path w="6055360" h="378968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4"/>
              <a:stretch>
                <a:fillRect t="-27595" b="-27595"/>
              </a:stretch>
            </a:blipFill>
          </p:spPr>
          <p:txBody>
            <a:bodyPr/>
            <a:lstStyle/>
            <a:p>
              <a:endParaRPr lang="cs-CZ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209A70-AB97-D6D7-85AF-FC6F7CC9A4E7}"/>
              </a:ext>
            </a:extLst>
          </p:cNvPr>
          <p:cNvGrpSpPr/>
          <p:nvPr/>
        </p:nvGrpSpPr>
        <p:grpSpPr>
          <a:xfrm>
            <a:off x="2190847" y="5458797"/>
            <a:ext cx="3120902" cy="2423849"/>
            <a:chOff x="2190847" y="5458797"/>
            <a:chExt cx="3120902" cy="2423849"/>
          </a:xfrm>
        </p:grpSpPr>
        <p:sp>
          <p:nvSpPr>
            <p:cNvPr id="39" name="TextBox 21">
              <a:extLst>
                <a:ext uri="{FF2B5EF4-FFF2-40B4-BE49-F238E27FC236}">
                  <a16:creationId xmlns:a16="http://schemas.microsoft.com/office/drawing/2014/main" id="{306D0276-1B0D-7473-9039-AAE0BE15E6CE}"/>
                </a:ext>
              </a:extLst>
            </p:cNvPr>
            <p:cNvSpPr txBox="1"/>
            <p:nvPr/>
          </p:nvSpPr>
          <p:spPr>
            <a:xfrm>
              <a:off x="2190847" y="6667148"/>
              <a:ext cx="3120902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Vývoj a testování lokalizační infrastruktury využívající technologii UWB pro určování polohy hráčů.</a:t>
              </a:r>
            </a:p>
          </p:txBody>
        </p:sp>
        <p:sp>
          <p:nvSpPr>
            <p:cNvPr id="40" name="TextBox 22">
              <a:extLst>
                <a:ext uri="{FF2B5EF4-FFF2-40B4-BE49-F238E27FC236}">
                  <a16:creationId xmlns:a16="http://schemas.microsoft.com/office/drawing/2014/main" id="{3328F2C3-474A-5BEC-57BE-0752A0033699}"/>
                </a:ext>
              </a:extLst>
            </p:cNvPr>
            <p:cNvSpPr txBox="1"/>
            <p:nvPr/>
          </p:nvSpPr>
          <p:spPr>
            <a:xfrm>
              <a:off x="2190847" y="5458797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</a:t>
              </a:r>
            </a:p>
          </p:txBody>
        </p:sp>
        <p:sp>
          <p:nvSpPr>
            <p:cNvPr id="41" name="TextBox 23">
              <a:extLst>
                <a:ext uri="{FF2B5EF4-FFF2-40B4-BE49-F238E27FC236}">
                  <a16:creationId xmlns:a16="http://schemas.microsoft.com/office/drawing/2014/main" id="{FC80B613-9DCC-94C0-31DE-A51F049F5844}"/>
                </a:ext>
              </a:extLst>
            </p:cNvPr>
            <p:cNvSpPr txBox="1"/>
            <p:nvPr/>
          </p:nvSpPr>
          <p:spPr>
            <a:xfrm>
              <a:off x="2190847" y="6133140"/>
              <a:ext cx="1957850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UWB KOTVY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DDBF15E-E219-18A4-B2B9-355D1D8B3F35}"/>
              </a:ext>
            </a:extLst>
          </p:cNvPr>
          <p:cNvGrpSpPr/>
          <p:nvPr/>
        </p:nvGrpSpPr>
        <p:grpSpPr>
          <a:xfrm>
            <a:off x="6192899" y="5458797"/>
            <a:ext cx="3120902" cy="2423849"/>
            <a:chOff x="6192899" y="5458797"/>
            <a:chExt cx="3120902" cy="2423849"/>
          </a:xfrm>
        </p:grpSpPr>
        <p:sp>
          <p:nvSpPr>
            <p:cNvPr id="43" name="TextBox 19">
              <a:extLst>
                <a:ext uri="{FF2B5EF4-FFF2-40B4-BE49-F238E27FC236}">
                  <a16:creationId xmlns:a16="http://schemas.microsoft.com/office/drawing/2014/main" id="{F8E6B9E8-9AC9-2574-DDDD-4715C90889BD}"/>
                </a:ext>
              </a:extLst>
            </p:cNvPr>
            <p:cNvSpPr txBox="1"/>
            <p:nvPr/>
          </p:nvSpPr>
          <p:spPr>
            <a:xfrm>
              <a:off x="6192899" y="6667148"/>
              <a:ext cx="3120902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ávrh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vlastní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desky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plošných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spojů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programu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KiCad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pro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integraci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všech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komponent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do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jednoho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zařízení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44" name="TextBox 20">
              <a:extLst>
                <a:ext uri="{FF2B5EF4-FFF2-40B4-BE49-F238E27FC236}">
                  <a16:creationId xmlns:a16="http://schemas.microsoft.com/office/drawing/2014/main" id="{7CEE244B-44F1-E537-7069-32CCBBB9C86C}"/>
                </a:ext>
              </a:extLst>
            </p:cNvPr>
            <p:cNvSpPr txBox="1"/>
            <p:nvPr/>
          </p:nvSpPr>
          <p:spPr>
            <a:xfrm>
              <a:off x="6192899" y="5458797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</a:t>
              </a:r>
            </a:p>
          </p:txBody>
        </p:sp>
        <p:sp>
          <p:nvSpPr>
            <p:cNvPr id="45" name="TextBox 24">
              <a:extLst>
                <a:ext uri="{FF2B5EF4-FFF2-40B4-BE49-F238E27FC236}">
                  <a16:creationId xmlns:a16="http://schemas.microsoft.com/office/drawing/2014/main" id="{3343D186-950E-5474-4351-0224EAA58447}"/>
                </a:ext>
              </a:extLst>
            </p:cNvPr>
            <p:cNvSpPr txBox="1"/>
            <p:nvPr/>
          </p:nvSpPr>
          <p:spPr>
            <a:xfrm>
              <a:off x="6192899" y="6133140"/>
              <a:ext cx="209562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VLASTNÍ PCB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4BF4B7D-CBCA-9E4F-4968-0B2C5973F701}"/>
              </a:ext>
            </a:extLst>
          </p:cNvPr>
          <p:cNvGrpSpPr/>
          <p:nvPr/>
        </p:nvGrpSpPr>
        <p:grpSpPr>
          <a:xfrm>
            <a:off x="10214098" y="10720651"/>
            <a:ext cx="3120902" cy="2423849"/>
            <a:chOff x="10194951" y="5458797"/>
            <a:chExt cx="3120902" cy="2423849"/>
          </a:xfrm>
        </p:grpSpPr>
        <p:sp>
          <p:nvSpPr>
            <p:cNvPr id="47" name="TextBox 17">
              <a:extLst>
                <a:ext uri="{FF2B5EF4-FFF2-40B4-BE49-F238E27FC236}">
                  <a16:creationId xmlns:a16="http://schemas.microsoft.com/office/drawing/2014/main" id="{23C97BAF-8FFF-0A20-C469-EF0755C06010}"/>
                </a:ext>
              </a:extLst>
            </p:cNvPr>
            <p:cNvSpPr txBox="1"/>
            <p:nvPr/>
          </p:nvSpPr>
          <p:spPr>
            <a:xfrm>
              <a:off x="10194951" y="6667148"/>
              <a:ext cx="3120902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Testovací prostředí pro ověřování herních mechanik, zásahů a funkcí systému bez dokončeného hardwaru.</a:t>
              </a:r>
            </a:p>
          </p:txBody>
        </p:sp>
        <p:sp>
          <p:nvSpPr>
            <p:cNvPr id="48" name="TextBox 18">
              <a:extLst>
                <a:ext uri="{FF2B5EF4-FFF2-40B4-BE49-F238E27FC236}">
                  <a16:creationId xmlns:a16="http://schemas.microsoft.com/office/drawing/2014/main" id="{7031EBDA-3D41-19C8-7D95-2B76673C56C7}"/>
                </a:ext>
              </a:extLst>
            </p:cNvPr>
            <p:cNvSpPr txBox="1"/>
            <p:nvPr/>
          </p:nvSpPr>
          <p:spPr>
            <a:xfrm>
              <a:off x="10194951" y="5458797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03</a:t>
              </a:r>
            </a:p>
          </p:txBody>
        </p:sp>
        <p:sp>
          <p:nvSpPr>
            <p:cNvPr id="49" name="TextBox 25">
              <a:extLst>
                <a:ext uri="{FF2B5EF4-FFF2-40B4-BE49-F238E27FC236}">
                  <a16:creationId xmlns:a16="http://schemas.microsoft.com/office/drawing/2014/main" id="{21BF7874-69B2-E5A3-80E6-03FD9081EC4C}"/>
                </a:ext>
              </a:extLst>
            </p:cNvPr>
            <p:cNvSpPr txBox="1"/>
            <p:nvPr/>
          </p:nvSpPr>
          <p:spPr>
            <a:xfrm>
              <a:off x="10194951" y="6133140"/>
              <a:ext cx="224700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PLAYGROUND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823865" y="-3512945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8100000">
            <a:off x="6703302" y="-2336969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6" y="0"/>
                </a:lnTo>
                <a:lnTo>
                  <a:pt x="4881396" y="4673938"/>
                </a:lnTo>
                <a:lnTo>
                  <a:pt x="0" y="46739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1397259" y="3382367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2402598" y="1682223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>
            <a:off x="13175162" y="3877328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6" y="0"/>
                </a:lnTo>
                <a:lnTo>
                  <a:pt x="8168276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7" name="Group 7"/>
          <p:cNvGrpSpPr/>
          <p:nvPr/>
        </p:nvGrpSpPr>
        <p:grpSpPr>
          <a:xfrm>
            <a:off x="1296076" y="5095875"/>
            <a:ext cx="12838348" cy="4162425"/>
            <a:chOff x="0" y="0"/>
            <a:chExt cx="3381293" cy="109627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81293" cy="1096276"/>
            </a:xfrm>
            <a:custGeom>
              <a:avLst/>
              <a:gdLst/>
              <a:ahLst/>
              <a:cxnLst/>
              <a:rect l="l" t="t" r="r" b="b"/>
              <a:pathLst>
                <a:path w="3381293" h="1096276">
                  <a:moveTo>
                    <a:pt x="15076" y="0"/>
                  </a:moveTo>
                  <a:lnTo>
                    <a:pt x="3366217" y="0"/>
                  </a:lnTo>
                  <a:cubicBezTo>
                    <a:pt x="3374544" y="0"/>
                    <a:pt x="3381293" y="6750"/>
                    <a:pt x="3381293" y="15076"/>
                  </a:cubicBezTo>
                  <a:lnTo>
                    <a:pt x="3381293" y="1081201"/>
                  </a:lnTo>
                  <a:cubicBezTo>
                    <a:pt x="3381293" y="1085199"/>
                    <a:pt x="3379705" y="1089034"/>
                    <a:pt x="3376878" y="1091861"/>
                  </a:cubicBezTo>
                  <a:cubicBezTo>
                    <a:pt x="3374050" y="1094688"/>
                    <a:pt x="3370216" y="1096276"/>
                    <a:pt x="3366217" y="1096276"/>
                  </a:cubicBezTo>
                  <a:lnTo>
                    <a:pt x="15076" y="1096276"/>
                  </a:lnTo>
                  <a:cubicBezTo>
                    <a:pt x="6750" y="1096276"/>
                    <a:pt x="0" y="1089527"/>
                    <a:pt x="0" y="1081201"/>
                  </a:cubicBezTo>
                  <a:lnTo>
                    <a:pt x="0" y="15076"/>
                  </a:lnTo>
                  <a:cubicBezTo>
                    <a:pt x="0" y="11077"/>
                    <a:pt x="1588" y="7243"/>
                    <a:pt x="4416" y="4416"/>
                  </a:cubicBezTo>
                  <a:cubicBezTo>
                    <a:pt x="7243" y="1588"/>
                    <a:pt x="11077" y="0"/>
                    <a:pt x="1507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3381293" cy="11439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96076" y="2025123"/>
            <a:ext cx="7173738" cy="1610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2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CO SE ZMĚNILO V POLOLETÍ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8874170" y="449131"/>
            <a:ext cx="8883366" cy="5095391"/>
            <a:chOff x="0" y="0"/>
            <a:chExt cx="7981950" cy="4578350"/>
          </a:xfrm>
        </p:grpSpPr>
        <p:sp>
          <p:nvSpPr>
            <p:cNvPr id="12" name="Freeform 12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962660" y="276860"/>
              <a:ext cx="6055360" cy="3789680"/>
            </a:xfrm>
            <a:custGeom>
              <a:avLst/>
              <a:gdLst/>
              <a:ahLst/>
              <a:cxnLst/>
              <a:rect l="l" t="t" r="r" b="b"/>
              <a:pathLst>
                <a:path w="6055360" h="378968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4"/>
              <a:stretch>
                <a:fillRect t="-27595" b="-27595"/>
              </a:stretch>
            </a:blipFill>
          </p:spPr>
          <p:txBody>
            <a:bodyPr/>
            <a:lstStyle/>
            <a:p>
              <a:endParaRPr lang="cs-CZ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8724DEE-AFA6-847F-076E-0E9B3DF78D63}"/>
              </a:ext>
            </a:extLst>
          </p:cNvPr>
          <p:cNvGrpSpPr/>
          <p:nvPr/>
        </p:nvGrpSpPr>
        <p:grpSpPr>
          <a:xfrm>
            <a:off x="2190847" y="5458797"/>
            <a:ext cx="3120902" cy="2423849"/>
            <a:chOff x="2190847" y="5458797"/>
            <a:chExt cx="3120902" cy="2423849"/>
          </a:xfrm>
        </p:grpSpPr>
        <p:sp>
          <p:nvSpPr>
            <p:cNvPr id="21" name="TextBox 21"/>
            <p:cNvSpPr txBox="1"/>
            <p:nvPr/>
          </p:nvSpPr>
          <p:spPr>
            <a:xfrm>
              <a:off x="2190847" y="6667148"/>
              <a:ext cx="3120902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Vývoj a testování lokalizační infrastruktury využívající technologii UWB pro určování polohy hráčů.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90847" y="5458797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190847" y="6133140"/>
              <a:ext cx="1957850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UWB KOTVY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D28AAD0-9785-879A-BC36-7BEACCA2D4F0}"/>
              </a:ext>
            </a:extLst>
          </p:cNvPr>
          <p:cNvGrpSpPr/>
          <p:nvPr/>
        </p:nvGrpSpPr>
        <p:grpSpPr>
          <a:xfrm>
            <a:off x="6192899" y="5458797"/>
            <a:ext cx="3120902" cy="2423849"/>
            <a:chOff x="6192899" y="5458797"/>
            <a:chExt cx="3120902" cy="2423849"/>
          </a:xfrm>
        </p:grpSpPr>
        <p:sp>
          <p:nvSpPr>
            <p:cNvPr id="19" name="TextBox 19"/>
            <p:cNvSpPr txBox="1"/>
            <p:nvPr/>
          </p:nvSpPr>
          <p:spPr>
            <a:xfrm>
              <a:off x="6192899" y="6667148"/>
              <a:ext cx="3120902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ávrh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vlastní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desky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plošných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spojů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programu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KiCad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pro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integraci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všech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komponent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do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jednoho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zařízení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92899" y="5458797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192899" y="6133140"/>
              <a:ext cx="209562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VLASTNÍ PCB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59D32C7-C5B4-3C3D-9D1D-39555B160BB6}"/>
              </a:ext>
            </a:extLst>
          </p:cNvPr>
          <p:cNvGrpSpPr/>
          <p:nvPr/>
        </p:nvGrpSpPr>
        <p:grpSpPr>
          <a:xfrm>
            <a:off x="10194951" y="5458797"/>
            <a:ext cx="3120902" cy="2423849"/>
            <a:chOff x="10194951" y="5458797"/>
            <a:chExt cx="3120902" cy="2423849"/>
          </a:xfrm>
        </p:grpSpPr>
        <p:sp>
          <p:nvSpPr>
            <p:cNvPr id="17" name="TextBox 17"/>
            <p:cNvSpPr txBox="1"/>
            <p:nvPr/>
          </p:nvSpPr>
          <p:spPr>
            <a:xfrm>
              <a:off x="10194951" y="6667148"/>
              <a:ext cx="3120902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Testovací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prostředí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pro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ověřování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herních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mechanik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,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zásahů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funkcí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systému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bez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dokončeného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hardwaru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194951" y="5458797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194951" y="6133140"/>
              <a:ext cx="224700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PLAYGROUND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46713" y="-25865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>
            <a:off x="13854766" y="-1857716"/>
            <a:ext cx="7548481" cy="7001216"/>
          </a:xfrm>
          <a:custGeom>
            <a:avLst/>
            <a:gdLst/>
            <a:ahLst/>
            <a:cxnLst/>
            <a:rect l="l" t="t" r="r" b="b"/>
            <a:pathLst>
              <a:path w="7548481" h="7001216">
                <a:moveTo>
                  <a:pt x="0" y="0"/>
                </a:moveTo>
                <a:lnTo>
                  <a:pt x="7548481" y="0"/>
                </a:lnTo>
                <a:lnTo>
                  <a:pt x="7548481" y="7001216"/>
                </a:lnTo>
                <a:lnTo>
                  <a:pt x="0" y="70012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2184014" y="476151"/>
            <a:ext cx="3597471" cy="3444579"/>
          </a:xfrm>
          <a:custGeom>
            <a:avLst/>
            <a:gdLst/>
            <a:ahLst/>
            <a:cxnLst/>
            <a:rect l="l" t="t" r="r" b="b"/>
            <a:pathLst>
              <a:path w="3597471" h="3444579">
                <a:moveTo>
                  <a:pt x="0" y="0"/>
                </a:moveTo>
                <a:lnTo>
                  <a:pt x="3597472" y="0"/>
                </a:lnTo>
                <a:lnTo>
                  <a:pt x="3597472" y="3444579"/>
                </a:lnTo>
                <a:lnTo>
                  <a:pt x="0" y="34445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1946731" y="2842845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3" name="TextBox 33"/>
          <p:cNvSpPr txBox="1"/>
          <p:nvPr/>
        </p:nvSpPr>
        <p:spPr>
          <a:xfrm>
            <a:off x="1296076" y="1671467"/>
            <a:ext cx="14768151" cy="96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11"/>
              </a:lnSpc>
              <a:spcBef>
                <a:spcPct val="0"/>
              </a:spcBef>
            </a:pPr>
            <a:r>
              <a:rPr lang="en-US" sz="8799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UWB KOTVY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004ED2E-87D2-F0A3-EC6F-F33DDF07644B}"/>
              </a:ext>
            </a:extLst>
          </p:cNvPr>
          <p:cNvGrpSpPr/>
          <p:nvPr/>
        </p:nvGrpSpPr>
        <p:grpSpPr>
          <a:xfrm>
            <a:off x="1028700" y="11006546"/>
            <a:ext cx="5368741" cy="5947954"/>
            <a:chOff x="1028700" y="3310346"/>
            <a:chExt cx="5368741" cy="5947954"/>
          </a:xfrm>
        </p:grpSpPr>
        <p:grpSp>
          <p:nvGrpSpPr>
            <p:cNvPr id="41" name="Group 6">
              <a:extLst>
                <a:ext uri="{FF2B5EF4-FFF2-40B4-BE49-F238E27FC236}">
                  <a16:creationId xmlns:a16="http://schemas.microsoft.com/office/drawing/2014/main" id="{BA69AE7B-C647-2921-0BDA-4FC1253BB849}"/>
                </a:ext>
              </a:extLst>
            </p:cNvPr>
            <p:cNvGrpSpPr/>
            <p:nvPr/>
          </p:nvGrpSpPr>
          <p:grpSpPr>
            <a:xfrm>
              <a:off x="1028700" y="3310346"/>
              <a:ext cx="5368741" cy="5947954"/>
              <a:chOff x="0" y="0"/>
              <a:chExt cx="1413989" cy="1566539"/>
            </a:xfrm>
          </p:grpSpPr>
          <p:sp>
            <p:nvSpPr>
              <p:cNvPr id="50" name="Freeform 7">
                <a:extLst>
                  <a:ext uri="{FF2B5EF4-FFF2-40B4-BE49-F238E27FC236}">
                    <a16:creationId xmlns:a16="http://schemas.microsoft.com/office/drawing/2014/main" id="{5BE020A7-DF04-2DA2-B5D2-6B6801692E21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1" name="TextBox 8">
                <a:extLst>
                  <a:ext uri="{FF2B5EF4-FFF2-40B4-BE49-F238E27FC236}">
                    <a16:creationId xmlns:a16="http://schemas.microsoft.com/office/drawing/2014/main" id="{517410BC-5DC7-4C8A-EE03-5A4F3010969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42" name="Group 15">
              <a:extLst>
                <a:ext uri="{FF2B5EF4-FFF2-40B4-BE49-F238E27FC236}">
                  <a16:creationId xmlns:a16="http://schemas.microsoft.com/office/drawing/2014/main" id="{89FD0D43-2F9D-0DC2-A549-9C2D74961F6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273202" y="4798336"/>
              <a:ext cx="4879738" cy="2798959"/>
              <a:chOff x="0" y="0"/>
              <a:chExt cx="7981950" cy="4578350"/>
            </a:xfrm>
          </p:grpSpPr>
          <p:sp>
            <p:nvSpPr>
              <p:cNvPr id="45" name="Freeform 16">
                <a:extLst>
                  <a:ext uri="{FF2B5EF4-FFF2-40B4-BE49-F238E27FC236}">
                    <a16:creationId xmlns:a16="http://schemas.microsoft.com/office/drawing/2014/main" id="{517487A1-F968-892D-063F-18A687D10599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6" name="Freeform 17">
                <a:extLst>
                  <a:ext uri="{FF2B5EF4-FFF2-40B4-BE49-F238E27FC236}">
                    <a16:creationId xmlns:a16="http://schemas.microsoft.com/office/drawing/2014/main" id="{272E116E-DD42-C6B8-59D9-8E400B08CA50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7" name="Freeform 18">
                <a:extLst>
                  <a:ext uri="{FF2B5EF4-FFF2-40B4-BE49-F238E27FC236}">
                    <a16:creationId xmlns:a16="http://schemas.microsoft.com/office/drawing/2014/main" id="{C901676A-C71C-CC00-6A89-5C0AE0EA31B9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8" name="Freeform 19">
                <a:extLst>
                  <a:ext uri="{FF2B5EF4-FFF2-40B4-BE49-F238E27FC236}">
                    <a16:creationId xmlns:a16="http://schemas.microsoft.com/office/drawing/2014/main" id="{F2C33330-A343-94A4-6CB7-ED38A9182498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9" name="Freeform 20">
                <a:extLst>
                  <a:ext uri="{FF2B5EF4-FFF2-40B4-BE49-F238E27FC236}">
                    <a16:creationId xmlns:a16="http://schemas.microsoft.com/office/drawing/2014/main" id="{EE7F56C5-652C-B5BC-F268-22A9E0351232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5506" r="-5506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43" name="TextBox 34">
              <a:extLst>
                <a:ext uri="{FF2B5EF4-FFF2-40B4-BE49-F238E27FC236}">
                  <a16:creationId xmlns:a16="http://schemas.microsoft.com/office/drawing/2014/main" id="{06065451-7845-C76E-6335-5479DBB6F16E}"/>
                </a:ext>
              </a:extLst>
            </p:cNvPr>
            <p:cNvSpPr txBox="1"/>
            <p:nvPr/>
          </p:nvSpPr>
          <p:spPr>
            <a:xfrm>
              <a:off x="1233299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Firmware kotev</a:t>
              </a:r>
            </a:p>
          </p:txBody>
        </p:sp>
        <p:sp>
          <p:nvSpPr>
            <p:cNvPr id="44" name="TextBox 37">
              <a:extLst>
                <a:ext uri="{FF2B5EF4-FFF2-40B4-BE49-F238E27FC236}">
                  <a16:creationId xmlns:a16="http://schemas.microsoft.com/office/drawing/2014/main" id="{AE823CE8-38FF-4A90-BFC6-5594089343E4}"/>
                </a:ext>
              </a:extLst>
            </p:cNvPr>
            <p:cNvSpPr txBox="1"/>
            <p:nvPr/>
          </p:nvSpPr>
          <p:spPr>
            <a:xfrm>
              <a:off x="1731060" y="8036227"/>
              <a:ext cx="3964020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Nahrání a testování firmware pro UWB infrastrukturu.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4C74CCD-A2C9-7CC2-8467-9E28C34AAF6B}"/>
              </a:ext>
            </a:extLst>
          </p:cNvPr>
          <p:cNvGrpSpPr/>
          <p:nvPr/>
        </p:nvGrpSpPr>
        <p:grpSpPr>
          <a:xfrm>
            <a:off x="6888474" y="11006546"/>
            <a:ext cx="5368741" cy="5947954"/>
            <a:chOff x="6888474" y="3310346"/>
            <a:chExt cx="5368741" cy="5947954"/>
          </a:xfrm>
        </p:grpSpPr>
        <p:grpSp>
          <p:nvGrpSpPr>
            <p:cNvPr id="53" name="Group 9">
              <a:extLst>
                <a:ext uri="{FF2B5EF4-FFF2-40B4-BE49-F238E27FC236}">
                  <a16:creationId xmlns:a16="http://schemas.microsoft.com/office/drawing/2014/main" id="{C13C75E6-FD07-94A3-2E74-5734A89A4D13}"/>
                </a:ext>
              </a:extLst>
            </p:cNvPr>
            <p:cNvGrpSpPr/>
            <p:nvPr/>
          </p:nvGrpSpPr>
          <p:grpSpPr>
            <a:xfrm>
              <a:off x="6888474" y="3310346"/>
              <a:ext cx="5368741" cy="5947954"/>
              <a:chOff x="0" y="0"/>
              <a:chExt cx="1413989" cy="1566539"/>
            </a:xfrm>
          </p:grpSpPr>
          <p:sp>
            <p:nvSpPr>
              <p:cNvPr id="62" name="Freeform 10">
                <a:extLst>
                  <a:ext uri="{FF2B5EF4-FFF2-40B4-BE49-F238E27FC236}">
                    <a16:creationId xmlns:a16="http://schemas.microsoft.com/office/drawing/2014/main" id="{497301F1-7B09-CE0C-6ED6-D43AC6DF7DA6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3" name="TextBox 11">
                <a:extLst>
                  <a:ext uri="{FF2B5EF4-FFF2-40B4-BE49-F238E27FC236}">
                    <a16:creationId xmlns:a16="http://schemas.microsoft.com/office/drawing/2014/main" id="{668DD33D-C740-0D32-BC25-A2F59B2CFE5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54" name="Group 21">
              <a:extLst>
                <a:ext uri="{FF2B5EF4-FFF2-40B4-BE49-F238E27FC236}">
                  <a16:creationId xmlns:a16="http://schemas.microsoft.com/office/drawing/2014/main" id="{40A3314D-39FC-FE9D-7764-ABD695E5DED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132976" y="4798336"/>
              <a:ext cx="4879738" cy="2798959"/>
              <a:chOff x="0" y="0"/>
              <a:chExt cx="7981950" cy="4578350"/>
            </a:xfrm>
          </p:grpSpPr>
          <p:sp>
            <p:nvSpPr>
              <p:cNvPr id="57" name="Freeform 22">
                <a:extLst>
                  <a:ext uri="{FF2B5EF4-FFF2-40B4-BE49-F238E27FC236}">
                    <a16:creationId xmlns:a16="http://schemas.microsoft.com/office/drawing/2014/main" id="{08F3B461-95D2-DC86-1EFF-E89838A7AF0C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8" name="Freeform 23">
                <a:extLst>
                  <a:ext uri="{FF2B5EF4-FFF2-40B4-BE49-F238E27FC236}">
                    <a16:creationId xmlns:a16="http://schemas.microsoft.com/office/drawing/2014/main" id="{E90552A5-CC07-0539-1BFA-5B47AF2DEA7A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9" name="Freeform 24">
                <a:extLst>
                  <a:ext uri="{FF2B5EF4-FFF2-40B4-BE49-F238E27FC236}">
                    <a16:creationId xmlns:a16="http://schemas.microsoft.com/office/drawing/2014/main" id="{B699B6C5-E3CF-8CC0-9D63-BB9291FF7530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0" name="Freeform 25">
                <a:extLst>
                  <a:ext uri="{FF2B5EF4-FFF2-40B4-BE49-F238E27FC236}">
                    <a16:creationId xmlns:a16="http://schemas.microsoft.com/office/drawing/2014/main" id="{42CD5C10-D8C9-CE6C-02D2-7090A4C33970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1" name="Freeform 26">
                <a:extLst>
                  <a:ext uri="{FF2B5EF4-FFF2-40B4-BE49-F238E27FC236}">
                    <a16:creationId xmlns:a16="http://schemas.microsoft.com/office/drawing/2014/main" id="{A5C6C4E2-5D7B-5CEA-F321-A8503EBCE18A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6512" t="-94483" r="-11537" b="-57019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55" name="TextBox 35">
              <a:extLst>
                <a:ext uri="{FF2B5EF4-FFF2-40B4-BE49-F238E27FC236}">
                  <a16:creationId xmlns:a16="http://schemas.microsoft.com/office/drawing/2014/main" id="{1AB4162A-C342-6CF4-93E1-CE30366D2C1D}"/>
                </a:ext>
              </a:extLst>
            </p:cNvPr>
            <p:cNvSpPr txBox="1"/>
            <p:nvPr/>
          </p:nvSpPr>
          <p:spPr>
            <a:xfrm>
              <a:off x="7093073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Diagnostika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56" name="TextBox 38">
              <a:extLst>
                <a:ext uri="{FF2B5EF4-FFF2-40B4-BE49-F238E27FC236}">
                  <a16:creationId xmlns:a16="http://schemas.microsoft.com/office/drawing/2014/main" id="{EA01E839-2738-BE3A-5E2E-AE725A64226E}"/>
                </a:ext>
              </a:extLst>
            </p:cNvPr>
            <p:cNvSpPr txBox="1"/>
            <p:nvPr/>
          </p:nvSpPr>
          <p:spPr>
            <a:xfrm>
              <a:off x="7574554" y="8036227"/>
              <a:ext cx="3996583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Řešení problémů s komunikací a nefunkčními moduly.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8E95C34-E946-93C3-D492-935BE29A3FC3}"/>
              </a:ext>
            </a:extLst>
          </p:cNvPr>
          <p:cNvGrpSpPr/>
          <p:nvPr/>
        </p:nvGrpSpPr>
        <p:grpSpPr>
          <a:xfrm>
            <a:off x="12748249" y="11006546"/>
            <a:ext cx="5992350" cy="5947954"/>
            <a:chOff x="12748249" y="3310346"/>
            <a:chExt cx="5992350" cy="5947954"/>
          </a:xfrm>
        </p:grpSpPr>
        <p:grpSp>
          <p:nvGrpSpPr>
            <p:cNvPr id="65" name="Group 12">
              <a:extLst>
                <a:ext uri="{FF2B5EF4-FFF2-40B4-BE49-F238E27FC236}">
                  <a16:creationId xmlns:a16="http://schemas.microsoft.com/office/drawing/2014/main" id="{A1C53014-CF5F-B9D3-DD48-4EC9C0F051DC}"/>
                </a:ext>
              </a:extLst>
            </p:cNvPr>
            <p:cNvGrpSpPr/>
            <p:nvPr/>
          </p:nvGrpSpPr>
          <p:grpSpPr>
            <a:xfrm>
              <a:off x="12748249" y="3310346"/>
              <a:ext cx="5992350" cy="5947954"/>
              <a:chOff x="0" y="0"/>
              <a:chExt cx="1578232" cy="1566539"/>
            </a:xfrm>
          </p:grpSpPr>
          <p:sp>
            <p:nvSpPr>
              <p:cNvPr id="74" name="Freeform 13">
                <a:extLst>
                  <a:ext uri="{FF2B5EF4-FFF2-40B4-BE49-F238E27FC236}">
                    <a16:creationId xmlns:a16="http://schemas.microsoft.com/office/drawing/2014/main" id="{C03FBE41-9C09-20E6-60CE-6E10AF2B9465}"/>
                  </a:ext>
                </a:extLst>
              </p:cNvPr>
              <p:cNvSpPr/>
              <p:nvPr/>
            </p:nvSpPr>
            <p:spPr>
              <a:xfrm>
                <a:off x="0" y="0"/>
                <a:ext cx="1578232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578232" h="1566539">
                    <a:moveTo>
                      <a:pt x="32299" y="0"/>
                    </a:moveTo>
                    <a:lnTo>
                      <a:pt x="1545933" y="0"/>
                    </a:lnTo>
                    <a:cubicBezTo>
                      <a:pt x="1563771" y="0"/>
                      <a:pt x="1578232" y="14461"/>
                      <a:pt x="1578232" y="32299"/>
                    </a:cubicBezTo>
                    <a:lnTo>
                      <a:pt x="1578232" y="1534240"/>
                    </a:lnTo>
                    <a:cubicBezTo>
                      <a:pt x="1578232" y="1542806"/>
                      <a:pt x="1574829" y="1551022"/>
                      <a:pt x="1568772" y="1557079"/>
                    </a:cubicBezTo>
                    <a:cubicBezTo>
                      <a:pt x="1562715" y="1563136"/>
                      <a:pt x="1554499" y="1566539"/>
                      <a:pt x="1545933" y="1566539"/>
                    </a:cubicBezTo>
                    <a:lnTo>
                      <a:pt x="32299" y="1566539"/>
                    </a:lnTo>
                    <a:cubicBezTo>
                      <a:pt x="23733" y="1566539"/>
                      <a:pt x="15517" y="1563136"/>
                      <a:pt x="9460" y="1557079"/>
                    </a:cubicBezTo>
                    <a:cubicBezTo>
                      <a:pt x="3403" y="1551022"/>
                      <a:pt x="0" y="1542806"/>
                      <a:pt x="0" y="1534240"/>
                    </a:cubicBezTo>
                    <a:lnTo>
                      <a:pt x="0" y="32299"/>
                    </a:lnTo>
                    <a:cubicBezTo>
                      <a:pt x="0" y="23733"/>
                      <a:pt x="3403" y="15517"/>
                      <a:pt x="9460" y="9460"/>
                    </a:cubicBezTo>
                    <a:cubicBezTo>
                      <a:pt x="15517" y="3403"/>
                      <a:pt x="23733" y="0"/>
                      <a:pt x="32299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5" name="TextBox 14">
                <a:extLst>
                  <a:ext uri="{FF2B5EF4-FFF2-40B4-BE49-F238E27FC236}">
                    <a16:creationId xmlns:a16="http://schemas.microsoft.com/office/drawing/2014/main" id="{2A8F1FAA-4720-E753-1086-8C3B1AA26BC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578232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66" name="Group 27">
              <a:extLst>
                <a:ext uri="{FF2B5EF4-FFF2-40B4-BE49-F238E27FC236}">
                  <a16:creationId xmlns:a16="http://schemas.microsoft.com/office/drawing/2014/main" id="{F2214BDD-9F6D-843B-E6C1-3EE38680DED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045723" y="4798336"/>
              <a:ext cx="4879738" cy="2798959"/>
              <a:chOff x="0" y="0"/>
              <a:chExt cx="7981950" cy="4578350"/>
            </a:xfrm>
          </p:grpSpPr>
          <p:sp>
            <p:nvSpPr>
              <p:cNvPr id="69" name="Freeform 28">
                <a:extLst>
                  <a:ext uri="{FF2B5EF4-FFF2-40B4-BE49-F238E27FC236}">
                    <a16:creationId xmlns:a16="http://schemas.microsoft.com/office/drawing/2014/main" id="{F19585F0-B37A-4B20-BDAE-A68551BD01D0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0" name="Freeform 29">
                <a:extLst>
                  <a:ext uri="{FF2B5EF4-FFF2-40B4-BE49-F238E27FC236}">
                    <a16:creationId xmlns:a16="http://schemas.microsoft.com/office/drawing/2014/main" id="{4CD13ED4-66EB-1247-D292-E967049E23BB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1" name="Freeform 30">
                <a:extLst>
                  <a:ext uri="{FF2B5EF4-FFF2-40B4-BE49-F238E27FC236}">
                    <a16:creationId xmlns:a16="http://schemas.microsoft.com/office/drawing/2014/main" id="{4BB52FEE-6A41-45C1-4C2D-BBDDBE91EA72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2" name="Freeform 31">
                <a:extLst>
                  <a:ext uri="{FF2B5EF4-FFF2-40B4-BE49-F238E27FC236}">
                    <a16:creationId xmlns:a16="http://schemas.microsoft.com/office/drawing/2014/main" id="{0C6EF1B4-B873-C18C-6D45-9A1E5502F4C6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3" name="Freeform 32">
                <a:extLst>
                  <a:ext uri="{FF2B5EF4-FFF2-40B4-BE49-F238E27FC236}">
                    <a16:creationId xmlns:a16="http://schemas.microsoft.com/office/drawing/2014/main" id="{06EF372C-C88D-5A1C-09EA-AB40E8EC8AE9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67207" r="-21064" b="-90716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67" name="TextBox 36">
              <a:extLst>
                <a:ext uri="{FF2B5EF4-FFF2-40B4-BE49-F238E27FC236}">
                  <a16:creationId xmlns:a16="http://schemas.microsoft.com/office/drawing/2014/main" id="{3718127E-ECC1-74CD-0584-D5BA84FE2527}"/>
                </a:ext>
              </a:extLst>
            </p:cNvPr>
            <p:cNvSpPr txBox="1"/>
            <p:nvPr/>
          </p:nvSpPr>
          <p:spPr>
            <a:xfrm>
              <a:off x="13005820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Integrace</a:t>
              </a:r>
            </a:p>
          </p:txBody>
        </p:sp>
        <p:sp>
          <p:nvSpPr>
            <p:cNvPr id="68" name="TextBox 39">
              <a:extLst>
                <a:ext uri="{FF2B5EF4-FFF2-40B4-BE49-F238E27FC236}">
                  <a16:creationId xmlns:a16="http://schemas.microsoft.com/office/drawing/2014/main" id="{C45C1E93-AA3B-D4E0-40F7-27327832462A}"/>
                </a:ext>
              </a:extLst>
            </p:cNvPr>
            <p:cNvSpPr txBox="1"/>
            <p:nvPr/>
          </p:nvSpPr>
          <p:spPr>
            <a:xfrm>
              <a:off x="13369658" y="7982553"/>
              <a:ext cx="4231868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Příprava kotev pro budoucí propojení s herním systémem.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46713" y="-25865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>
            <a:off x="13854766" y="-1857716"/>
            <a:ext cx="7548481" cy="7001216"/>
          </a:xfrm>
          <a:custGeom>
            <a:avLst/>
            <a:gdLst/>
            <a:ahLst/>
            <a:cxnLst/>
            <a:rect l="l" t="t" r="r" b="b"/>
            <a:pathLst>
              <a:path w="7548481" h="7001216">
                <a:moveTo>
                  <a:pt x="0" y="0"/>
                </a:moveTo>
                <a:lnTo>
                  <a:pt x="7548481" y="0"/>
                </a:lnTo>
                <a:lnTo>
                  <a:pt x="7548481" y="7001216"/>
                </a:lnTo>
                <a:lnTo>
                  <a:pt x="0" y="70012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2184014" y="476151"/>
            <a:ext cx="3597471" cy="3444579"/>
          </a:xfrm>
          <a:custGeom>
            <a:avLst/>
            <a:gdLst/>
            <a:ahLst/>
            <a:cxnLst/>
            <a:rect l="l" t="t" r="r" b="b"/>
            <a:pathLst>
              <a:path w="3597471" h="3444579">
                <a:moveTo>
                  <a:pt x="0" y="0"/>
                </a:moveTo>
                <a:lnTo>
                  <a:pt x="3597472" y="0"/>
                </a:lnTo>
                <a:lnTo>
                  <a:pt x="3597472" y="3444579"/>
                </a:lnTo>
                <a:lnTo>
                  <a:pt x="0" y="34445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1946731" y="2842845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3" name="TextBox 33"/>
          <p:cNvSpPr txBox="1"/>
          <p:nvPr/>
        </p:nvSpPr>
        <p:spPr>
          <a:xfrm>
            <a:off x="1296076" y="1671467"/>
            <a:ext cx="14768151" cy="96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11"/>
              </a:lnSpc>
              <a:spcBef>
                <a:spcPct val="0"/>
              </a:spcBef>
            </a:pPr>
            <a:r>
              <a:rPr lang="en-US" sz="8799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UWB KOTVY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2A4CE40-3B10-68B6-FC3A-5493FF21DC47}"/>
              </a:ext>
            </a:extLst>
          </p:cNvPr>
          <p:cNvGrpSpPr/>
          <p:nvPr/>
        </p:nvGrpSpPr>
        <p:grpSpPr>
          <a:xfrm>
            <a:off x="6888474" y="11006546"/>
            <a:ext cx="5368741" cy="5947954"/>
            <a:chOff x="6888474" y="3310346"/>
            <a:chExt cx="5368741" cy="5947954"/>
          </a:xfrm>
        </p:grpSpPr>
        <p:grpSp>
          <p:nvGrpSpPr>
            <p:cNvPr id="53" name="Group 9">
              <a:extLst>
                <a:ext uri="{FF2B5EF4-FFF2-40B4-BE49-F238E27FC236}">
                  <a16:creationId xmlns:a16="http://schemas.microsoft.com/office/drawing/2014/main" id="{6BDF8BAB-1FD2-F0AE-9BED-CE9D3D7B6A33}"/>
                </a:ext>
              </a:extLst>
            </p:cNvPr>
            <p:cNvGrpSpPr/>
            <p:nvPr/>
          </p:nvGrpSpPr>
          <p:grpSpPr>
            <a:xfrm>
              <a:off x="6888474" y="3310346"/>
              <a:ext cx="5368741" cy="5947954"/>
              <a:chOff x="0" y="0"/>
              <a:chExt cx="1413989" cy="1566539"/>
            </a:xfrm>
          </p:grpSpPr>
          <p:sp>
            <p:nvSpPr>
              <p:cNvPr id="62" name="Freeform 10">
                <a:extLst>
                  <a:ext uri="{FF2B5EF4-FFF2-40B4-BE49-F238E27FC236}">
                    <a16:creationId xmlns:a16="http://schemas.microsoft.com/office/drawing/2014/main" id="{F55153C5-2297-CC33-82B7-3F7C91B376A2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3" name="TextBox 11">
                <a:extLst>
                  <a:ext uri="{FF2B5EF4-FFF2-40B4-BE49-F238E27FC236}">
                    <a16:creationId xmlns:a16="http://schemas.microsoft.com/office/drawing/2014/main" id="{6BE4F378-8122-F95D-3930-2EA2B2FC38C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54" name="Group 21">
              <a:extLst>
                <a:ext uri="{FF2B5EF4-FFF2-40B4-BE49-F238E27FC236}">
                  <a16:creationId xmlns:a16="http://schemas.microsoft.com/office/drawing/2014/main" id="{917EE80B-6088-B193-B61C-9E7DD596F97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132976" y="4798336"/>
              <a:ext cx="4879738" cy="2798959"/>
              <a:chOff x="0" y="0"/>
              <a:chExt cx="7981950" cy="4578350"/>
            </a:xfrm>
          </p:grpSpPr>
          <p:sp>
            <p:nvSpPr>
              <p:cNvPr id="57" name="Freeform 22">
                <a:extLst>
                  <a:ext uri="{FF2B5EF4-FFF2-40B4-BE49-F238E27FC236}">
                    <a16:creationId xmlns:a16="http://schemas.microsoft.com/office/drawing/2014/main" id="{DD53F7E0-9C2E-D59E-092D-B49AB2479017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8" name="Freeform 23">
                <a:extLst>
                  <a:ext uri="{FF2B5EF4-FFF2-40B4-BE49-F238E27FC236}">
                    <a16:creationId xmlns:a16="http://schemas.microsoft.com/office/drawing/2014/main" id="{4CA2130E-8F4B-CD33-62E1-C561D00E7A91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9" name="Freeform 24">
                <a:extLst>
                  <a:ext uri="{FF2B5EF4-FFF2-40B4-BE49-F238E27FC236}">
                    <a16:creationId xmlns:a16="http://schemas.microsoft.com/office/drawing/2014/main" id="{53A07528-C62A-D7A1-2453-5FA453A2FE8C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0" name="Freeform 25">
                <a:extLst>
                  <a:ext uri="{FF2B5EF4-FFF2-40B4-BE49-F238E27FC236}">
                    <a16:creationId xmlns:a16="http://schemas.microsoft.com/office/drawing/2014/main" id="{ABF11958-897D-24E3-84FD-8B1AF4408828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1" name="Freeform 26">
                <a:extLst>
                  <a:ext uri="{FF2B5EF4-FFF2-40B4-BE49-F238E27FC236}">
                    <a16:creationId xmlns:a16="http://schemas.microsoft.com/office/drawing/2014/main" id="{38D5EE04-36E1-093B-A658-6ABB094D8A5B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6512" t="-94483" r="-11537" b="-57019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55" name="TextBox 35">
              <a:extLst>
                <a:ext uri="{FF2B5EF4-FFF2-40B4-BE49-F238E27FC236}">
                  <a16:creationId xmlns:a16="http://schemas.microsoft.com/office/drawing/2014/main" id="{CC3C9C82-C673-B520-F211-803BD7800516}"/>
                </a:ext>
              </a:extLst>
            </p:cNvPr>
            <p:cNvSpPr txBox="1"/>
            <p:nvPr/>
          </p:nvSpPr>
          <p:spPr>
            <a:xfrm>
              <a:off x="7093073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Diagnostika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56" name="TextBox 38">
              <a:extLst>
                <a:ext uri="{FF2B5EF4-FFF2-40B4-BE49-F238E27FC236}">
                  <a16:creationId xmlns:a16="http://schemas.microsoft.com/office/drawing/2014/main" id="{6AE5A152-73AF-B687-6833-AAA1720A94DC}"/>
                </a:ext>
              </a:extLst>
            </p:cNvPr>
            <p:cNvSpPr txBox="1"/>
            <p:nvPr/>
          </p:nvSpPr>
          <p:spPr>
            <a:xfrm>
              <a:off x="7574554" y="8036227"/>
              <a:ext cx="3996583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Řešení problémů s komunikací a nefunkčními moduly.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D9989EA-6133-D6DB-BDD5-E458ED37AC8E}"/>
              </a:ext>
            </a:extLst>
          </p:cNvPr>
          <p:cNvGrpSpPr/>
          <p:nvPr/>
        </p:nvGrpSpPr>
        <p:grpSpPr>
          <a:xfrm>
            <a:off x="12748249" y="11006546"/>
            <a:ext cx="5992350" cy="5947954"/>
            <a:chOff x="12748249" y="3310346"/>
            <a:chExt cx="5992350" cy="5947954"/>
          </a:xfrm>
        </p:grpSpPr>
        <p:grpSp>
          <p:nvGrpSpPr>
            <p:cNvPr id="65" name="Group 12">
              <a:extLst>
                <a:ext uri="{FF2B5EF4-FFF2-40B4-BE49-F238E27FC236}">
                  <a16:creationId xmlns:a16="http://schemas.microsoft.com/office/drawing/2014/main" id="{E0FFB4DF-C896-42E0-66FF-94F839C2154E}"/>
                </a:ext>
              </a:extLst>
            </p:cNvPr>
            <p:cNvGrpSpPr/>
            <p:nvPr/>
          </p:nvGrpSpPr>
          <p:grpSpPr>
            <a:xfrm>
              <a:off x="12748249" y="3310346"/>
              <a:ext cx="5992350" cy="5947954"/>
              <a:chOff x="0" y="0"/>
              <a:chExt cx="1578232" cy="1566539"/>
            </a:xfrm>
          </p:grpSpPr>
          <p:sp>
            <p:nvSpPr>
              <p:cNvPr id="74" name="Freeform 13">
                <a:extLst>
                  <a:ext uri="{FF2B5EF4-FFF2-40B4-BE49-F238E27FC236}">
                    <a16:creationId xmlns:a16="http://schemas.microsoft.com/office/drawing/2014/main" id="{7D70099D-7794-AD47-84AB-C8D200E66B09}"/>
                  </a:ext>
                </a:extLst>
              </p:cNvPr>
              <p:cNvSpPr/>
              <p:nvPr/>
            </p:nvSpPr>
            <p:spPr>
              <a:xfrm>
                <a:off x="0" y="0"/>
                <a:ext cx="1578232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578232" h="1566539">
                    <a:moveTo>
                      <a:pt x="32299" y="0"/>
                    </a:moveTo>
                    <a:lnTo>
                      <a:pt x="1545933" y="0"/>
                    </a:lnTo>
                    <a:cubicBezTo>
                      <a:pt x="1563771" y="0"/>
                      <a:pt x="1578232" y="14461"/>
                      <a:pt x="1578232" y="32299"/>
                    </a:cubicBezTo>
                    <a:lnTo>
                      <a:pt x="1578232" y="1534240"/>
                    </a:lnTo>
                    <a:cubicBezTo>
                      <a:pt x="1578232" y="1542806"/>
                      <a:pt x="1574829" y="1551022"/>
                      <a:pt x="1568772" y="1557079"/>
                    </a:cubicBezTo>
                    <a:cubicBezTo>
                      <a:pt x="1562715" y="1563136"/>
                      <a:pt x="1554499" y="1566539"/>
                      <a:pt x="1545933" y="1566539"/>
                    </a:cubicBezTo>
                    <a:lnTo>
                      <a:pt x="32299" y="1566539"/>
                    </a:lnTo>
                    <a:cubicBezTo>
                      <a:pt x="23733" y="1566539"/>
                      <a:pt x="15517" y="1563136"/>
                      <a:pt x="9460" y="1557079"/>
                    </a:cubicBezTo>
                    <a:cubicBezTo>
                      <a:pt x="3403" y="1551022"/>
                      <a:pt x="0" y="1542806"/>
                      <a:pt x="0" y="1534240"/>
                    </a:cubicBezTo>
                    <a:lnTo>
                      <a:pt x="0" y="32299"/>
                    </a:lnTo>
                    <a:cubicBezTo>
                      <a:pt x="0" y="23733"/>
                      <a:pt x="3403" y="15517"/>
                      <a:pt x="9460" y="9460"/>
                    </a:cubicBezTo>
                    <a:cubicBezTo>
                      <a:pt x="15517" y="3403"/>
                      <a:pt x="23733" y="0"/>
                      <a:pt x="32299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5" name="TextBox 14">
                <a:extLst>
                  <a:ext uri="{FF2B5EF4-FFF2-40B4-BE49-F238E27FC236}">
                    <a16:creationId xmlns:a16="http://schemas.microsoft.com/office/drawing/2014/main" id="{F2B3CD8F-A40B-50A4-52C0-72E22CB384E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578232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66" name="Group 27">
              <a:extLst>
                <a:ext uri="{FF2B5EF4-FFF2-40B4-BE49-F238E27FC236}">
                  <a16:creationId xmlns:a16="http://schemas.microsoft.com/office/drawing/2014/main" id="{BBF46285-35FA-0F8A-7A73-D1C0EA090BB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045723" y="4798336"/>
              <a:ext cx="4879738" cy="2798959"/>
              <a:chOff x="0" y="0"/>
              <a:chExt cx="7981950" cy="4578350"/>
            </a:xfrm>
          </p:grpSpPr>
          <p:sp>
            <p:nvSpPr>
              <p:cNvPr id="69" name="Freeform 28">
                <a:extLst>
                  <a:ext uri="{FF2B5EF4-FFF2-40B4-BE49-F238E27FC236}">
                    <a16:creationId xmlns:a16="http://schemas.microsoft.com/office/drawing/2014/main" id="{D4A77F23-B73B-59BA-71DD-EA791BDE0789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0" name="Freeform 29">
                <a:extLst>
                  <a:ext uri="{FF2B5EF4-FFF2-40B4-BE49-F238E27FC236}">
                    <a16:creationId xmlns:a16="http://schemas.microsoft.com/office/drawing/2014/main" id="{130A9919-3C1C-4F29-5D94-A46979A22BEC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1" name="Freeform 30">
                <a:extLst>
                  <a:ext uri="{FF2B5EF4-FFF2-40B4-BE49-F238E27FC236}">
                    <a16:creationId xmlns:a16="http://schemas.microsoft.com/office/drawing/2014/main" id="{3EF4880F-9DB9-CD7B-9B9B-15E92D8A7044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2" name="Freeform 31">
                <a:extLst>
                  <a:ext uri="{FF2B5EF4-FFF2-40B4-BE49-F238E27FC236}">
                    <a16:creationId xmlns:a16="http://schemas.microsoft.com/office/drawing/2014/main" id="{A2640C32-999D-5EC8-33F0-22E738E2A9C4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3" name="Freeform 32">
                <a:extLst>
                  <a:ext uri="{FF2B5EF4-FFF2-40B4-BE49-F238E27FC236}">
                    <a16:creationId xmlns:a16="http://schemas.microsoft.com/office/drawing/2014/main" id="{DD2D14E7-379A-E448-ED68-78189A835554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67207" r="-21064" b="-90716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67" name="TextBox 36">
              <a:extLst>
                <a:ext uri="{FF2B5EF4-FFF2-40B4-BE49-F238E27FC236}">
                  <a16:creationId xmlns:a16="http://schemas.microsoft.com/office/drawing/2014/main" id="{1F27FFA8-9548-C471-DA1A-0AA713B2490F}"/>
                </a:ext>
              </a:extLst>
            </p:cNvPr>
            <p:cNvSpPr txBox="1"/>
            <p:nvPr/>
          </p:nvSpPr>
          <p:spPr>
            <a:xfrm>
              <a:off x="13005820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Integrace</a:t>
              </a:r>
            </a:p>
          </p:txBody>
        </p:sp>
        <p:sp>
          <p:nvSpPr>
            <p:cNvPr id="68" name="TextBox 39">
              <a:extLst>
                <a:ext uri="{FF2B5EF4-FFF2-40B4-BE49-F238E27FC236}">
                  <a16:creationId xmlns:a16="http://schemas.microsoft.com/office/drawing/2014/main" id="{A025D786-8B66-BC12-4390-BE0E6252FE7B}"/>
                </a:ext>
              </a:extLst>
            </p:cNvPr>
            <p:cNvSpPr txBox="1"/>
            <p:nvPr/>
          </p:nvSpPr>
          <p:spPr>
            <a:xfrm>
              <a:off x="13369658" y="7982553"/>
              <a:ext cx="4231868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Příprava kotev pro budoucí propojení s herním systémem.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2397206-517F-D14D-A699-7F38C2DAFD6D}"/>
              </a:ext>
            </a:extLst>
          </p:cNvPr>
          <p:cNvGrpSpPr/>
          <p:nvPr/>
        </p:nvGrpSpPr>
        <p:grpSpPr>
          <a:xfrm>
            <a:off x="1028700" y="3310346"/>
            <a:ext cx="5368741" cy="5947954"/>
            <a:chOff x="1028700" y="3310346"/>
            <a:chExt cx="5368741" cy="5947954"/>
          </a:xfrm>
        </p:grpSpPr>
        <p:grpSp>
          <p:nvGrpSpPr>
            <p:cNvPr id="77" name="Group 6">
              <a:extLst>
                <a:ext uri="{FF2B5EF4-FFF2-40B4-BE49-F238E27FC236}">
                  <a16:creationId xmlns:a16="http://schemas.microsoft.com/office/drawing/2014/main" id="{BDE43762-55C1-513D-25E5-7EF339C32397}"/>
                </a:ext>
              </a:extLst>
            </p:cNvPr>
            <p:cNvGrpSpPr/>
            <p:nvPr/>
          </p:nvGrpSpPr>
          <p:grpSpPr>
            <a:xfrm>
              <a:off x="1028700" y="3310346"/>
              <a:ext cx="5368741" cy="5947954"/>
              <a:chOff x="0" y="0"/>
              <a:chExt cx="1413989" cy="1566539"/>
            </a:xfrm>
          </p:grpSpPr>
          <p:sp>
            <p:nvSpPr>
              <p:cNvPr id="86" name="Freeform 7">
                <a:extLst>
                  <a:ext uri="{FF2B5EF4-FFF2-40B4-BE49-F238E27FC236}">
                    <a16:creationId xmlns:a16="http://schemas.microsoft.com/office/drawing/2014/main" id="{4086E1FC-B0A7-3EBA-23BC-25178C3AB5CA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7" name="TextBox 8">
                <a:extLst>
                  <a:ext uri="{FF2B5EF4-FFF2-40B4-BE49-F238E27FC236}">
                    <a16:creationId xmlns:a16="http://schemas.microsoft.com/office/drawing/2014/main" id="{61165DCD-CCE7-A04B-321C-A2936DE58A90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78" name="Group 15">
              <a:extLst>
                <a:ext uri="{FF2B5EF4-FFF2-40B4-BE49-F238E27FC236}">
                  <a16:creationId xmlns:a16="http://schemas.microsoft.com/office/drawing/2014/main" id="{8DF8807E-A068-4EF5-5732-26997BA65F6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273202" y="4798336"/>
              <a:ext cx="4879738" cy="2798959"/>
              <a:chOff x="0" y="0"/>
              <a:chExt cx="7981950" cy="4578350"/>
            </a:xfrm>
          </p:grpSpPr>
          <p:sp>
            <p:nvSpPr>
              <p:cNvPr id="81" name="Freeform 16">
                <a:extLst>
                  <a:ext uri="{FF2B5EF4-FFF2-40B4-BE49-F238E27FC236}">
                    <a16:creationId xmlns:a16="http://schemas.microsoft.com/office/drawing/2014/main" id="{91A4EB27-FAA5-A3FB-3BF5-59A2C3A6CE24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2" name="Freeform 17">
                <a:extLst>
                  <a:ext uri="{FF2B5EF4-FFF2-40B4-BE49-F238E27FC236}">
                    <a16:creationId xmlns:a16="http://schemas.microsoft.com/office/drawing/2014/main" id="{71238748-6CB4-2E5F-46D0-A301E2148085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3" name="Freeform 18">
                <a:extLst>
                  <a:ext uri="{FF2B5EF4-FFF2-40B4-BE49-F238E27FC236}">
                    <a16:creationId xmlns:a16="http://schemas.microsoft.com/office/drawing/2014/main" id="{8E6EEB79-6B5F-88EF-51D5-8D66C3721BED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4" name="Freeform 19">
                <a:extLst>
                  <a:ext uri="{FF2B5EF4-FFF2-40B4-BE49-F238E27FC236}">
                    <a16:creationId xmlns:a16="http://schemas.microsoft.com/office/drawing/2014/main" id="{7C6BFD04-D6A3-3968-A120-411DEBB1D6A9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5" name="Freeform 20">
                <a:extLst>
                  <a:ext uri="{FF2B5EF4-FFF2-40B4-BE49-F238E27FC236}">
                    <a16:creationId xmlns:a16="http://schemas.microsoft.com/office/drawing/2014/main" id="{FF1FBA6A-D187-C9CE-1929-7845D45550D5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5506" r="-5506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79" name="TextBox 34">
              <a:extLst>
                <a:ext uri="{FF2B5EF4-FFF2-40B4-BE49-F238E27FC236}">
                  <a16:creationId xmlns:a16="http://schemas.microsoft.com/office/drawing/2014/main" id="{A02B0F7C-2CE6-B173-92A8-9FCEBBC6E4CC}"/>
                </a:ext>
              </a:extLst>
            </p:cNvPr>
            <p:cNvSpPr txBox="1"/>
            <p:nvPr/>
          </p:nvSpPr>
          <p:spPr>
            <a:xfrm>
              <a:off x="1233299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Firmware kotev</a:t>
              </a:r>
            </a:p>
          </p:txBody>
        </p:sp>
        <p:sp>
          <p:nvSpPr>
            <p:cNvPr id="80" name="TextBox 37">
              <a:extLst>
                <a:ext uri="{FF2B5EF4-FFF2-40B4-BE49-F238E27FC236}">
                  <a16:creationId xmlns:a16="http://schemas.microsoft.com/office/drawing/2014/main" id="{F220CCA5-B693-BA6E-94A5-91850D4408EE}"/>
                </a:ext>
              </a:extLst>
            </p:cNvPr>
            <p:cNvSpPr txBox="1"/>
            <p:nvPr/>
          </p:nvSpPr>
          <p:spPr>
            <a:xfrm>
              <a:off x="1731060" y="8036227"/>
              <a:ext cx="3964020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Nahrání a testování firmware pro UWB infrastrukturu.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46713" y="-25865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>
            <a:off x="13854766" y="-1857716"/>
            <a:ext cx="7548481" cy="7001216"/>
          </a:xfrm>
          <a:custGeom>
            <a:avLst/>
            <a:gdLst/>
            <a:ahLst/>
            <a:cxnLst/>
            <a:rect l="l" t="t" r="r" b="b"/>
            <a:pathLst>
              <a:path w="7548481" h="7001216">
                <a:moveTo>
                  <a:pt x="0" y="0"/>
                </a:moveTo>
                <a:lnTo>
                  <a:pt x="7548481" y="0"/>
                </a:lnTo>
                <a:lnTo>
                  <a:pt x="7548481" y="7001216"/>
                </a:lnTo>
                <a:lnTo>
                  <a:pt x="0" y="70012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2184014" y="476151"/>
            <a:ext cx="3597471" cy="3444579"/>
          </a:xfrm>
          <a:custGeom>
            <a:avLst/>
            <a:gdLst/>
            <a:ahLst/>
            <a:cxnLst/>
            <a:rect l="l" t="t" r="r" b="b"/>
            <a:pathLst>
              <a:path w="3597471" h="3444579">
                <a:moveTo>
                  <a:pt x="0" y="0"/>
                </a:moveTo>
                <a:lnTo>
                  <a:pt x="3597472" y="0"/>
                </a:lnTo>
                <a:lnTo>
                  <a:pt x="3597472" y="3444579"/>
                </a:lnTo>
                <a:lnTo>
                  <a:pt x="0" y="34445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1946731" y="2842845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3" name="TextBox 33"/>
          <p:cNvSpPr txBox="1"/>
          <p:nvPr/>
        </p:nvSpPr>
        <p:spPr>
          <a:xfrm>
            <a:off x="1296076" y="1671467"/>
            <a:ext cx="14768151" cy="96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11"/>
              </a:lnSpc>
              <a:spcBef>
                <a:spcPct val="0"/>
              </a:spcBef>
            </a:pPr>
            <a:r>
              <a:rPr lang="en-US" sz="8799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UWB KOTVY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B89AE71-BCCA-98BA-81FF-A53317F24391}"/>
              </a:ext>
            </a:extLst>
          </p:cNvPr>
          <p:cNvGrpSpPr/>
          <p:nvPr/>
        </p:nvGrpSpPr>
        <p:grpSpPr>
          <a:xfrm>
            <a:off x="12748249" y="11006546"/>
            <a:ext cx="5992350" cy="5947954"/>
            <a:chOff x="12748249" y="3310346"/>
            <a:chExt cx="5992350" cy="5947954"/>
          </a:xfrm>
        </p:grpSpPr>
        <p:grpSp>
          <p:nvGrpSpPr>
            <p:cNvPr id="65" name="Group 12">
              <a:extLst>
                <a:ext uri="{FF2B5EF4-FFF2-40B4-BE49-F238E27FC236}">
                  <a16:creationId xmlns:a16="http://schemas.microsoft.com/office/drawing/2014/main" id="{637618D0-3543-1602-0CC7-05F62AB08DD2}"/>
                </a:ext>
              </a:extLst>
            </p:cNvPr>
            <p:cNvGrpSpPr/>
            <p:nvPr/>
          </p:nvGrpSpPr>
          <p:grpSpPr>
            <a:xfrm>
              <a:off x="12748249" y="3310346"/>
              <a:ext cx="5992350" cy="5947954"/>
              <a:chOff x="0" y="0"/>
              <a:chExt cx="1578232" cy="1566539"/>
            </a:xfrm>
          </p:grpSpPr>
          <p:sp>
            <p:nvSpPr>
              <p:cNvPr id="74" name="Freeform 13">
                <a:extLst>
                  <a:ext uri="{FF2B5EF4-FFF2-40B4-BE49-F238E27FC236}">
                    <a16:creationId xmlns:a16="http://schemas.microsoft.com/office/drawing/2014/main" id="{A5C7424E-221B-35B1-BB23-1FE836B89448}"/>
                  </a:ext>
                </a:extLst>
              </p:cNvPr>
              <p:cNvSpPr/>
              <p:nvPr/>
            </p:nvSpPr>
            <p:spPr>
              <a:xfrm>
                <a:off x="0" y="0"/>
                <a:ext cx="1578232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578232" h="1566539">
                    <a:moveTo>
                      <a:pt x="32299" y="0"/>
                    </a:moveTo>
                    <a:lnTo>
                      <a:pt x="1545933" y="0"/>
                    </a:lnTo>
                    <a:cubicBezTo>
                      <a:pt x="1563771" y="0"/>
                      <a:pt x="1578232" y="14461"/>
                      <a:pt x="1578232" y="32299"/>
                    </a:cubicBezTo>
                    <a:lnTo>
                      <a:pt x="1578232" y="1534240"/>
                    </a:lnTo>
                    <a:cubicBezTo>
                      <a:pt x="1578232" y="1542806"/>
                      <a:pt x="1574829" y="1551022"/>
                      <a:pt x="1568772" y="1557079"/>
                    </a:cubicBezTo>
                    <a:cubicBezTo>
                      <a:pt x="1562715" y="1563136"/>
                      <a:pt x="1554499" y="1566539"/>
                      <a:pt x="1545933" y="1566539"/>
                    </a:cubicBezTo>
                    <a:lnTo>
                      <a:pt x="32299" y="1566539"/>
                    </a:lnTo>
                    <a:cubicBezTo>
                      <a:pt x="23733" y="1566539"/>
                      <a:pt x="15517" y="1563136"/>
                      <a:pt x="9460" y="1557079"/>
                    </a:cubicBezTo>
                    <a:cubicBezTo>
                      <a:pt x="3403" y="1551022"/>
                      <a:pt x="0" y="1542806"/>
                      <a:pt x="0" y="1534240"/>
                    </a:cubicBezTo>
                    <a:lnTo>
                      <a:pt x="0" y="32299"/>
                    </a:lnTo>
                    <a:cubicBezTo>
                      <a:pt x="0" y="23733"/>
                      <a:pt x="3403" y="15517"/>
                      <a:pt x="9460" y="9460"/>
                    </a:cubicBezTo>
                    <a:cubicBezTo>
                      <a:pt x="15517" y="3403"/>
                      <a:pt x="23733" y="0"/>
                      <a:pt x="32299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5" name="TextBox 14">
                <a:extLst>
                  <a:ext uri="{FF2B5EF4-FFF2-40B4-BE49-F238E27FC236}">
                    <a16:creationId xmlns:a16="http://schemas.microsoft.com/office/drawing/2014/main" id="{4C2C441B-C76F-3640-C143-DEC0B62D90D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578232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66" name="Group 27">
              <a:extLst>
                <a:ext uri="{FF2B5EF4-FFF2-40B4-BE49-F238E27FC236}">
                  <a16:creationId xmlns:a16="http://schemas.microsoft.com/office/drawing/2014/main" id="{6936D1DB-3661-3F72-9AEA-D540C51A0B0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045723" y="4798336"/>
              <a:ext cx="4879738" cy="2798959"/>
              <a:chOff x="0" y="0"/>
              <a:chExt cx="7981950" cy="4578350"/>
            </a:xfrm>
          </p:grpSpPr>
          <p:sp>
            <p:nvSpPr>
              <p:cNvPr id="69" name="Freeform 28">
                <a:extLst>
                  <a:ext uri="{FF2B5EF4-FFF2-40B4-BE49-F238E27FC236}">
                    <a16:creationId xmlns:a16="http://schemas.microsoft.com/office/drawing/2014/main" id="{37CAADAF-8FB8-EB23-3291-382E5E77FA90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0" name="Freeform 29">
                <a:extLst>
                  <a:ext uri="{FF2B5EF4-FFF2-40B4-BE49-F238E27FC236}">
                    <a16:creationId xmlns:a16="http://schemas.microsoft.com/office/drawing/2014/main" id="{C96B6D35-7A79-4B8A-9667-AF5A3E02D4C6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1" name="Freeform 30">
                <a:extLst>
                  <a:ext uri="{FF2B5EF4-FFF2-40B4-BE49-F238E27FC236}">
                    <a16:creationId xmlns:a16="http://schemas.microsoft.com/office/drawing/2014/main" id="{B0654C5D-CBBA-BE41-26FC-2ACFA7B6B774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2" name="Freeform 31">
                <a:extLst>
                  <a:ext uri="{FF2B5EF4-FFF2-40B4-BE49-F238E27FC236}">
                    <a16:creationId xmlns:a16="http://schemas.microsoft.com/office/drawing/2014/main" id="{79FAF6BD-EE0A-6306-5543-1EE912704293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73" name="Freeform 32">
                <a:extLst>
                  <a:ext uri="{FF2B5EF4-FFF2-40B4-BE49-F238E27FC236}">
                    <a16:creationId xmlns:a16="http://schemas.microsoft.com/office/drawing/2014/main" id="{6FDF55BE-94FF-9D44-68AC-7BA898A6BCE4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4"/>
                <a:stretch>
                  <a:fillRect t="-67207" r="-21064" b="-90716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67" name="TextBox 36">
              <a:extLst>
                <a:ext uri="{FF2B5EF4-FFF2-40B4-BE49-F238E27FC236}">
                  <a16:creationId xmlns:a16="http://schemas.microsoft.com/office/drawing/2014/main" id="{A4417B55-42CD-6FA8-97E2-56ACA68E7CD0}"/>
                </a:ext>
              </a:extLst>
            </p:cNvPr>
            <p:cNvSpPr txBox="1"/>
            <p:nvPr/>
          </p:nvSpPr>
          <p:spPr>
            <a:xfrm>
              <a:off x="13005820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Integrace</a:t>
              </a:r>
            </a:p>
          </p:txBody>
        </p:sp>
        <p:sp>
          <p:nvSpPr>
            <p:cNvPr id="68" name="TextBox 39">
              <a:extLst>
                <a:ext uri="{FF2B5EF4-FFF2-40B4-BE49-F238E27FC236}">
                  <a16:creationId xmlns:a16="http://schemas.microsoft.com/office/drawing/2014/main" id="{0BA91B30-B00E-C315-621F-9EED03EE397D}"/>
                </a:ext>
              </a:extLst>
            </p:cNvPr>
            <p:cNvSpPr txBox="1"/>
            <p:nvPr/>
          </p:nvSpPr>
          <p:spPr>
            <a:xfrm>
              <a:off x="13369658" y="7982553"/>
              <a:ext cx="4231868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Příprava kotev pro budoucí propojení s herním systémem.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94F39B4-5848-CCA6-2FC7-30165F23F02B}"/>
              </a:ext>
            </a:extLst>
          </p:cNvPr>
          <p:cNvGrpSpPr/>
          <p:nvPr/>
        </p:nvGrpSpPr>
        <p:grpSpPr>
          <a:xfrm>
            <a:off x="1028700" y="3310346"/>
            <a:ext cx="5368741" cy="5947954"/>
            <a:chOff x="1028700" y="3310346"/>
            <a:chExt cx="5368741" cy="5947954"/>
          </a:xfrm>
        </p:grpSpPr>
        <p:grpSp>
          <p:nvGrpSpPr>
            <p:cNvPr id="77" name="Group 6">
              <a:extLst>
                <a:ext uri="{FF2B5EF4-FFF2-40B4-BE49-F238E27FC236}">
                  <a16:creationId xmlns:a16="http://schemas.microsoft.com/office/drawing/2014/main" id="{A5205953-D3A7-3425-95EF-CDCBE3D60E8F}"/>
                </a:ext>
              </a:extLst>
            </p:cNvPr>
            <p:cNvGrpSpPr/>
            <p:nvPr/>
          </p:nvGrpSpPr>
          <p:grpSpPr>
            <a:xfrm>
              <a:off x="1028700" y="3310346"/>
              <a:ext cx="5368741" cy="5947954"/>
              <a:chOff x="0" y="0"/>
              <a:chExt cx="1413989" cy="1566539"/>
            </a:xfrm>
          </p:grpSpPr>
          <p:sp>
            <p:nvSpPr>
              <p:cNvPr id="86" name="Freeform 7">
                <a:extLst>
                  <a:ext uri="{FF2B5EF4-FFF2-40B4-BE49-F238E27FC236}">
                    <a16:creationId xmlns:a16="http://schemas.microsoft.com/office/drawing/2014/main" id="{D7381B70-031E-C029-821A-F7FDB1302620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7" name="TextBox 8">
                <a:extLst>
                  <a:ext uri="{FF2B5EF4-FFF2-40B4-BE49-F238E27FC236}">
                    <a16:creationId xmlns:a16="http://schemas.microsoft.com/office/drawing/2014/main" id="{36CCFD3E-A28D-6D10-3D90-261ACDEC9B6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78" name="Group 15">
              <a:extLst>
                <a:ext uri="{FF2B5EF4-FFF2-40B4-BE49-F238E27FC236}">
                  <a16:creationId xmlns:a16="http://schemas.microsoft.com/office/drawing/2014/main" id="{2C672699-26CA-B16E-E4FA-306E23FB866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273202" y="4798336"/>
              <a:ext cx="4879738" cy="2798959"/>
              <a:chOff x="0" y="0"/>
              <a:chExt cx="7981950" cy="4578350"/>
            </a:xfrm>
          </p:grpSpPr>
          <p:sp>
            <p:nvSpPr>
              <p:cNvPr id="81" name="Freeform 16">
                <a:extLst>
                  <a:ext uri="{FF2B5EF4-FFF2-40B4-BE49-F238E27FC236}">
                    <a16:creationId xmlns:a16="http://schemas.microsoft.com/office/drawing/2014/main" id="{A4466BD9-946B-D68F-E2CB-514915C05A87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2" name="Freeform 17">
                <a:extLst>
                  <a:ext uri="{FF2B5EF4-FFF2-40B4-BE49-F238E27FC236}">
                    <a16:creationId xmlns:a16="http://schemas.microsoft.com/office/drawing/2014/main" id="{57E7B603-6493-64AA-39CE-E9EBB21558B5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3" name="Freeform 18">
                <a:extLst>
                  <a:ext uri="{FF2B5EF4-FFF2-40B4-BE49-F238E27FC236}">
                    <a16:creationId xmlns:a16="http://schemas.microsoft.com/office/drawing/2014/main" id="{1A033185-BF0F-D236-DA6F-A1CF32AFB7C1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4" name="Freeform 19">
                <a:extLst>
                  <a:ext uri="{FF2B5EF4-FFF2-40B4-BE49-F238E27FC236}">
                    <a16:creationId xmlns:a16="http://schemas.microsoft.com/office/drawing/2014/main" id="{06D75606-2DDB-703D-9A09-CE18F05B19E9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5" name="Freeform 20">
                <a:extLst>
                  <a:ext uri="{FF2B5EF4-FFF2-40B4-BE49-F238E27FC236}">
                    <a16:creationId xmlns:a16="http://schemas.microsoft.com/office/drawing/2014/main" id="{BFF8E905-41FE-7E57-2189-B0646888456A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5506" r="-5506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79" name="TextBox 34">
              <a:extLst>
                <a:ext uri="{FF2B5EF4-FFF2-40B4-BE49-F238E27FC236}">
                  <a16:creationId xmlns:a16="http://schemas.microsoft.com/office/drawing/2014/main" id="{3AEFA8C4-8340-A801-0566-948233CA080C}"/>
                </a:ext>
              </a:extLst>
            </p:cNvPr>
            <p:cNvSpPr txBox="1"/>
            <p:nvPr/>
          </p:nvSpPr>
          <p:spPr>
            <a:xfrm>
              <a:off x="1233299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Firmware kotev</a:t>
              </a:r>
            </a:p>
          </p:txBody>
        </p:sp>
        <p:sp>
          <p:nvSpPr>
            <p:cNvPr id="80" name="TextBox 37">
              <a:extLst>
                <a:ext uri="{FF2B5EF4-FFF2-40B4-BE49-F238E27FC236}">
                  <a16:creationId xmlns:a16="http://schemas.microsoft.com/office/drawing/2014/main" id="{5A3B941C-B50A-5FFE-21C2-7E00D339B425}"/>
                </a:ext>
              </a:extLst>
            </p:cNvPr>
            <p:cNvSpPr txBox="1"/>
            <p:nvPr/>
          </p:nvSpPr>
          <p:spPr>
            <a:xfrm>
              <a:off x="1731060" y="8036227"/>
              <a:ext cx="3964020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Nahrání a testování firmware pro UWB infrastrukturu.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47604CEA-33DE-378E-9E9F-ED1644E79069}"/>
              </a:ext>
            </a:extLst>
          </p:cNvPr>
          <p:cNvGrpSpPr/>
          <p:nvPr/>
        </p:nvGrpSpPr>
        <p:grpSpPr>
          <a:xfrm>
            <a:off x="6888474" y="3310346"/>
            <a:ext cx="5368741" cy="5947954"/>
            <a:chOff x="6888474" y="3310346"/>
            <a:chExt cx="5368741" cy="5947954"/>
          </a:xfrm>
        </p:grpSpPr>
        <p:grpSp>
          <p:nvGrpSpPr>
            <p:cNvPr id="89" name="Group 9">
              <a:extLst>
                <a:ext uri="{FF2B5EF4-FFF2-40B4-BE49-F238E27FC236}">
                  <a16:creationId xmlns:a16="http://schemas.microsoft.com/office/drawing/2014/main" id="{85BBB470-D1E5-CDC8-D0B7-0D455624C9D7}"/>
                </a:ext>
              </a:extLst>
            </p:cNvPr>
            <p:cNvGrpSpPr/>
            <p:nvPr/>
          </p:nvGrpSpPr>
          <p:grpSpPr>
            <a:xfrm>
              <a:off x="6888474" y="3310346"/>
              <a:ext cx="5368741" cy="5947954"/>
              <a:chOff x="0" y="0"/>
              <a:chExt cx="1413989" cy="1566539"/>
            </a:xfrm>
          </p:grpSpPr>
          <p:sp>
            <p:nvSpPr>
              <p:cNvPr id="98" name="Freeform 10">
                <a:extLst>
                  <a:ext uri="{FF2B5EF4-FFF2-40B4-BE49-F238E27FC236}">
                    <a16:creationId xmlns:a16="http://schemas.microsoft.com/office/drawing/2014/main" id="{03A977E9-4F78-AF4E-9966-3EDC4889773B}"/>
                  </a:ext>
                </a:extLst>
              </p:cNvPr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99" name="TextBox 11">
                <a:extLst>
                  <a:ext uri="{FF2B5EF4-FFF2-40B4-BE49-F238E27FC236}">
                    <a16:creationId xmlns:a16="http://schemas.microsoft.com/office/drawing/2014/main" id="{14F42F49-FB03-B9E7-6C86-D81EFE26E55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90" name="Group 21">
              <a:extLst>
                <a:ext uri="{FF2B5EF4-FFF2-40B4-BE49-F238E27FC236}">
                  <a16:creationId xmlns:a16="http://schemas.microsoft.com/office/drawing/2014/main" id="{00F1F011-6C4D-629B-3862-081C1559C39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132976" y="4798336"/>
              <a:ext cx="4879738" cy="2798959"/>
              <a:chOff x="0" y="0"/>
              <a:chExt cx="7981950" cy="4578350"/>
            </a:xfrm>
          </p:grpSpPr>
          <p:sp>
            <p:nvSpPr>
              <p:cNvPr id="93" name="Freeform 22">
                <a:extLst>
                  <a:ext uri="{FF2B5EF4-FFF2-40B4-BE49-F238E27FC236}">
                    <a16:creationId xmlns:a16="http://schemas.microsoft.com/office/drawing/2014/main" id="{170EEA7D-D6C3-1D8C-D97E-A6E3CAABE960}"/>
                  </a:ext>
                </a:extLst>
              </p:cNvPr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94" name="Freeform 23">
                <a:extLst>
                  <a:ext uri="{FF2B5EF4-FFF2-40B4-BE49-F238E27FC236}">
                    <a16:creationId xmlns:a16="http://schemas.microsoft.com/office/drawing/2014/main" id="{43F324B6-9A69-D50F-E6DC-EC40AF86C2AD}"/>
                  </a:ext>
                </a:extLst>
              </p:cNvPr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95" name="Freeform 24">
                <a:extLst>
                  <a:ext uri="{FF2B5EF4-FFF2-40B4-BE49-F238E27FC236}">
                    <a16:creationId xmlns:a16="http://schemas.microsoft.com/office/drawing/2014/main" id="{CFC4F236-B97C-6C45-10E5-CCB2813DD485}"/>
                  </a:ext>
                </a:extLst>
              </p:cNvPr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96" name="Freeform 25">
                <a:extLst>
                  <a:ext uri="{FF2B5EF4-FFF2-40B4-BE49-F238E27FC236}">
                    <a16:creationId xmlns:a16="http://schemas.microsoft.com/office/drawing/2014/main" id="{8D97D13A-712B-0C45-683A-A067417D7F8F}"/>
                  </a:ext>
                </a:extLst>
              </p:cNvPr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97" name="Freeform 26">
                <a:extLst>
                  <a:ext uri="{FF2B5EF4-FFF2-40B4-BE49-F238E27FC236}">
                    <a16:creationId xmlns:a16="http://schemas.microsoft.com/office/drawing/2014/main" id="{321B5B8F-C3C5-3BAD-87B1-E5679CA7014E}"/>
                  </a:ext>
                </a:extLst>
              </p:cNvPr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6512" t="-94483" r="-11537" b="-57019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91" name="TextBox 35">
              <a:extLst>
                <a:ext uri="{FF2B5EF4-FFF2-40B4-BE49-F238E27FC236}">
                  <a16:creationId xmlns:a16="http://schemas.microsoft.com/office/drawing/2014/main" id="{3314E300-4B85-F32C-17E7-18143F2FA31D}"/>
                </a:ext>
              </a:extLst>
            </p:cNvPr>
            <p:cNvSpPr txBox="1"/>
            <p:nvPr/>
          </p:nvSpPr>
          <p:spPr>
            <a:xfrm>
              <a:off x="7093073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Diagnostika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92" name="TextBox 38">
              <a:extLst>
                <a:ext uri="{FF2B5EF4-FFF2-40B4-BE49-F238E27FC236}">
                  <a16:creationId xmlns:a16="http://schemas.microsoft.com/office/drawing/2014/main" id="{A91CFBCB-C858-65A1-3810-289CD89D59D4}"/>
                </a:ext>
              </a:extLst>
            </p:cNvPr>
            <p:cNvSpPr txBox="1"/>
            <p:nvPr/>
          </p:nvSpPr>
          <p:spPr>
            <a:xfrm>
              <a:off x="7574554" y="8036227"/>
              <a:ext cx="3996583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Řešení problémů s komunikací a nefunkčními moduly.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46713" y="-25865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>
            <a:off x="13854766" y="-1857716"/>
            <a:ext cx="7548481" cy="7001216"/>
          </a:xfrm>
          <a:custGeom>
            <a:avLst/>
            <a:gdLst/>
            <a:ahLst/>
            <a:cxnLst/>
            <a:rect l="l" t="t" r="r" b="b"/>
            <a:pathLst>
              <a:path w="7548481" h="7001216">
                <a:moveTo>
                  <a:pt x="0" y="0"/>
                </a:moveTo>
                <a:lnTo>
                  <a:pt x="7548481" y="0"/>
                </a:lnTo>
                <a:lnTo>
                  <a:pt x="7548481" y="7001216"/>
                </a:lnTo>
                <a:lnTo>
                  <a:pt x="0" y="70012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2184014" y="476151"/>
            <a:ext cx="3597471" cy="3444579"/>
          </a:xfrm>
          <a:custGeom>
            <a:avLst/>
            <a:gdLst/>
            <a:ahLst/>
            <a:cxnLst/>
            <a:rect l="l" t="t" r="r" b="b"/>
            <a:pathLst>
              <a:path w="3597471" h="3444579">
                <a:moveTo>
                  <a:pt x="0" y="0"/>
                </a:moveTo>
                <a:lnTo>
                  <a:pt x="3597472" y="0"/>
                </a:lnTo>
                <a:lnTo>
                  <a:pt x="3597472" y="3444579"/>
                </a:lnTo>
                <a:lnTo>
                  <a:pt x="0" y="34445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1946731" y="2842845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3" name="TextBox 33"/>
          <p:cNvSpPr txBox="1"/>
          <p:nvPr/>
        </p:nvSpPr>
        <p:spPr>
          <a:xfrm>
            <a:off x="1296076" y="1671467"/>
            <a:ext cx="14768151" cy="96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11"/>
              </a:lnSpc>
              <a:spcBef>
                <a:spcPct val="0"/>
              </a:spcBef>
            </a:pPr>
            <a:r>
              <a:rPr lang="en-US" sz="8799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UWB KOTVY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A0F2EB1-68A9-EF6D-429C-7DBCB78AD600}"/>
              </a:ext>
            </a:extLst>
          </p:cNvPr>
          <p:cNvGrpSpPr/>
          <p:nvPr/>
        </p:nvGrpSpPr>
        <p:grpSpPr>
          <a:xfrm>
            <a:off x="1028700" y="3310346"/>
            <a:ext cx="5368741" cy="5947954"/>
            <a:chOff x="1028700" y="3310346"/>
            <a:chExt cx="5368741" cy="5947954"/>
          </a:xfrm>
        </p:grpSpPr>
        <p:grpSp>
          <p:nvGrpSpPr>
            <p:cNvPr id="6" name="Group 6"/>
            <p:cNvGrpSpPr/>
            <p:nvPr/>
          </p:nvGrpSpPr>
          <p:grpSpPr>
            <a:xfrm>
              <a:off x="1028700" y="3310346"/>
              <a:ext cx="5368741" cy="5947954"/>
              <a:chOff x="0" y="0"/>
              <a:chExt cx="1413989" cy="156653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1273202" y="4798336"/>
              <a:ext cx="4879738" cy="2798959"/>
              <a:chOff x="0" y="0"/>
              <a:chExt cx="7981950" cy="45783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5506" r="-5506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233299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Firmware kotev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731060" y="8036227"/>
              <a:ext cx="3964020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Nahrání a testování firmware pro UWB infrastrukturu.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177EB20-CD02-20D2-9812-BBFFA52573EB}"/>
              </a:ext>
            </a:extLst>
          </p:cNvPr>
          <p:cNvGrpSpPr/>
          <p:nvPr/>
        </p:nvGrpSpPr>
        <p:grpSpPr>
          <a:xfrm>
            <a:off x="6888474" y="3310346"/>
            <a:ext cx="5368741" cy="5947954"/>
            <a:chOff x="6888474" y="3310346"/>
            <a:chExt cx="5368741" cy="5947954"/>
          </a:xfrm>
        </p:grpSpPr>
        <p:grpSp>
          <p:nvGrpSpPr>
            <p:cNvPr id="9" name="Group 9"/>
            <p:cNvGrpSpPr/>
            <p:nvPr/>
          </p:nvGrpSpPr>
          <p:grpSpPr>
            <a:xfrm>
              <a:off x="6888474" y="3310346"/>
              <a:ext cx="5368741" cy="5947954"/>
              <a:chOff x="0" y="0"/>
              <a:chExt cx="1413989" cy="156653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413989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413989" h="1566539">
                    <a:moveTo>
                      <a:pt x="73544" y="0"/>
                    </a:moveTo>
                    <a:lnTo>
                      <a:pt x="1340446" y="0"/>
                    </a:lnTo>
                    <a:cubicBezTo>
                      <a:pt x="1359951" y="0"/>
                      <a:pt x="1378657" y="7748"/>
                      <a:pt x="1392449" y="21540"/>
                    </a:cubicBezTo>
                    <a:cubicBezTo>
                      <a:pt x="1406241" y="35333"/>
                      <a:pt x="1413989" y="54039"/>
                      <a:pt x="1413989" y="73544"/>
                    </a:cubicBezTo>
                    <a:lnTo>
                      <a:pt x="1413989" y="1492995"/>
                    </a:lnTo>
                    <a:cubicBezTo>
                      <a:pt x="1413989" y="1512500"/>
                      <a:pt x="1406241" y="1531207"/>
                      <a:pt x="1392449" y="1544999"/>
                    </a:cubicBezTo>
                    <a:cubicBezTo>
                      <a:pt x="1378657" y="1558791"/>
                      <a:pt x="1359951" y="1566539"/>
                      <a:pt x="1340446" y="1566539"/>
                    </a:cubicBezTo>
                    <a:lnTo>
                      <a:pt x="73544" y="1566539"/>
                    </a:lnTo>
                    <a:cubicBezTo>
                      <a:pt x="54039" y="1566539"/>
                      <a:pt x="35333" y="1558791"/>
                      <a:pt x="21540" y="1544999"/>
                    </a:cubicBezTo>
                    <a:cubicBezTo>
                      <a:pt x="7748" y="1531207"/>
                      <a:pt x="0" y="1512500"/>
                      <a:pt x="0" y="1492995"/>
                    </a:cubicBezTo>
                    <a:lnTo>
                      <a:pt x="0" y="73544"/>
                    </a:lnTo>
                    <a:cubicBezTo>
                      <a:pt x="0" y="54039"/>
                      <a:pt x="7748" y="35333"/>
                      <a:pt x="21540" y="21540"/>
                    </a:cubicBezTo>
                    <a:cubicBezTo>
                      <a:pt x="35333" y="7748"/>
                      <a:pt x="54039" y="0"/>
                      <a:pt x="7354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1413989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>
              <a:grpSpLocks noChangeAspect="1"/>
            </p:cNvGrpSpPr>
            <p:nvPr/>
          </p:nvGrpSpPr>
          <p:grpSpPr>
            <a:xfrm>
              <a:off x="7132976" y="4798336"/>
              <a:ext cx="4879738" cy="2798959"/>
              <a:chOff x="0" y="0"/>
              <a:chExt cx="7981950" cy="457835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6512" t="-94483" r="-11537" b="-57019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7093073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Diagnostika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74554" y="8036227"/>
              <a:ext cx="3996583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Řešení problémů s komunikací a nefunkčními moduly.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5F25295-1C3F-65E2-DC4A-4B188E69A165}"/>
              </a:ext>
            </a:extLst>
          </p:cNvPr>
          <p:cNvGrpSpPr/>
          <p:nvPr/>
        </p:nvGrpSpPr>
        <p:grpSpPr>
          <a:xfrm>
            <a:off x="12748249" y="3310346"/>
            <a:ext cx="5992350" cy="5947954"/>
            <a:chOff x="12748249" y="3310346"/>
            <a:chExt cx="5992350" cy="5947954"/>
          </a:xfrm>
        </p:grpSpPr>
        <p:grpSp>
          <p:nvGrpSpPr>
            <p:cNvPr id="12" name="Group 12"/>
            <p:cNvGrpSpPr/>
            <p:nvPr/>
          </p:nvGrpSpPr>
          <p:grpSpPr>
            <a:xfrm>
              <a:off x="12748249" y="3310346"/>
              <a:ext cx="5992350" cy="5947954"/>
              <a:chOff x="0" y="0"/>
              <a:chExt cx="1578232" cy="1566539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578232" cy="1566539"/>
              </a:xfrm>
              <a:custGeom>
                <a:avLst/>
                <a:gdLst/>
                <a:ahLst/>
                <a:cxnLst/>
                <a:rect l="l" t="t" r="r" b="b"/>
                <a:pathLst>
                  <a:path w="1578232" h="1566539">
                    <a:moveTo>
                      <a:pt x="32299" y="0"/>
                    </a:moveTo>
                    <a:lnTo>
                      <a:pt x="1545933" y="0"/>
                    </a:lnTo>
                    <a:cubicBezTo>
                      <a:pt x="1563771" y="0"/>
                      <a:pt x="1578232" y="14461"/>
                      <a:pt x="1578232" y="32299"/>
                    </a:cubicBezTo>
                    <a:lnTo>
                      <a:pt x="1578232" y="1534240"/>
                    </a:lnTo>
                    <a:cubicBezTo>
                      <a:pt x="1578232" y="1542806"/>
                      <a:pt x="1574829" y="1551022"/>
                      <a:pt x="1568772" y="1557079"/>
                    </a:cubicBezTo>
                    <a:cubicBezTo>
                      <a:pt x="1562715" y="1563136"/>
                      <a:pt x="1554499" y="1566539"/>
                      <a:pt x="1545933" y="1566539"/>
                    </a:cubicBezTo>
                    <a:lnTo>
                      <a:pt x="32299" y="1566539"/>
                    </a:lnTo>
                    <a:cubicBezTo>
                      <a:pt x="23733" y="1566539"/>
                      <a:pt x="15517" y="1563136"/>
                      <a:pt x="9460" y="1557079"/>
                    </a:cubicBezTo>
                    <a:cubicBezTo>
                      <a:pt x="3403" y="1551022"/>
                      <a:pt x="0" y="1542806"/>
                      <a:pt x="0" y="1534240"/>
                    </a:cubicBezTo>
                    <a:lnTo>
                      <a:pt x="0" y="32299"/>
                    </a:lnTo>
                    <a:cubicBezTo>
                      <a:pt x="0" y="23733"/>
                      <a:pt x="3403" y="15517"/>
                      <a:pt x="9460" y="9460"/>
                    </a:cubicBezTo>
                    <a:cubicBezTo>
                      <a:pt x="15517" y="3403"/>
                      <a:pt x="23733" y="0"/>
                      <a:pt x="32299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1578232" cy="16141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>
              <a:grpSpLocks noChangeAspect="1"/>
            </p:cNvGrpSpPr>
            <p:nvPr/>
          </p:nvGrpSpPr>
          <p:grpSpPr>
            <a:xfrm>
              <a:off x="13045723" y="4798336"/>
              <a:ext cx="4879738" cy="2798959"/>
              <a:chOff x="0" y="0"/>
              <a:chExt cx="7981950" cy="457835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l="l" t="t" r="r" b="b"/>
                <a:pathLst>
                  <a:path w="6451600" h="432689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10101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0" y="0"/>
                <a:ext cx="7981950" cy="4542790"/>
              </a:xfrm>
              <a:custGeom>
                <a:avLst/>
                <a:gdLst/>
                <a:ahLst/>
                <a:cxnLst/>
                <a:rect l="l" t="t" r="r" b="b"/>
                <a:pathLst>
                  <a:path w="7981950" h="454279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l="l" t="t" r="r" b="b"/>
                <a:pathLst>
                  <a:path w="1059180" h="9652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7654290" h="3556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l="l" t="t" r="r" b="b"/>
                <a:pathLst>
                  <a:path w="6055360" h="378968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67207" r="-21064" b="-90716"/>
                </a:stretch>
              </a:blipFill>
            </p:spPr>
            <p:txBody>
              <a:bodyPr/>
              <a:lstStyle/>
              <a:p>
                <a:endParaRPr lang="cs-CZ"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3005820" y="3873105"/>
              <a:ext cx="495954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Integrace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369658" y="7982553"/>
              <a:ext cx="4231868" cy="577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99"/>
                </a:lnSpc>
              </a:pPr>
              <a:r>
                <a:rPr lang="en-US" sz="1599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Příprava kotev pro budoucí propojení s herním systémem.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3966503" y="-3437559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6" y="0"/>
                </a:lnTo>
                <a:lnTo>
                  <a:pt x="9990406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-9637020">
            <a:off x="13393266" y="1048933"/>
            <a:ext cx="6857699" cy="6360516"/>
          </a:xfrm>
          <a:custGeom>
            <a:avLst/>
            <a:gdLst/>
            <a:ahLst/>
            <a:cxnLst/>
            <a:rect l="l" t="t" r="r" b="b"/>
            <a:pathLst>
              <a:path w="6857699" h="6360516">
                <a:moveTo>
                  <a:pt x="0" y="0"/>
                </a:moveTo>
                <a:lnTo>
                  <a:pt x="6857699" y="0"/>
                </a:lnTo>
                <a:lnTo>
                  <a:pt x="6857699" y="6360516"/>
                </a:lnTo>
                <a:lnTo>
                  <a:pt x="0" y="6360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6703302" y="633318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6" y="0"/>
                </a:lnTo>
                <a:lnTo>
                  <a:pt x="4881396" y="4673937"/>
                </a:lnTo>
                <a:lnTo>
                  <a:pt x="0" y="46739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12377903" y="4584363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7" y="0"/>
                </a:lnTo>
                <a:lnTo>
                  <a:pt x="4881397" y="4673937"/>
                </a:lnTo>
                <a:lnTo>
                  <a:pt x="0" y="46739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 rot="-10800000">
            <a:off x="6023903" y="4958624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7" name="Freeform 7"/>
          <p:cNvSpPr/>
          <p:nvPr/>
        </p:nvSpPr>
        <p:spPr>
          <a:xfrm>
            <a:off x="-964102" y="3378321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 rot="-5400000">
            <a:off x="5999536" y="1757550"/>
            <a:ext cx="6288014" cy="8713487"/>
            <a:chOff x="0" y="0"/>
            <a:chExt cx="4734560" cy="6560820"/>
          </a:xfrm>
        </p:grpSpPr>
        <p:sp>
          <p:nvSpPr>
            <p:cNvPr id="9" name="Freeform 9"/>
            <p:cNvSpPr/>
            <p:nvPr/>
          </p:nvSpPr>
          <p:spPr>
            <a:xfrm>
              <a:off x="36830" y="50800"/>
              <a:ext cx="4645660" cy="6473190"/>
            </a:xfrm>
            <a:custGeom>
              <a:avLst/>
              <a:gdLst/>
              <a:ahLst/>
              <a:cxnLst/>
              <a:rect l="l" t="t" r="r" b="b"/>
              <a:pathLst>
                <a:path w="4645660" h="6473190">
                  <a:moveTo>
                    <a:pt x="4368800" y="0"/>
                  </a:moveTo>
                  <a:lnTo>
                    <a:pt x="276860" y="0"/>
                  </a:lnTo>
                  <a:cubicBezTo>
                    <a:pt x="124460" y="0"/>
                    <a:pt x="0" y="123190"/>
                    <a:pt x="0" y="276860"/>
                  </a:cubicBezTo>
                  <a:lnTo>
                    <a:pt x="0" y="6196330"/>
                  </a:lnTo>
                  <a:cubicBezTo>
                    <a:pt x="0" y="6350000"/>
                    <a:pt x="124460" y="6473190"/>
                    <a:pt x="276860" y="6473190"/>
                  </a:cubicBezTo>
                  <a:lnTo>
                    <a:pt x="4368800" y="6473190"/>
                  </a:lnTo>
                  <a:cubicBezTo>
                    <a:pt x="4522470" y="6473190"/>
                    <a:pt x="4645660" y="6348730"/>
                    <a:pt x="4645660" y="6196330"/>
                  </a:cubicBezTo>
                  <a:lnTo>
                    <a:pt x="4645660" y="276860"/>
                  </a:lnTo>
                  <a:cubicBezTo>
                    <a:pt x="4645660" y="123190"/>
                    <a:pt x="4522470" y="0"/>
                    <a:pt x="4368800" y="0"/>
                  </a:cubicBezTo>
                  <a:close/>
                  <a:moveTo>
                    <a:pt x="4425950" y="6156960"/>
                  </a:moveTo>
                  <a:cubicBezTo>
                    <a:pt x="4425950" y="6212840"/>
                    <a:pt x="4380230" y="6258560"/>
                    <a:pt x="4324350" y="6258560"/>
                  </a:cubicBezTo>
                  <a:lnTo>
                    <a:pt x="321310" y="6258560"/>
                  </a:lnTo>
                  <a:cubicBezTo>
                    <a:pt x="265430" y="6258560"/>
                    <a:pt x="219710" y="6212840"/>
                    <a:pt x="219710" y="6156960"/>
                  </a:cubicBezTo>
                  <a:lnTo>
                    <a:pt x="219710" y="316230"/>
                  </a:lnTo>
                  <a:cubicBezTo>
                    <a:pt x="219710" y="260350"/>
                    <a:pt x="265430" y="214630"/>
                    <a:pt x="321310" y="214630"/>
                  </a:cubicBezTo>
                  <a:lnTo>
                    <a:pt x="4325620" y="214630"/>
                  </a:lnTo>
                  <a:cubicBezTo>
                    <a:pt x="4381500" y="214630"/>
                    <a:pt x="4427220" y="260350"/>
                    <a:pt x="4427220" y="316230"/>
                  </a:cubicBezTo>
                  <a:lnTo>
                    <a:pt x="4427220" y="61569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16511"/>
              <a:ext cx="4716780" cy="6544310"/>
            </a:xfrm>
            <a:custGeom>
              <a:avLst/>
              <a:gdLst/>
              <a:ahLst/>
              <a:cxnLst/>
              <a:rect l="l" t="t" r="r" b="b"/>
              <a:pathLst>
                <a:path w="4716780" h="6544310">
                  <a:moveTo>
                    <a:pt x="4395470" y="36829"/>
                  </a:moveTo>
                  <a:cubicBezTo>
                    <a:pt x="4552950" y="36829"/>
                    <a:pt x="4681220" y="165099"/>
                    <a:pt x="4681220" y="322579"/>
                  </a:cubicBezTo>
                  <a:lnTo>
                    <a:pt x="4681220" y="6222999"/>
                  </a:lnTo>
                  <a:cubicBezTo>
                    <a:pt x="4681220" y="6380479"/>
                    <a:pt x="4552950" y="6508750"/>
                    <a:pt x="4395470" y="6508750"/>
                  </a:cubicBezTo>
                  <a:lnTo>
                    <a:pt x="321310" y="6508750"/>
                  </a:lnTo>
                  <a:cubicBezTo>
                    <a:pt x="163830" y="6508750"/>
                    <a:pt x="35560" y="6380480"/>
                    <a:pt x="35560" y="6223000"/>
                  </a:cubicBezTo>
                  <a:lnTo>
                    <a:pt x="35560" y="322580"/>
                  </a:lnTo>
                  <a:cubicBezTo>
                    <a:pt x="35560" y="165100"/>
                    <a:pt x="163830" y="36830"/>
                    <a:pt x="321310" y="36830"/>
                  </a:cubicBezTo>
                  <a:lnTo>
                    <a:pt x="4395470" y="36830"/>
                  </a:lnTo>
                  <a:moveTo>
                    <a:pt x="4395470" y="0"/>
                  </a:moveTo>
                  <a:lnTo>
                    <a:pt x="321310" y="0"/>
                  </a:lnTo>
                  <a:cubicBezTo>
                    <a:pt x="143510" y="0"/>
                    <a:pt x="0" y="144780"/>
                    <a:pt x="0" y="322580"/>
                  </a:cubicBezTo>
                  <a:lnTo>
                    <a:pt x="0" y="6223000"/>
                  </a:lnTo>
                  <a:cubicBezTo>
                    <a:pt x="0" y="6400800"/>
                    <a:pt x="143510" y="6544309"/>
                    <a:pt x="321310" y="6544309"/>
                  </a:cubicBezTo>
                  <a:lnTo>
                    <a:pt x="4395470" y="6544309"/>
                  </a:lnTo>
                  <a:cubicBezTo>
                    <a:pt x="4573270" y="6544309"/>
                    <a:pt x="4716780" y="6400800"/>
                    <a:pt x="4716780" y="6223000"/>
                  </a:cubicBezTo>
                  <a:lnTo>
                    <a:pt x="4716780" y="322580"/>
                  </a:lnTo>
                  <a:cubicBezTo>
                    <a:pt x="4716780" y="144780"/>
                    <a:pt x="4573270" y="0"/>
                    <a:pt x="439547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1" name="Freeform 11"/>
            <p:cNvSpPr/>
            <p:nvPr/>
          </p:nvSpPr>
          <p:spPr>
            <a:xfrm rot="5400000">
              <a:off x="-661670" y="1183640"/>
              <a:ext cx="6043930" cy="4207510"/>
            </a:xfrm>
            <a:custGeom>
              <a:avLst/>
              <a:gdLst/>
              <a:ahLst/>
              <a:cxnLst/>
              <a:rect l="l" t="t" r="r" b="b"/>
              <a:pathLst>
                <a:path w="6043930" h="4207510">
                  <a:moveTo>
                    <a:pt x="5942330" y="1270"/>
                  </a:moveTo>
                  <a:cubicBezTo>
                    <a:pt x="5998210" y="1270"/>
                    <a:pt x="6043930" y="46990"/>
                    <a:pt x="6043930" y="102870"/>
                  </a:cubicBezTo>
                  <a:lnTo>
                    <a:pt x="6043930" y="4105910"/>
                  </a:lnTo>
                  <a:cubicBezTo>
                    <a:pt x="6043930" y="4161790"/>
                    <a:pt x="5998210" y="4207510"/>
                    <a:pt x="5942330" y="4207510"/>
                  </a:cubicBezTo>
                  <a:lnTo>
                    <a:pt x="101600" y="4207510"/>
                  </a:lnTo>
                  <a:cubicBezTo>
                    <a:pt x="45720" y="4207510"/>
                    <a:pt x="0" y="4161790"/>
                    <a:pt x="0" y="4105910"/>
                  </a:cubicBezTo>
                  <a:lnTo>
                    <a:pt x="0" y="101600"/>
                  </a:lnTo>
                  <a:cubicBezTo>
                    <a:pt x="0" y="45720"/>
                    <a:pt x="45720" y="0"/>
                    <a:pt x="101600" y="0"/>
                  </a:cubicBezTo>
                  <a:lnTo>
                    <a:pt x="5942330" y="0"/>
                  </a:lnTo>
                  <a:close/>
                </a:path>
              </a:pathLst>
            </a:custGeom>
            <a:blipFill>
              <a:blip r:embed="rId4"/>
              <a:stretch>
                <a:fillRect l="-18106" t="-10478" r="-16162" b="-26219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953089" y="120650"/>
              <a:ext cx="76541" cy="76201"/>
            </a:xfrm>
            <a:custGeom>
              <a:avLst/>
              <a:gdLst/>
              <a:ahLst/>
              <a:cxnLst/>
              <a:rect l="l" t="t" r="r" b="b"/>
              <a:pathLst>
                <a:path w="76541" h="76201">
                  <a:moveTo>
                    <a:pt x="38271" y="0"/>
                  </a:moveTo>
                  <a:cubicBezTo>
                    <a:pt x="24619" y="-61"/>
                    <a:pt x="11977" y="7187"/>
                    <a:pt x="5133" y="19001"/>
                  </a:cubicBezTo>
                  <a:cubicBezTo>
                    <a:pt x="-1711" y="30814"/>
                    <a:pt x="-1711" y="45386"/>
                    <a:pt x="5133" y="57199"/>
                  </a:cubicBezTo>
                  <a:cubicBezTo>
                    <a:pt x="11977" y="69013"/>
                    <a:pt x="24619" y="76261"/>
                    <a:pt x="38271" y="76200"/>
                  </a:cubicBezTo>
                  <a:cubicBezTo>
                    <a:pt x="51923" y="76261"/>
                    <a:pt x="64565" y="69013"/>
                    <a:pt x="71409" y="57199"/>
                  </a:cubicBezTo>
                  <a:cubicBezTo>
                    <a:pt x="78253" y="45386"/>
                    <a:pt x="78253" y="30814"/>
                    <a:pt x="71409" y="19001"/>
                  </a:cubicBezTo>
                  <a:cubicBezTo>
                    <a:pt x="64565" y="7187"/>
                    <a:pt x="51923" y="-61"/>
                    <a:pt x="38271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2121925" y="104139"/>
              <a:ext cx="109709" cy="109221"/>
            </a:xfrm>
            <a:custGeom>
              <a:avLst/>
              <a:gdLst/>
              <a:ahLst/>
              <a:cxnLst/>
              <a:rect l="l" t="t" r="r" b="b"/>
              <a:pathLst>
                <a:path w="109709" h="109221">
                  <a:moveTo>
                    <a:pt x="54855" y="1"/>
                  </a:moveTo>
                  <a:cubicBezTo>
                    <a:pt x="35287" y="-87"/>
                    <a:pt x="17167" y="10303"/>
                    <a:pt x="7357" y="27235"/>
                  </a:cubicBezTo>
                  <a:cubicBezTo>
                    <a:pt x="-2452" y="44168"/>
                    <a:pt x="-2452" y="65054"/>
                    <a:pt x="7357" y="81987"/>
                  </a:cubicBezTo>
                  <a:cubicBezTo>
                    <a:pt x="17167" y="98919"/>
                    <a:pt x="35287" y="109309"/>
                    <a:pt x="54855" y="109221"/>
                  </a:cubicBezTo>
                  <a:cubicBezTo>
                    <a:pt x="74423" y="109309"/>
                    <a:pt x="92543" y="98919"/>
                    <a:pt x="102352" y="81987"/>
                  </a:cubicBezTo>
                  <a:cubicBezTo>
                    <a:pt x="112162" y="65054"/>
                    <a:pt x="112162" y="44168"/>
                    <a:pt x="102352" y="27235"/>
                  </a:cubicBezTo>
                  <a:cubicBezTo>
                    <a:pt x="92543" y="10303"/>
                    <a:pt x="74423" y="-87"/>
                    <a:pt x="54855" y="1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2330313" y="128270"/>
              <a:ext cx="61233" cy="60961"/>
            </a:xfrm>
            <a:custGeom>
              <a:avLst/>
              <a:gdLst/>
              <a:ahLst/>
              <a:cxnLst/>
              <a:rect l="l" t="t" r="r" b="b"/>
              <a:pathLst>
                <a:path w="61233" h="60961">
                  <a:moveTo>
                    <a:pt x="30617" y="0"/>
                  </a:moveTo>
                  <a:cubicBezTo>
                    <a:pt x="19695" y="-49"/>
                    <a:pt x="9582" y="5750"/>
                    <a:pt x="4107" y="15201"/>
                  </a:cubicBezTo>
                  <a:cubicBezTo>
                    <a:pt x="-1369" y="24651"/>
                    <a:pt x="-1369" y="36309"/>
                    <a:pt x="4107" y="45759"/>
                  </a:cubicBezTo>
                  <a:cubicBezTo>
                    <a:pt x="9582" y="55210"/>
                    <a:pt x="19695" y="61009"/>
                    <a:pt x="30617" y="60960"/>
                  </a:cubicBezTo>
                  <a:cubicBezTo>
                    <a:pt x="41539" y="61009"/>
                    <a:pt x="51652" y="55210"/>
                    <a:pt x="57127" y="45759"/>
                  </a:cubicBezTo>
                  <a:cubicBezTo>
                    <a:pt x="62602" y="36309"/>
                    <a:pt x="62602" y="24651"/>
                    <a:pt x="57127" y="15201"/>
                  </a:cubicBezTo>
                  <a:cubicBezTo>
                    <a:pt x="51652" y="5750"/>
                    <a:pt x="41539" y="-49"/>
                    <a:pt x="30617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346897" y="144780"/>
              <a:ext cx="28065" cy="27940"/>
            </a:xfrm>
            <a:custGeom>
              <a:avLst/>
              <a:gdLst/>
              <a:ahLst/>
              <a:cxnLst/>
              <a:rect l="l" t="t" r="r" b="b"/>
              <a:pathLst>
                <a:path w="28065" h="27940">
                  <a:moveTo>
                    <a:pt x="14033" y="0"/>
                  </a:moveTo>
                  <a:cubicBezTo>
                    <a:pt x="9027" y="-22"/>
                    <a:pt x="4392" y="2635"/>
                    <a:pt x="1882" y="6967"/>
                  </a:cubicBezTo>
                  <a:cubicBezTo>
                    <a:pt x="-627" y="11298"/>
                    <a:pt x="-627" y="16642"/>
                    <a:pt x="1882" y="20973"/>
                  </a:cubicBezTo>
                  <a:cubicBezTo>
                    <a:pt x="4392" y="25305"/>
                    <a:pt x="9027" y="27962"/>
                    <a:pt x="14033" y="27940"/>
                  </a:cubicBezTo>
                  <a:cubicBezTo>
                    <a:pt x="19039" y="27962"/>
                    <a:pt x="23674" y="25305"/>
                    <a:pt x="26184" y="20973"/>
                  </a:cubicBezTo>
                  <a:cubicBezTo>
                    <a:pt x="28693" y="16642"/>
                    <a:pt x="28693" y="11298"/>
                    <a:pt x="26184" y="6967"/>
                  </a:cubicBezTo>
                  <a:cubicBezTo>
                    <a:pt x="23674" y="2635"/>
                    <a:pt x="19039" y="-22"/>
                    <a:pt x="14033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2344386" y="144780"/>
              <a:ext cx="15308" cy="15240"/>
            </a:xfrm>
            <a:custGeom>
              <a:avLst/>
              <a:gdLst/>
              <a:ahLst/>
              <a:cxnLst/>
              <a:rect l="l" t="t" r="r" b="b"/>
              <a:pathLst>
                <a:path w="15308" h="15240">
                  <a:moveTo>
                    <a:pt x="7654" y="0"/>
                  </a:moveTo>
                  <a:cubicBezTo>
                    <a:pt x="4924" y="-12"/>
                    <a:pt x="2395" y="1437"/>
                    <a:pt x="1026" y="3800"/>
                  </a:cubicBezTo>
                  <a:cubicBezTo>
                    <a:pt x="-342" y="6163"/>
                    <a:pt x="-342" y="9077"/>
                    <a:pt x="1026" y="11440"/>
                  </a:cubicBezTo>
                  <a:cubicBezTo>
                    <a:pt x="2395" y="13803"/>
                    <a:pt x="4924" y="15252"/>
                    <a:pt x="7654" y="15240"/>
                  </a:cubicBezTo>
                  <a:cubicBezTo>
                    <a:pt x="10384" y="15252"/>
                    <a:pt x="12913" y="13803"/>
                    <a:pt x="14281" y="11440"/>
                  </a:cubicBezTo>
                  <a:cubicBezTo>
                    <a:pt x="15650" y="9077"/>
                    <a:pt x="15650" y="6163"/>
                    <a:pt x="14281" y="3800"/>
                  </a:cubicBezTo>
                  <a:cubicBezTo>
                    <a:pt x="12913" y="1437"/>
                    <a:pt x="10384" y="-12"/>
                    <a:pt x="7654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4716780" y="53467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4716780" y="86106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4064000" y="-113"/>
              <a:ext cx="320040" cy="16623"/>
            </a:xfrm>
            <a:custGeom>
              <a:avLst/>
              <a:gdLst/>
              <a:ahLst/>
              <a:cxnLst/>
              <a:rect l="l" t="t" r="r" b="b"/>
              <a:pathLst>
                <a:path w="320040" h="16623">
                  <a:moveTo>
                    <a:pt x="0" y="16623"/>
                  </a:moveTo>
                  <a:lnTo>
                    <a:pt x="320040" y="16623"/>
                  </a:lnTo>
                  <a:cubicBezTo>
                    <a:pt x="320040" y="-2427"/>
                    <a:pt x="304800" y="113"/>
                    <a:pt x="285750" y="113"/>
                  </a:cubicBezTo>
                  <a:lnTo>
                    <a:pt x="34290" y="113"/>
                  </a:lnTo>
                  <a:cubicBezTo>
                    <a:pt x="15240" y="113"/>
                    <a:pt x="0" y="-2427"/>
                    <a:pt x="0" y="16623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6" name="AutoShape 26"/>
          <p:cNvSpPr/>
          <p:nvPr/>
        </p:nvSpPr>
        <p:spPr>
          <a:xfrm>
            <a:off x="-803490" y="1581949"/>
            <a:ext cx="4369456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27" name="AutoShape 27"/>
          <p:cNvSpPr/>
          <p:nvPr/>
        </p:nvSpPr>
        <p:spPr>
          <a:xfrm>
            <a:off x="14722034" y="1610524"/>
            <a:ext cx="4369456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28" name="TextBox 28"/>
          <p:cNvSpPr txBox="1"/>
          <p:nvPr/>
        </p:nvSpPr>
        <p:spPr>
          <a:xfrm>
            <a:off x="3798592" y="1323975"/>
            <a:ext cx="10689901" cy="770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180"/>
              </a:lnSpc>
              <a:spcBef>
                <a:spcPct val="0"/>
              </a:spcBef>
            </a:pPr>
            <a:r>
              <a:rPr lang="en-US" sz="7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PCB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2FDB5D1-377C-05A8-A4BD-4417F58795BC}"/>
              </a:ext>
            </a:extLst>
          </p:cNvPr>
          <p:cNvGrpSpPr/>
          <p:nvPr/>
        </p:nvGrpSpPr>
        <p:grpSpPr>
          <a:xfrm>
            <a:off x="-5257800" y="3861421"/>
            <a:ext cx="4764699" cy="4505745"/>
            <a:chOff x="-577060" y="3861421"/>
            <a:chExt cx="4764699" cy="4505745"/>
          </a:xfrm>
        </p:grpSpPr>
        <p:grpSp>
          <p:nvGrpSpPr>
            <p:cNvPr id="34" name="Group 20">
              <a:extLst>
                <a:ext uri="{FF2B5EF4-FFF2-40B4-BE49-F238E27FC236}">
                  <a16:creationId xmlns:a16="http://schemas.microsoft.com/office/drawing/2014/main" id="{653FBDB6-7A22-9CA4-CD74-328B6BEA9072}"/>
                </a:ext>
              </a:extLst>
            </p:cNvPr>
            <p:cNvGrpSpPr/>
            <p:nvPr/>
          </p:nvGrpSpPr>
          <p:grpSpPr>
            <a:xfrm>
              <a:off x="-577060" y="3861421"/>
              <a:ext cx="4764699" cy="4505745"/>
              <a:chOff x="0" y="0"/>
              <a:chExt cx="1451865" cy="1372958"/>
            </a:xfrm>
          </p:grpSpPr>
          <p:sp>
            <p:nvSpPr>
              <p:cNvPr id="37" name="Freeform 21">
                <a:extLst>
                  <a:ext uri="{FF2B5EF4-FFF2-40B4-BE49-F238E27FC236}">
                    <a16:creationId xmlns:a16="http://schemas.microsoft.com/office/drawing/2014/main" id="{38DF8B87-3609-4CE4-CCC9-30DCA60F12B4}"/>
                  </a:ext>
                </a:extLst>
              </p:cNvPr>
              <p:cNvSpPr/>
              <p:nvPr/>
            </p:nvSpPr>
            <p:spPr>
              <a:xfrm>
                <a:off x="0" y="0"/>
                <a:ext cx="1451864" cy="1372958"/>
              </a:xfrm>
              <a:custGeom>
                <a:avLst/>
                <a:gdLst/>
                <a:ahLst/>
                <a:cxnLst/>
                <a:rect l="l" t="t" r="r" b="b"/>
                <a:pathLst>
                  <a:path w="1451864" h="1372958">
                    <a:moveTo>
                      <a:pt x="40621" y="0"/>
                    </a:moveTo>
                    <a:lnTo>
                      <a:pt x="1411243" y="0"/>
                    </a:lnTo>
                    <a:cubicBezTo>
                      <a:pt x="1422017" y="0"/>
                      <a:pt x="1432349" y="4280"/>
                      <a:pt x="1439967" y="11898"/>
                    </a:cubicBezTo>
                    <a:cubicBezTo>
                      <a:pt x="1447585" y="19516"/>
                      <a:pt x="1451864" y="29848"/>
                      <a:pt x="1451864" y="40621"/>
                    </a:cubicBezTo>
                    <a:lnTo>
                      <a:pt x="1451864" y="1332337"/>
                    </a:lnTo>
                    <a:cubicBezTo>
                      <a:pt x="1451864" y="1343110"/>
                      <a:pt x="1447585" y="1353442"/>
                      <a:pt x="1439967" y="1361060"/>
                    </a:cubicBezTo>
                    <a:cubicBezTo>
                      <a:pt x="1432349" y="1368678"/>
                      <a:pt x="1422017" y="1372958"/>
                      <a:pt x="1411243" y="1372958"/>
                    </a:cubicBezTo>
                    <a:lnTo>
                      <a:pt x="40621" y="1372958"/>
                    </a:lnTo>
                    <a:cubicBezTo>
                      <a:pt x="29848" y="1372958"/>
                      <a:pt x="19516" y="1368678"/>
                      <a:pt x="11898" y="1361060"/>
                    </a:cubicBezTo>
                    <a:cubicBezTo>
                      <a:pt x="4280" y="1353442"/>
                      <a:pt x="0" y="1343110"/>
                      <a:pt x="0" y="1332337"/>
                    </a:cubicBezTo>
                    <a:lnTo>
                      <a:pt x="0" y="40621"/>
                    </a:lnTo>
                    <a:cubicBezTo>
                      <a:pt x="0" y="29848"/>
                      <a:pt x="4280" y="19516"/>
                      <a:pt x="11898" y="11898"/>
                    </a:cubicBezTo>
                    <a:cubicBezTo>
                      <a:pt x="19516" y="4280"/>
                      <a:pt x="29848" y="0"/>
                      <a:pt x="4062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28D609BC-8CFC-ED87-AB27-FCB59A854BC0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51865" cy="14205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5" name="TextBox 29">
              <a:extLst>
                <a:ext uri="{FF2B5EF4-FFF2-40B4-BE49-F238E27FC236}">
                  <a16:creationId xmlns:a16="http://schemas.microsoft.com/office/drawing/2014/main" id="{CC56FC02-3313-9AB8-2E51-60C51EB2551E}"/>
                </a:ext>
              </a:extLst>
            </p:cNvPr>
            <p:cNvSpPr txBox="1"/>
            <p:nvPr/>
          </p:nvSpPr>
          <p:spPr>
            <a:xfrm>
              <a:off x="1028700" y="6057143"/>
              <a:ext cx="2304639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Vytvoření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elektrického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schématu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propojujícího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všechny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komponenty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hůlky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36" name="TextBox 31">
              <a:extLst>
                <a:ext uri="{FF2B5EF4-FFF2-40B4-BE49-F238E27FC236}">
                  <a16:creationId xmlns:a16="http://schemas.microsoft.com/office/drawing/2014/main" id="{BC3051AF-0CD3-1768-63F7-6BD8EAB881DF}"/>
                </a:ext>
              </a:extLst>
            </p:cNvPr>
            <p:cNvSpPr txBox="1"/>
            <p:nvPr/>
          </p:nvSpPr>
          <p:spPr>
            <a:xfrm>
              <a:off x="373041" y="4301398"/>
              <a:ext cx="3615958" cy="16478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00"/>
                </a:lnSpc>
              </a:pPr>
              <a:r>
                <a:rPr lang="en-US" sz="80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</a:t>
              </a:r>
              <a:r>
                <a:rPr lang="en-US" sz="80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Návrh</a:t>
              </a:r>
              <a:r>
                <a:rPr lang="en-US" sz="80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80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schématu</a:t>
              </a:r>
              <a:endParaRPr lang="en-US" sz="80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3966503" y="-3437559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6" y="0"/>
                </a:lnTo>
                <a:lnTo>
                  <a:pt x="9990406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-9637020">
            <a:off x="13393266" y="1048933"/>
            <a:ext cx="6857699" cy="6360516"/>
          </a:xfrm>
          <a:custGeom>
            <a:avLst/>
            <a:gdLst/>
            <a:ahLst/>
            <a:cxnLst/>
            <a:rect l="l" t="t" r="r" b="b"/>
            <a:pathLst>
              <a:path w="6857699" h="6360516">
                <a:moveTo>
                  <a:pt x="0" y="0"/>
                </a:moveTo>
                <a:lnTo>
                  <a:pt x="6857699" y="0"/>
                </a:lnTo>
                <a:lnTo>
                  <a:pt x="6857699" y="6360516"/>
                </a:lnTo>
                <a:lnTo>
                  <a:pt x="0" y="6360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6703302" y="633318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6" y="0"/>
                </a:lnTo>
                <a:lnTo>
                  <a:pt x="4881396" y="4673937"/>
                </a:lnTo>
                <a:lnTo>
                  <a:pt x="0" y="46739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12377903" y="4584363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7" y="0"/>
                </a:lnTo>
                <a:lnTo>
                  <a:pt x="4881397" y="4673937"/>
                </a:lnTo>
                <a:lnTo>
                  <a:pt x="0" y="46739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 rot="-10800000">
            <a:off x="6023903" y="4958624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7" name="Freeform 7"/>
          <p:cNvSpPr/>
          <p:nvPr/>
        </p:nvSpPr>
        <p:spPr>
          <a:xfrm>
            <a:off x="-964102" y="3378321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 rot="-5400000">
            <a:off x="5999536" y="1757550"/>
            <a:ext cx="6288014" cy="8713487"/>
            <a:chOff x="0" y="0"/>
            <a:chExt cx="4734560" cy="6560820"/>
          </a:xfrm>
        </p:grpSpPr>
        <p:sp>
          <p:nvSpPr>
            <p:cNvPr id="9" name="Freeform 9"/>
            <p:cNvSpPr/>
            <p:nvPr/>
          </p:nvSpPr>
          <p:spPr>
            <a:xfrm>
              <a:off x="36830" y="50800"/>
              <a:ext cx="4645660" cy="6473190"/>
            </a:xfrm>
            <a:custGeom>
              <a:avLst/>
              <a:gdLst/>
              <a:ahLst/>
              <a:cxnLst/>
              <a:rect l="l" t="t" r="r" b="b"/>
              <a:pathLst>
                <a:path w="4645660" h="6473190">
                  <a:moveTo>
                    <a:pt x="4368800" y="0"/>
                  </a:moveTo>
                  <a:lnTo>
                    <a:pt x="276860" y="0"/>
                  </a:lnTo>
                  <a:cubicBezTo>
                    <a:pt x="124460" y="0"/>
                    <a:pt x="0" y="123190"/>
                    <a:pt x="0" y="276860"/>
                  </a:cubicBezTo>
                  <a:lnTo>
                    <a:pt x="0" y="6196330"/>
                  </a:lnTo>
                  <a:cubicBezTo>
                    <a:pt x="0" y="6350000"/>
                    <a:pt x="124460" y="6473190"/>
                    <a:pt x="276860" y="6473190"/>
                  </a:cubicBezTo>
                  <a:lnTo>
                    <a:pt x="4368800" y="6473190"/>
                  </a:lnTo>
                  <a:cubicBezTo>
                    <a:pt x="4522470" y="6473190"/>
                    <a:pt x="4645660" y="6348730"/>
                    <a:pt x="4645660" y="6196330"/>
                  </a:cubicBezTo>
                  <a:lnTo>
                    <a:pt x="4645660" y="276860"/>
                  </a:lnTo>
                  <a:cubicBezTo>
                    <a:pt x="4645660" y="123190"/>
                    <a:pt x="4522470" y="0"/>
                    <a:pt x="4368800" y="0"/>
                  </a:cubicBezTo>
                  <a:close/>
                  <a:moveTo>
                    <a:pt x="4425950" y="6156960"/>
                  </a:moveTo>
                  <a:cubicBezTo>
                    <a:pt x="4425950" y="6212840"/>
                    <a:pt x="4380230" y="6258560"/>
                    <a:pt x="4324350" y="6258560"/>
                  </a:cubicBezTo>
                  <a:lnTo>
                    <a:pt x="321310" y="6258560"/>
                  </a:lnTo>
                  <a:cubicBezTo>
                    <a:pt x="265430" y="6258560"/>
                    <a:pt x="219710" y="6212840"/>
                    <a:pt x="219710" y="6156960"/>
                  </a:cubicBezTo>
                  <a:lnTo>
                    <a:pt x="219710" y="316230"/>
                  </a:lnTo>
                  <a:cubicBezTo>
                    <a:pt x="219710" y="260350"/>
                    <a:pt x="265430" y="214630"/>
                    <a:pt x="321310" y="214630"/>
                  </a:cubicBezTo>
                  <a:lnTo>
                    <a:pt x="4325620" y="214630"/>
                  </a:lnTo>
                  <a:cubicBezTo>
                    <a:pt x="4381500" y="214630"/>
                    <a:pt x="4427220" y="260350"/>
                    <a:pt x="4427220" y="316230"/>
                  </a:cubicBezTo>
                  <a:lnTo>
                    <a:pt x="4427220" y="61569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16511"/>
              <a:ext cx="4716780" cy="6544310"/>
            </a:xfrm>
            <a:custGeom>
              <a:avLst/>
              <a:gdLst/>
              <a:ahLst/>
              <a:cxnLst/>
              <a:rect l="l" t="t" r="r" b="b"/>
              <a:pathLst>
                <a:path w="4716780" h="6544310">
                  <a:moveTo>
                    <a:pt x="4395470" y="36829"/>
                  </a:moveTo>
                  <a:cubicBezTo>
                    <a:pt x="4552950" y="36829"/>
                    <a:pt x="4681220" y="165099"/>
                    <a:pt x="4681220" y="322579"/>
                  </a:cubicBezTo>
                  <a:lnTo>
                    <a:pt x="4681220" y="6222999"/>
                  </a:lnTo>
                  <a:cubicBezTo>
                    <a:pt x="4681220" y="6380479"/>
                    <a:pt x="4552950" y="6508750"/>
                    <a:pt x="4395470" y="6508750"/>
                  </a:cubicBezTo>
                  <a:lnTo>
                    <a:pt x="321310" y="6508750"/>
                  </a:lnTo>
                  <a:cubicBezTo>
                    <a:pt x="163830" y="6508750"/>
                    <a:pt x="35560" y="6380480"/>
                    <a:pt x="35560" y="6223000"/>
                  </a:cubicBezTo>
                  <a:lnTo>
                    <a:pt x="35560" y="322580"/>
                  </a:lnTo>
                  <a:cubicBezTo>
                    <a:pt x="35560" y="165100"/>
                    <a:pt x="163830" y="36830"/>
                    <a:pt x="321310" y="36830"/>
                  </a:cubicBezTo>
                  <a:lnTo>
                    <a:pt x="4395470" y="36830"/>
                  </a:lnTo>
                  <a:moveTo>
                    <a:pt x="4395470" y="0"/>
                  </a:moveTo>
                  <a:lnTo>
                    <a:pt x="321310" y="0"/>
                  </a:lnTo>
                  <a:cubicBezTo>
                    <a:pt x="143510" y="0"/>
                    <a:pt x="0" y="144780"/>
                    <a:pt x="0" y="322580"/>
                  </a:cubicBezTo>
                  <a:lnTo>
                    <a:pt x="0" y="6223000"/>
                  </a:lnTo>
                  <a:cubicBezTo>
                    <a:pt x="0" y="6400800"/>
                    <a:pt x="143510" y="6544309"/>
                    <a:pt x="321310" y="6544309"/>
                  </a:cubicBezTo>
                  <a:lnTo>
                    <a:pt x="4395470" y="6544309"/>
                  </a:lnTo>
                  <a:cubicBezTo>
                    <a:pt x="4573270" y="6544309"/>
                    <a:pt x="4716780" y="6400800"/>
                    <a:pt x="4716780" y="6223000"/>
                  </a:cubicBezTo>
                  <a:lnTo>
                    <a:pt x="4716780" y="322580"/>
                  </a:lnTo>
                  <a:cubicBezTo>
                    <a:pt x="4716780" y="144780"/>
                    <a:pt x="4573270" y="0"/>
                    <a:pt x="439547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1" name="Freeform 11"/>
            <p:cNvSpPr/>
            <p:nvPr/>
          </p:nvSpPr>
          <p:spPr>
            <a:xfrm rot="5400000">
              <a:off x="-661670" y="1183640"/>
              <a:ext cx="6043930" cy="4207510"/>
            </a:xfrm>
            <a:custGeom>
              <a:avLst/>
              <a:gdLst/>
              <a:ahLst/>
              <a:cxnLst/>
              <a:rect l="l" t="t" r="r" b="b"/>
              <a:pathLst>
                <a:path w="6043930" h="4207510">
                  <a:moveTo>
                    <a:pt x="5942330" y="1270"/>
                  </a:moveTo>
                  <a:cubicBezTo>
                    <a:pt x="5998210" y="1270"/>
                    <a:pt x="6043930" y="46990"/>
                    <a:pt x="6043930" y="102870"/>
                  </a:cubicBezTo>
                  <a:lnTo>
                    <a:pt x="6043930" y="4105910"/>
                  </a:lnTo>
                  <a:cubicBezTo>
                    <a:pt x="6043930" y="4161790"/>
                    <a:pt x="5998210" y="4207510"/>
                    <a:pt x="5942330" y="4207510"/>
                  </a:cubicBezTo>
                  <a:lnTo>
                    <a:pt x="101600" y="4207510"/>
                  </a:lnTo>
                  <a:cubicBezTo>
                    <a:pt x="45720" y="4207510"/>
                    <a:pt x="0" y="4161790"/>
                    <a:pt x="0" y="4105910"/>
                  </a:cubicBezTo>
                  <a:lnTo>
                    <a:pt x="0" y="101600"/>
                  </a:lnTo>
                  <a:cubicBezTo>
                    <a:pt x="0" y="45720"/>
                    <a:pt x="45720" y="0"/>
                    <a:pt x="101600" y="0"/>
                  </a:cubicBezTo>
                  <a:lnTo>
                    <a:pt x="5942330" y="0"/>
                  </a:lnTo>
                  <a:close/>
                </a:path>
              </a:pathLst>
            </a:custGeom>
            <a:blipFill>
              <a:blip r:embed="rId4"/>
              <a:stretch>
                <a:fillRect l="-18106" t="-10478" r="-16162" b="-26219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953089" y="120650"/>
              <a:ext cx="76541" cy="76201"/>
            </a:xfrm>
            <a:custGeom>
              <a:avLst/>
              <a:gdLst/>
              <a:ahLst/>
              <a:cxnLst/>
              <a:rect l="l" t="t" r="r" b="b"/>
              <a:pathLst>
                <a:path w="76541" h="76201">
                  <a:moveTo>
                    <a:pt x="38271" y="0"/>
                  </a:moveTo>
                  <a:cubicBezTo>
                    <a:pt x="24619" y="-61"/>
                    <a:pt x="11977" y="7187"/>
                    <a:pt x="5133" y="19001"/>
                  </a:cubicBezTo>
                  <a:cubicBezTo>
                    <a:pt x="-1711" y="30814"/>
                    <a:pt x="-1711" y="45386"/>
                    <a:pt x="5133" y="57199"/>
                  </a:cubicBezTo>
                  <a:cubicBezTo>
                    <a:pt x="11977" y="69013"/>
                    <a:pt x="24619" y="76261"/>
                    <a:pt x="38271" y="76200"/>
                  </a:cubicBezTo>
                  <a:cubicBezTo>
                    <a:pt x="51923" y="76261"/>
                    <a:pt x="64565" y="69013"/>
                    <a:pt x="71409" y="57199"/>
                  </a:cubicBezTo>
                  <a:cubicBezTo>
                    <a:pt x="78253" y="45386"/>
                    <a:pt x="78253" y="30814"/>
                    <a:pt x="71409" y="19001"/>
                  </a:cubicBezTo>
                  <a:cubicBezTo>
                    <a:pt x="64565" y="7187"/>
                    <a:pt x="51923" y="-61"/>
                    <a:pt x="38271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2121925" y="104139"/>
              <a:ext cx="109709" cy="109221"/>
            </a:xfrm>
            <a:custGeom>
              <a:avLst/>
              <a:gdLst/>
              <a:ahLst/>
              <a:cxnLst/>
              <a:rect l="l" t="t" r="r" b="b"/>
              <a:pathLst>
                <a:path w="109709" h="109221">
                  <a:moveTo>
                    <a:pt x="54855" y="1"/>
                  </a:moveTo>
                  <a:cubicBezTo>
                    <a:pt x="35287" y="-87"/>
                    <a:pt x="17167" y="10303"/>
                    <a:pt x="7357" y="27235"/>
                  </a:cubicBezTo>
                  <a:cubicBezTo>
                    <a:pt x="-2452" y="44168"/>
                    <a:pt x="-2452" y="65054"/>
                    <a:pt x="7357" y="81987"/>
                  </a:cubicBezTo>
                  <a:cubicBezTo>
                    <a:pt x="17167" y="98919"/>
                    <a:pt x="35287" y="109309"/>
                    <a:pt x="54855" y="109221"/>
                  </a:cubicBezTo>
                  <a:cubicBezTo>
                    <a:pt x="74423" y="109309"/>
                    <a:pt x="92543" y="98919"/>
                    <a:pt x="102352" y="81987"/>
                  </a:cubicBezTo>
                  <a:cubicBezTo>
                    <a:pt x="112162" y="65054"/>
                    <a:pt x="112162" y="44168"/>
                    <a:pt x="102352" y="27235"/>
                  </a:cubicBezTo>
                  <a:cubicBezTo>
                    <a:pt x="92543" y="10303"/>
                    <a:pt x="74423" y="-87"/>
                    <a:pt x="54855" y="1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2330313" y="128270"/>
              <a:ext cx="61233" cy="60961"/>
            </a:xfrm>
            <a:custGeom>
              <a:avLst/>
              <a:gdLst/>
              <a:ahLst/>
              <a:cxnLst/>
              <a:rect l="l" t="t" r="r" b="b"/>
              <a:pathLst>
                <a:path w="61233" h="60961">
                  <a:moveTo>
                    <a:pt x="30617" y="0"/>
                  </a:moveTo>
                  <a:cubicBezTo>
                    <a:pt x="19695" y="-49"/>
                    <a:pt x="9582" y="5750"/>
                    <a:pt x="4107" y="15201"/>
                  </a:cubicBezTo>
                  <a:cubicBezTo>
                    <a:pt x="-1369" y="24651"/>
                    <a:pt x="-1369" y="36309"/>
                    <a:pt x="4107" y="45759"/>
                  </a:cubicBezTo>
                  <a:cubicBezTo>
                    <a:pt x="9582" y="55210"/>
                    <a:pt x="19695" y="61009"/>
                    <a:pt x="30617" y="60960"/>
                  </a:cubicBezTo>
                  <a:cubicBezTo>
                    <a:pt x="41539" y="61009"/>
                    <a:pt x="51652" y="55210"/>
                    <a:pt x="57127" y="45759"/>
                  </a:cubicBezTo>
                  <a:cubicBezTo>
                    <a:pt x="62602" y="36309"/>
                    <a:pt x="62602" y="24651"/>
                    <a:pt x="57127" y="15201"/>
                  </a:cubicBezTo>
                  <a:cubicBezTo>
                    <a:pt x="51652" y="5750"/>
                    <a:pt x="41539" y="-49"/>
                    <a:pt x="30617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346897" y="144780"/>
              <a:ext cx="28065" cy="27940"/>
            </a:xfrm>
            <a:custGeom>
              <a:avLst/>
              <a:gdLst/>
              <a:ahLst/>
              <a:cxnLst/>
              <a:rect l="l" t="t" r="r" b="b"/>
              <a:pathLst>
                <a:path w="28065" h="27940">
                  <a:moveTo>
                    <a:pt x="14033" y="0"/>
                  </a:moveTo>
                  <a:cubicBezTo>
                    <a:pt x="9027" y="-22"/>
                    <a:pt x="4392" y="2635"/>
                    <a:pt x="1882" y="6967"/>
                  </a:cubicBezTo>
                  <a:cubicBezTo>
                    <a:pt x="-627" y="11298"/>
                    <a:pt x="-627" y="16642"/>
                    <a:pt x="1882" y="20973"/>
                  </a:cubicBezTo>
                  <a:cubicBezTo>
                    <a:pt x="4392" y="25305"/>
                    <a:pt x="9027" y="27962"/>
                    <a:pt x="14033" y="27940"/>
                  </a:cubicBezTo>
                  <a:cubicBezTo>
                    <a:pt x="19039" y="27962"/>
                    <a:pt x="23674" y="25305"/>
                    <a:pt x="26184" y="20973"/>
                  </a:cubicBezTo>
                  <a:cubicBezTo>
                    <a:pt x="28693" y="16642"/>
                    <a:pt x="28693" y="11298"/>
                    <a:pt x="26184" y="6967"/>
                  </a:cubicBezTo>
                  <a:cubicBezTo>
                    <a:pt x="23674" y="2635"/>
                    <a:pt x="19039" y="-22"/>
                    <a:pt x="14033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2344386" y="144780"/>
              <a:ext cx="15308" cy="15240"/>
            </a:xfrm>
            <a:custGeom>
              <a:avLst/>
              <a:gdLst/>
              <a:ahLst/>
              <a:cxnLst/>
              <a:rect l="l" t="t" r="r" b="b"/>
              <a:pathLst>
                <a:path w="15308" h="15240">
                  <a:moveTo>
                    <a:pt x="7654" y="0"/>
                  </a:moveTo>
                  <a:cubicBezTo>
                    <a:pt x="4924" y="-12"/>
                    <a:pt x="2395" y="1437"/>
                    <a:pt x="1026" y="3800"/>
                  </a:cubicBezTo>
                  <a:cubicBezTo>
                    <a:pt x="-342" y="6163"/>
                    <a:pt x="-342" y="9077"/>
                    <a:pt x="1026" y="11440"/>
                  </a:cubicBezTo>
                  <a:cubicBezTo>
                    <a:pt x="2395" y="13803"/>
                    <a:pt x="4924" y="15252"/>
                    <a:pt x="7654" y="15240"/>
                  </a:cubicBezTo>
                  <a:cubicBezTo>
                    <a:pt x="10384" y="15252"/>
                    <a:pt x="12913" y="13803"/>
                    <a:pt x="14281" y="11440"/>
                  </a:cubicBezTo>
                  <a:cubicBezTo>
                    <a:pt x="15650" y="9077"/>
                    <a:pt x="15650" y="6163"/>
                    <a:pt x="14281" y="3800"/>
                  </a:cubicBezTo>
                  <a:cubicBezTo>
                    <a:pt x="12913" y="1437"/>
                    <a:pt x="10384" y="-12"/>
                    <a:pt x="7654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4716780" y="53467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4716780" y="86106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4064000" y="-113"/>
              <a:ext cx="320040" cy="16623"/>
            </a:xfrm>
            <a:custGeom>
              <a:avLst/>
              <a:gdLst/>
              <a:ahLst/>
              <a:cxnLst/>
              <a:rect l="l" t="t" r="r" b="b"/>
              <a:pathLst>
                <a:path w="320040" h="16623">
                  <a:moveTo>
                    <a:pt x="0" y="16623"/>
                  </a:moveTo>
                  <a:lnTo>
                    <a:pt x="320040" y="16623"/>
                  </a:lnTo>
                  <a:cubicBezTo>
                    <a:pt x="320040" y="-2427"/>
                    <a:pt x="304800" y="113"/>
                    <a:pt x="285750" y="113"/>
                  </a:cubicBezTo>
                  <a:lnTo>
                    <a:pt x="34290" y="113"/>
                  </a:lnTo>
                  <a:cubicBezTo>
                    <a:pt x="15240" y="113"/>
                    <a:pt x="0" y="-2427"/>
                    <a:pt x="0" y="16623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6" name="AutoShape 26"/>
          <p:cNvSpPr/>
          <p:nvPr/>
        </p:nvSpPr>
        <p:spPr>
          <a:xfrm>
            <a:off x="-803490" y="1581949"/>
            <a:ext cx="4369456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27" name="AutoShape 27"/>
          <p:cNvSpPr/>
          <p:nvPr/>
        </p:nvSpPr>
        <p:spPr>
          <a:xfrm>
            <a:off x="14722034" y="1610524"/>
            <a:ext cx="4369456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28" name="TextBox 28"/>
          <p:cNvSpPr txBox="1"/>
          <p:nvPr/>
        </p:nvSpPr>
        <p:spPr>
          <a:xfrm>
            <a:off x="3798592" y="1323975"/>
            <a:ext cx="10689901" cy="770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180"/>
              </a:lnSpc>
              <a:spcBef>
                <a:spcPct val="0"/>
              </a:spcBef>
            </a:pPr>
            <a:r>
              <a:rPr lang="en-US" sz="7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PCB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A1B6BA8-73E9-3A7D-8CC3-FED6B7CC8D8E}"/>
              </a:ext>
            </a:extLst>
          </p:cNvPr>
          <p:cNvGrpSpPr/>
          <p:nvPr/>
        </p:nvGrpSpPr>
        <p:grpSpPr>
          <a:xfrm>
            <a:off x="-577060" y="3861421"/>
            <a:ext cx="4764699" cy="4505745"/>
            <a:chOff x="-577060" y="3861421"/>
            <a:chExt cx="4764699" cy="4505745"/>
          </a:xfrm>
        </p:grpSpPr>
        <p:grpSp>
          <p:nvGrpSpPr>
            <p:cNvPr id="34" name="Group 20">
              <a:extLst>
                <a:ext uri="{FF2B5EF4-FFF2-40B4-BE49-F238E27FC236}">
                  <a16:creationId xmlns:a16="http://schemas.microsoft.com/office/drawing/2014/main" id="{5AEFE7D1-35D1-A620-76A2-BFFC732FC518}"/>
                </a:ext>
              </a:extLst>
            </p:cNvPr>
            <p:cNvGrpSpPr/>
            <p:nvPr/>
          </p:nvGrpSpPr>
          <p:grpSpPr>
            <a:xfrm>
              <a:off x="-577060" y="3861421"/>
              <a:ext cx="4764699" cy="4505745"/>
              <a:chOff x="0" y="0"/>
              <a:chExt cx="1451865" cy="1372958"/>
            </a:xfrm>
          </p:grpSpPr>
          <p:sp>
            <p:nvSpPr>
              <p:cNvPr id="37" name="Freeform 21">
                <a:extLst>
                  <a:ext uri="{FF2B5EF4-FFF2-40B4-BE49-F238E27FC236}">
                    <a16:creationId xmlns:a16="http://schemas.microsoft.com/office/drawing/2014/main" id="{AF9F304F-89A0-F973-43A3-AC41A0284CB5}"/>
                  </a:ext>
                </a:extLst>
              </p:cNvPr>
              <p:cNvSpPr/>
              <p:nvPr/>
            </p:nvSpPr>
            <p:spPr>
              <a:xfrm>
                <a:off x="0" y="0"/>
                <a:ext cx="1451864" cy="1372958"/>
              </a:xfrm>
              <a:custGeom>
                <a:avLst/>
                <a:gdLst/>
                <a:ahLst/>
                <a:cxnLst/>
                <a:rect l="l" t="t" r="r" b="b"/>
                <a:pathLst>
                  <a:path w="1451864" h="1372958">
                    <a:moveTo>
                      <a:pt x="40621" y="0"/>
                    </a:moveTo>
                    <a:lnTo>
                      <a:pt x="1411243" y="0"/>
                    </a:lnTo>
                    <a:cubicBezTo>
                      <a:pt x="1422017" y="0"/>
                      <a:pt x="1432349" y="4280"/>
                      <a:pt x="1439967" y="11898"/>
                    </a:cubicBezTo>
                    <a:cubicBezTo>
                      <a:pt x="1447585" y="19516"/>
                      <a:pt x="1451864" y="29848"/>
                      <a:pt x="1451864" y="40621"/>
                    </a:cubicBezTo>
                    <a:lnTo>
                      <a:pt x="1451864" y="1332337"/>
                    </a:lnTo>
                    <a:cubicBezTo>
                      <a:pt x="1451864" y="1343110"/>
                      <a:pt x="1447585" y="1353442"/>
                      <a:pt x="1439967" y="1361060"/>
                    </a:cubicBezTo>
                    <a:cubicBezTo>
                      <a:pt x="1432349" y="1368678"/>
                      <a:pt x="1422017" y="1372958"/>
                      <a:pt x="1411243" y="1372958"/>
                    </a:cubicBezTo>
                    <a:lnTo>
                      <a:pt x="40621" y="1372958"/>
                    </a:lnTo>
                    <a:cubicBezTo>
                      <a:pt x="29848" y="1372958"/>
                      <a:pt x="19516" y="1368678"/>
                      <a:pt x="11898" y="1361060"/>
                    </a:cubicBezTo>
                    <a:cubicBezTo>
                      <a:pt x="4280" y="1353442"/>
                      <a:pt x="0" y="1343110"/>
                      <a:pt x="0" y="1332337"/>
                    </a:cubicBezTo>
                    <a:lnTo>
                      <a:pt x="0" y="40621"/>
                    </a:lnTo>
                    <a:cubicBezTo>
                      <a:pt x="0" y="29848"/>
                      <a:pt x="4280" y="19516"/>
                      <a:pt x="11898" y="11898"/>
                    </a:cubicBezTo>
                    <a:cubicBezTo>
                      <a:pt x="19516" y="4280"/>
                      <a:pt x="29848" y="0"/>
                      <a:pt x="4062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442F7587-BEFD-2765-865D-1CBE7A76899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51865" cy="14205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5" name="TextBox 29">
              <a:extLst>
                <a:ext uri="{FF2B5EF4-FFF2-40B4-BE49-F238E27FC236}">
                  <a16:creationId xmlns:a16="http://schemas.microsoft.com/office/drawing/2014/main" id="{71568E51-C0EF-1620-490F-9F1AE77DE006}"/>
                </a:ext>
              </a:extLst>
            </p:cNvPr>
            <p:cNvSpPr txBox="1"/>
            <p:nvPr/>
          </p:nvSpPr>
          <p:spPr>
            <a:xfrm>
              <a:off x="1028700" y="6057143"/>
              <a:ext cx="2304639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Vytvoření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elektrického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schématu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propojujícího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všechny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komponenty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hůlky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36" name="TextBox 31">
              <a:extLst>
                <a:ext uri="{FF2B5EF4-FFF2-40B4-BE49-F238E27FC236}">
                  <a16:creationId xmlns:a16="http://schemas.microsoft.com/office/drawing/2014/main" id="{85BE26AF-AAB1-834C-7A5D-D97D98F54752}"/>
                </a:ext>
              </a:extLst>
            </p:cNvPr>
            <p:cNvSpPr txBox="1"/>
            <p:nvPr/>
          </p:nvSpPr>
          <p:spPr>
            <a:xfrm>
              <a:off x="373041" y="4301398"/>
              <a:ext cx="3615958" cy="16478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00"/>
                </a:lnSpc>
              </a:pPr>
              <a:r>
                <a:rPr lang="en-US" sz="80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</a:t>
              </a:r>
              <a:r>
                <a:rPr lang="en-US" sz="80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Návrh</a:t>
              </a:r>
              <a:r>
                <a:rPr lang="en-US" sz="80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80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schématu</a:t>
              </a:r>
              <a:endParaRPr lang="en-US" sz="80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B499FE7-2CF5-B844-9C35-E1B04D6DED16}"/>
              </a:ext>
            </a:extLst>
          </p:cNvPr>
          <p:cNvGrpSpPr/>
          <p:nvPr/>
        </p:nvGrpSpPr>
        <p:grpSpPr>
          <a:xfrm>
            <a:off x="18781101" y="3861421"/>
            <a:ext cx="4764699" cy="4505745"/>
            <a:chOff x="14100361" y="3861421"/>
            <a:chExt cx="4764699" cy="4505745"/>
          </a:xfrm>
        </p:grpSpPr>
        <p:grpSp>
          <p:nvGrpSpPr>
            <p:cNvPr id="40" name="Group 23">
              <a:extLst>
                <a:ext uri="{FF2B5EF4-FFF2-40B4-BE49-F238E27FC236}">
                  <a16:creationId xmlns:a16="http://schemas.microsoft.com/office/drawing/2014/main" id="{15FD3862-E56A-56E6-631F-D0006B4C3F33}"/>
                </a:ext>
              </a:extLst>
            </p:cNvPr>
            <p:cNvGrpSpPr/>
            <p:nvPr/>
          </p:nvGrpSpPr>
          <p:grpSpPr>
            <a:xfrm>
              <a:off x="14100361" y="3861421"/>
              <a:ext cx="4764699" cy="4505745"/>
              <a:chOff x="0" y="0"/>
              <a:chExt cx="1451865" cy="1372958"/>
            </a:xfrm>
          </p:grpSpPr>
          <p:sp>
            <p:nvSpPr>
              <p:cNvPr id="43" name="Freeform 24">
                <a:extLst>
                  <a:ext uri="{FF2B5EF4-FFF2-40B4-BE49-F238E27FC236}">
                    <a16:creationId xmlns:a16="http://schemas.microsoft.com/office/drawing/2014/main" id="{3FEF431C-BDC2-7598-F107-FC56E302499C}"/>
                  </a:ext>
                </a:extLst>
              </p:cNvPr>
              <p:cNvSpPr/>
              <p:nvPr/>
            </p:nvSpPr>
            <p:spPr>
              <a:xfrm>
                <a:off x="0" y="0"/>
                <a:ext cx="1451864" cy="1372958"/>
              </a:xfrm>
              <a:custGeom>
                <a:avLst/>
                <a:gdLst/>
                <a:ahLst/>
                <a:cxnLst/>
                <a:rect l="l" t="t" r="r" b="b"/>
                <a:pathLst>
                  <a:path w="1451864" h="1372958">
                    <a:moveTo>
                      <a:pt x="40621" y="0"/>
                    </a:moveTo>
                    <a:lnTo>
                      <a:pt x="1411243" y="0"/>
                    </a:lnTo>
                    <a:cubicBezTo>
                      <a:pt x="1422017" y="0"/>
                      <a:pt x="1432349" y="4280"/>
                      <a:pt x="1439967" y="11898"/>
                    </a:cubicBezTo>
                    <a:cubicBezTo>
                      <a:pt x="1447585" y="19516"/>
                      <a:pt x="1451864" y="29848"/>
                      <a:pt x="1451864" y="40621"/>
                    </a:cubicBezTo>
                    <a:lnTo>
                      <a:pt x="1451864" y="1332337"/>
                    </a:lnTo>
                    <a:cubicBezTo>
                      <a:pt x="1451864" y="1343110"/>
                      <a:pt x="1447585" y="1353442"/>
                      <a:pt x="1439967" y="1361060"/>
                    </a:cubicBezTo>
                    <a:cubicBezTo>
                      <a:pt x="1432349" y="1368678"/>
                      <a:pt x="1422017" y="1372958"/>
                      <a:pt x="1411243" y="1372958"/>
                    </a:cubicBezTo>
                    <a:lnTo>
                      <a:pt x="40621" y="1372958"/>
                    </a:lnTo>
                    <a:cubicBezTo>
                      <a:pt x="29848" y="1372958"/>
                      <a:pt x="19516" y="1368678"/>
                      <a:pt x="11898" y="1361060"/>
                    </a:cubicBezTo>
                    <a:cubicBezTo>
                      <a:pt x="4280" y="1353442"/>
                      <a:pt x="0" y="1343110"/>
                      <a:pt x="0" y="1332337"/>
                    </a:cubicBezTo>
                    <a:lnTo>
                      <a:pt x="0" y="40621"/>
                    </a:lnTo>
                    <a:cubicBezTo>
                      <a:pt x="0" y="29848"/>
                      <a:pt x="4280" y="19516"/>
                      <a:pt x="11898" y="11898"/>
                    </a:cubicBezTo>
                    <a:cubicBezTo>
                      <a:pt x="19516" y="4280"/>
                      <a:pt x="29848" y="0"/>
                      <a:pt x="4062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4" name="TextBox 25">
                <a:extLst>
                  <a:ext uri="{FF2B5EF4-FFF2-40B4-BE49-F238E27FC236}">
                    <a16:creationId xmlns:a16="http://schemas.microsoft.com/office/drawing/2014/main" id="{D540B36C-47C3-CD70-8EEE-44A6FECB05E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451865" cy="14205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41" name="TextBox 30">
              <a:extLst>
                <a:ext uri="{FF2B5EF4-FFF2-40B4-BE49-F238E27FC236}">
                  <a16:creationId xmlns:a16="http://schemas.microsoft.com/office/drawing/2014/main" id="{ED6CD913-F5F6-7F3D-2019-835F8714B0F7}"/>
                </a:ext>
              </a:extLst>
            </p:cNvPr>
            <p:cNvSpPr txBox="1"/>
            <p:nvPr/>
          </p:nvSpPr>
          <p:spPr>
            <a:xfrm>
              <a:off x="14954661" y="6057143"/>
              <a:ext cx="2304639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Převod schématu do podoby vlastní desky plošných spojů v programu KiCad.</a:t>
              </a:r>
            </a:p>
          </p:txBody>
        </p:sp>
        <p:sp>
          <p:nvSpPr>
            <p:cNvPr id="42" name="TextBox 32">
              <a:extLst>
                <a:ext uri="{FF2B5EF4-FFF2-40B4-BE49-F238E27FC236}">
                  <a16:creationId xmlns:a16="http://schemas.microsoft.com/office/drawing/2014/main" id="{73BF1DBC-5AAF-80EF-6971-FA1D0CCD1EBE}"/>
                </a:ext>
              </a:extLst>
            </p:cNvPr>
            <p:cNvSpPr txBox="1"/>
            <p:nvPr/>
          </p:nvSpPr>
          <p:spPr>
            <a:xfrm>
              <a:off x="14299001" y="4301398"/>
              <a:ext cx="3615958" cy="16478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00"/>
                </a:lnSpc>
              </a:pPr>
              <a:r>
                <a:rPr lang="en-US" sz="80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 </a:t>
              </a:r>
              <a:r>
                <a:rPr lang="en-US" sz="80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Návrh</a:t>
              </a:r>
              <a:r>
                <a:rPr lang="en-US" sz="80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PCB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3966503" y="-3437559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6" y="0"/>
                </a:lnTo>
                <a:lnTo>
                  <a:pt x="9990406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-9637020">
            <a:off x="13393266" y="1048933"/>
            <a:ext cx="6857699" cy="6360516"/>
          </a:xfrm>
          <a:custGeom>
            <a:avLst/>
            <a:gdLst/>
            <a:ahLst/>
            <a:cxnLst/>
            <a:rect l="l" t="t" r="r" b="b"/>
            <a:pathLst>
              <a:path w="6857699" h="6360516">
                <a:moveTo>
                  <a:pt x="0" y="0"/>
                </a:moveTo>
                <a:lnTo>
                  <a:pt x="6857699" y="0"/>
                </a:lnTo>
                <a:lnTo>
                  <a:pt x="6857699" y="6360516"/>
                </a:lnTo>
                <a:lnTo>
                  <a:pt x="0" y="6360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6703302" y="633318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6" y="0"/>
                </a:lnTo>
                <a:lnTo>
                  <a:pt x="4881396" y="4673937"/>
                </a:lnTo>
                <a:lnTo>
                  <a:pt x="0" y="46739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12377903" y="4584363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7" y="0"/>
                </a:lnTo>
                <a:lnTo>
                  <a:pt x="4881397" y="4673937"/>
                </a:lnTo>
                <a:lnTo>
                  <a:pt x="0" y="46739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 rot="-10800000">
            <a:off x="6023903" y="4958624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7" name="Freeform 7"/>
          <p:cNvSpPr/>
          <p:nvPr/>
        </p:nvSpPr>
        <p:spPr>
          <a:xfrm>
            <a:off x="-964102" y="3378321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 rot="-5400000">
            <a:off x="5999536" y="1757550"/>
            <a:ext cx="6288014" cy="8713487"/>
            <a:chOff x="0" y="0"/>
            <a:chExt cx="4734560" cy="6560820"/>
          </a:xfrm>
        </p:grpSpPr>
        <p:sp>
          <p:nvSpPr>
            <p:cNvPr id="9" name="Freeform 9"/>
            <p:cNvSpPr/>
            <p:nvPr/>
          </p:nvSpPr>
          <p:spPr>
            <a:xfrm>
              <a:off x="36830" y="50800"/>
              <a:ext cx="4645660" cy="6473190"/>
            </a:xfrm>
            <a:custGeom>
              <a:avLst/>
              <a:gdLst/>
              <a:ahLst/>
              <a:cxnLst/>
              <a:rect l="l" t="t" r="r" b="b"/>
              <a:pathLst>
                <a:path w="4645660" h="6473190">
                  <a:moveTo>
                    <a:pt x="4368800" y="0"/>
                  </a:moveTo>
                  <a:lnTo>
                    <a:pt x="276860" y="0"/>
                  </a:lnTo>
                  <a:cubicBezTo>
                    <a:pt x="124460" y="0"/>
                    <a:pt x="0" y="123190"/>
                    <a:pt x="0" y="276860"/>
                  </a:cubicBezTo>
                  <a:lnTo>
                    <a:pt x="0" y="6196330"/>
                  </a:lnTo>
                  <a:cubicBezTo>
                    <a:pt x="0" y="6350000"/>
                    <a:pt x="124460" y="6473190"/>
                    <a:pt x="276860" y="6473190"/>
                  </a:cubicBezTo>
                  <a:lnTo>
                    <a:pt x="4368800" y="6473190"/>
                  </a:lnTo>
                  <a:cubicBezTo>
                    <a:pt x="4522470" y="6473190"/>
                    <a:pt x="4645660" y="6348730"/>
                    <a:pt x="4645660" y="6196330"/>
                  </a:cubicBezTo>
                  <a:lnTo>
                    <a:pt x="4645660" y="276860"/>
                  </a:lnTo>
                  <a:cubicBezTo>
                    <a:pt x="4645660" y="123190"/>
                    <a:pt x="4522470" y="0"/>
                    <a:pt x="4368800" y="0"/>
                  </a:cubicBezTo>
                  <a:close/>
                  <a:moveTo>
                    <a:pt x="4425950" y="6156960"/>
                  </a:moveTo>
                  <a:cubicBezTo>
                    <a:pt x="4425950" y="6212840"/>
                    <a:pt x="4380230" y="6258560"/>
                    <a:pt x="4324350" y="6258560"/>
                  </a:cubicBezTo>
                  <a:lnTo>
                    <a:pt x="321310" y="6258560"/>
                  </a:lnTo>
                  <a:cubicBezTo>
                    <a:pt x="265430" y="6258560"/>
                    <a:pt x="219710" y="6212840"/>
                    <a:pt x="219710" y="6156960"/>
                  </a:cubicBezTo>
                  <a:lnTo>
                    <a:pt x="219710" y="316230"/>
                  </a:lnTo>
                  <a:cubicBezTo>
                    <a:pt x="219710" y="260350"/>
                    <a:pt x="265430" y="214630"/>
                    <a:pt x="321310" y="214630"/>
                  </a:cubicBezTo>
                  <a:lnTo>
                    <a:pt x="4325620" y="214630"/>
                  </a:lnTo>
                  <a:cubicBezTo>
                    <a:pt x="4381500" y="214630"/>
                    <a:pt x="4427220" y="260350"/>
                    <a:pt x="4427220" y="316230"/>
                  </a:cubicBezTo>
                  <a:lnTo>
                    <a:pt x="4427220" y="61569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16511"/>
              <a:ext cx="4716780" cy="6544310"/>
            </a:xfrm>
            <a:custGeom>
              <a:avLst/>
              <a:gdLst/>
              <a:ahLst/>
              <a:cxnLst/>
              <a:rect l="l" t="t" r="r" b="b"/>
              <a:pathLst>
                <a:path w="4716780" h="6544310">
                  <a:moveTo>
                    <a:pt x="4395470" y="36829"/>
                  </a:moveTo>
                  <a:cubicBezTo>
                    <a:pt x="4552950" y="36829"/>
                    <a:pt x="4681220" y="165099"/>
                    <a:pt x="4681220" y="322579"/>
                  </a:cubicBezTo>
                  <a:lnTo>
                    <a:pt x="4681220" y="6222999"/>
                  </a:lnTo>
                  <a:cubicBezTo>
                    <a:pt x="4681220" y="6380479"/>
                    <a:pt x="4552950" y="6508750"/>
                    <a:pt x="4395470" y="6508750"/>
                  </a:cubicBezTo>
                  <a:lnTo>
                    <a:pt x="321310" y="6508750"/>
                  </a:lnTo>
                  <a:cubicBezTo>
                    <a:pt x="163830" y="6508750"/>
                    <a:pt x="35560" y="6380480"/>
                    <a:pt x="35560" y="6223000"/>
                  </a:cubicBezTo>
                  <a:lnTo>
                    <a:pt x="35560" y="322580"/>
                  </a:lnTo>
                  <a:cubicBezTo>
                    <a:pt x="35560" y="165100"/>
                    <a:pt x="163830" y="36830"/>
                    <a:pt x="321310" y="36830"/>
                  </a:cubicBezTo>
                  <a:lnTo>
                    <a:pt x="4395470" y="36830"/>
                  </a:lnTo>
                  <a:moveTo>
                    <a:pt x="4395470" y="0"/>
                  </a:moveTo>
                  <a:lnTo>
                    <a:pt x="321310" y="0"/>
                  </a:lnTo>
                  <a:cubicBezTo>
                    <a:pt x="143510" y="0"/>
                    <a:pt x="0" y="144780"/>
                    <a:pt x="0" y="322580"/>
                  </a:cubicBezTo>
                  <a:lnTo>
                    <a:pt x="0" y="6223000"/>
                  </a:lnTo>
                  <a:cubicBezTo>
                    <a:pt x="0" y="6400800"/>
                    <a:pt x="143510" y="6544309"/>
                    <a:pt x="321310" y="6544309"/>
                  </a:cubicBezTo>
                  <a:lnTo>
                    <a:pt x="4395470" y="6544309"/>
                  </a:lnTo>
                  <a:cubicBezTo>
                    <a:pt x="4573270" y="6544309"/>
                    <a:pt x="4716780" y="6400800"/>
                    <a:pt x="4716780" y="6223000"/>
                  </a:cubicBezTo>
                  <a:lnTo>
                    <a:pt x="4716780" y="322580"/>
                  </a:lnTo>
                  <a:cubicBezTo>
                    <a:pt x="4716780" y="144780"/>
                    <a:pt x="4573270" y="0"/>
                    <a:pt x="439547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1" name="Freeform 11"/>
            <p:cNvSpPr/>
            <p:nvPr/>
          </p:nvSpPr>
          <p:spPr>
            <a:xfrm rot="5400000">
              <a:off x="-661670" y="1183640"/>
              <a:ext cx="6043930" cy="4207510"/>
            </a:xfrm>
            <a:custGeom>
              <a:avLst/>
              <a:gdLst/>
              <a:ahLst/>
              <a:cxnLst/>
              <a:rect l="l" t="t" r="r" b="b"/>
              <a:pathLst>
                <a:path w="6043930" h="4207510">
                  <a:moveTo>
                    <a:pt x="5942330" y="1270"/>
                  </a:moveTo>
                  <a:cubicBezTo>
                    <a:pt x="5998210" y="1270"/>
                    <a:pt x="6043930" y="46990"/>
                    <a:pt x="6043930" y="102870"/>
                  </a:cubicBezTo>
                  <a:lnTo>
                    <a:pt x="6043930" y="4105910"/>
                  </a:lnTo>
                  <a:cubicBezTo>
                    <a:pt x="6043930" y="4161790"/>
                    <a:pt x="5998210" y="4207510"/>
                    <a:pt x="5942330" y="4207510"/>
                  </a:cubicBezTo>
                  <a:lnTo>
                    <a:pt x="101600" y="4207510"/>
                  </a:lnTo>
                  <a:cubicBezTo>
                    <a:pt x="45720" y="4207510"/>
                    <a:pt x="0" y="4161790"/>
                    <a:pt x="0" y="4105910"/>
                  </a:cubicBezTo>
                  <a:lnTo>
                    <a:pt x="0" y="101600"/>
                  </a:lnTo>
                  <a:cubicBezTo>
                    <a:pt x="0" y="45720"/>
                    <a:pt x="45720" y="0"/>
                    <a:pt x="101600" y="0"/>
                  </a:cubicBezTo>
                  <a:lnTo>
                    <a:pt x="5942330" y="0"/>
                  </a:lnTo>
                  <a:close/>
                </a:path>
              </a:pathLst>
            </a:custGeom>
            <a:blipFill>
              <a:blip r:embed="rId4"/>
              <a:stretch>
                <a:fillRect l="-18106" t="-10478" r="-16162" b="-26219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953089" y="120650"/>
              <a:ext cx="76541" cy="76201"/>
            </a:xfrm>
            <a:custGeom>
              <a:avLst/>
              <a:gdLst/>
              <a:ahLst/>
              <a:cxnLst/>
              <a:rect l="l" t="t" r="r" b="b"/>
              <a:pathLst>
                <a:path w="76541" h="76201">
                  <a:moveTo>
                    <a:pt x="38271" y="0"/>
                  </a:moveTo>
                  <a:cubicBezTo>
                    <a:pt x="24619" y="-61"/>
                    <a:pt x="11977" y="7187"/>
                    <a:pt x="5133" y="19001"/>
                  </a:cubicBezTo>
                  <a:cubicBezTo>
                    <a:pt x="-1711" y="30814"/>
                    <a:pt x="-1711" y="45386"/>
                    <a:pt x="5133" y="57199"/>
                  </a:cubicBezTo>
                  <a:cubicBezTo>
                    <a:pt x="11977" y="69013"/>
                    <a:pt x="24619" y="76261"/>
                    <a:pt x="38271" y="76200"/>
                  </a:cubicBezTo>
                  <a:cubicBezTo>
                    <a:pt x="51923" y="76261"/>
                    <a:pt x="64565" y="69013"/>
                    <a:pt x="71409" y="57199"/>
                  </a:cubicBezTo>
                  <a:cubicBezTo>
                    <a:pt x="78253" y="45386"/>
                    <a:pt x="78253" y="30814"/>
                    <a:pt x="71409" y="19001"/>
                  </a:cubicBezTo>
                  <a:cubicBezTo>
                    <a:pt x="64565" y="7187"/>
                    <a:pt x="51923" y="-61"/>
                    <a:pt x="38271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2121925" y="104139"/>
              <a:ext cx="109709" cy="109221"/>
            </a:xfrm>
            <a:custGeom>
              <a:avLst/>
              <a:gdLst/>
              <a:ahLst/>
              <a:cxnLst/>
              <a:rect l="l" t="t" r="r" b="b"/>
              <a:pathLst>
                <a:path w="109709" h="109221">
                  <a:moveTo>
                    <a:pt x="54855" y="1"/>
                  </a:moveTo>
                  <a:cubicBezTo>
                    <a:pt x="35287" y="-87"/>
                    <a:pt x="17167" y="10303"/>
                    <a:pt x="7357" y="27235"/>
                  </a:cubicBezTo>
                  <a:cubicBezTo>
                    <a:pt x="-2452" y="44168"/>
                    <a:pt x="-2452" y="65054"/>
                    <a:pt x="7357" y="81987"/>
                  </a:cubicBezTo>
                  <a:cubicBezTo>
                    <a:pt x="17167" y="98919"/>
                    <a:pt x="35287" y="109309"/>
                    <a:pt x="54855" y="109221"/>
                  </a:cubicBezTo>
                  <a:cubicBezTo>
                    <a:pt x="74423" y="109309"/>
                    <a:pt x="92543" y="98919"/>
                    <a:pt x="102352" y="81987"/>
                  </a:cubicBezTo>
                  <a:cubicBezTo>
                    <a:pt x="112162" y="65054"/>
                    <a:pt x="112162" y="44168"/>
                    <a:pt x="102352" y="27235"/>
                  </a:cubicBezTo>
                  <a:cubicBezTo>
                    <a:pt x="92543" y="10303"/>
                    <a:pt x="74423" y="-87"/>
                    <a:pt x="54855" y="1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2330313" y="128270"/>
              <a:ext cx="61233" cy="60961"/>
            </a:xfrm>
            <a:custGeom>
              <a:avLst/>
              <a:gdLst/>
              <a:ahLst/>
              <a:cxnLst/>
              <a:rect l="l" t="t" r="r" b="b"/>
              <a:pathLst>
                <a:path w="61233" h="60961">
                  <a:moveTo>
                    <a:pt x="30617" y="0"/>
                  </a:moveTo>
                  <a:cubicBezTo>
                    <a:pt x="19695" y="-49"/>
                    <a:pt x="9582" y="5750"/>
                    <a:pt x="4107" y="15201"/>
                  </a:cubicBezTo>
                  <a:cubicBezTo>
                    <a:pt x="-1369" y="24651"/>
                    <a:pt x="-1369" y="36309"/>
                    <a:pt x="4107" y="45759"/>
                  </a:cubicBezTo>
                  <a:cubicBezTo>
                    <a:pt x="9582" y="55210"/>
                    <a:pt x="19695" y="61009"/>
                    <a:pt x="30617" y="60960"/>
                  </a:cubicBezTo>
                  <a:cubicBezTo>
                    <a:pt x="41539" y="61009"/>
                    <a:pt x="51652" y="55210"/>
                    <a:pt x="57127" y="45759"/>
                  </a:cubicBezTo>
                  <a:cubicBezTo>
                    <a:pt x="62602" y="36309"/>
                    <a:pt x="62602" y="24651"/>
                    <a:pt x="57127" y="15201"/>
                  </a:cubicBezTo>
                  <a:cubicBezTo>
                    <a:pt x="51652" y="5750"/>
                    <a:pt x="41539" y="-49"/>
                    <a:pt x="30617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346897" y="144780"/>
              <a:ext cx="28065" cy="27940"/>
            </a:xfrm>
            <a:custGeom>
              <a:avLst/>
              <a:gdLst/>
              <a:ahLst/>
              <a:cxnLst/>
              <a:rect l="l" t="t" r="r" b="b"/>
              <a:pathLst>
                <a:path w="28065" h="27940">
                  <a:moveTo>
                    <a:pt x="14033" y="0"/>
                  </a:moveTo>
                  <a:cubicBezTo>
                    <a:pt x="9027" y="-22"/>
                    <a:pt x="4392" y="2635"/>
                    <a:pt x="1882" y="6967"/>
                  </a:cubicBezTo>
                  <a:cubicBezTo>
                    <a:pt x="-627" y="11298"/>
                    <a:pt x="-627" y="16642"/>
                    <a:pt x="1882" y="20973"/>
                  </a:cubicBezTo>
                  <a:cubicBezTo>
                    <a:pt x="4392" y="25305"/>
                    <a:pt x="9027" y="27962"/>
                    <a:pt x="14033" y="27940"/>
                  </a:cubicBezTo>
                  <a:cubicBezTo>
                    <a:pt x="19039" y="27962"/>
                    <a:pt x="23674" y="25305"/>
                    <a:pt x="26184" y="20973"/>
                  </a:cubicBezTo>
                  <a:cubicBezTo>
                    <a:pt x="28693" y="16642"/>
                    <a:pt x="28693" y="11298"/>
                    <a:pt x="26184" y="6967"/>
                  </a:cubicBezTo>
                  <a:cubicBezTo>
                    <a:pt x="23674" y="2635"/>
                    <a:pt x="19039" y="-22"/>
                    <a:pt x="14033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2344386" y="144780"/>
              <a:ext cx="15308" cy="15240"/>
            </a:xfrm>
            <a:custGeom>
              <a:avLst/>
              <a:gdLst/>
              <a:ahLst/>
              <a:cxnLst/>
              <a:rect l="l" t="t" r="r" b="b"/>
              <a:pathLst>
                <a:path w="15308" h="15240">
                  <a:moveTo>
                    <a:pt x="7654" y="0"/>
                  </a:moveTo>
                  <a:cubicBezTo>
                    <a:pt x="4924" y="-12"/>
                    <a:pt x="2395" y="1437"/>
                    <a:pt x="1026" y="3800"/>
                  </a:cubicBezTo>
                  <a:cubicBezTo>
                    <a:pt x="-342" y="6163"/>
                    <a:pt x="-342" y="9077"/>
                    <a:pt x="1026" y="11440"/>
                  </a:cubicBezTo>
                  <a:cubicBezTo>
                    <a:pt x="2395" y="13803"/>
                    <a:pt x="4924" y="15252"/>
                    <a:pt x="7654" y="15240"/>
                  </a:cubicBezTo>
                  <a:cubicBezTo>
                    <a:pt x="10384" y="15252"/>
                    <a:pt x="12913" y="13803"/>
                    <a:pt x="14281" y="11440"/>
                  </a:cubicBezTo>
                  <a:cubicBezTo>
                    <a:pt x="15650" y="9077"/>
                    <a:pt x="15650" y="6163"/>
                    <a:pt x="14281" y="3800"/>
                  </a:cubicBezTo>
                  <a:cubicBezTo>
                    <a:pt x="12913" y="1437"/>
                    <a:pt x="10384" y="-12"/>
                    <a:pt x="7654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4716780" y="53467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4716780" y="86106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4064000" y="-113"/>
              <a:ext cx="320040" cy="16623"/>
            </a:xfrm>
            <a:custGeom>
              <a:avLst/>
              <a:gdLst/>
              <a:ahLst/>
              <a:cxnLst/>
              <a:rect l="l" t="t" r="r" b="b"/>
              <a:pathLst>
                <a:path w="320040" h="16623">
                  <a:moveTo>
                    <a:pt x="0" y="16623"/>
                  </a:moveTo>
                  <a:lnTo>
                    <a:pt x="320040" y="16623"/>
                  </a:lnTo>
                  <a:cubicBezTo>
                    <a:pt x="320040" y="-2427"/>
                    <a:pt x="304800" y="113"/>
                    <a:pt x="285750" y="113"/>
                  </a:cubicBezTo>
                  <a:lnTo>
                    <a:pt x="34290" y="113"/>
                  </a:lnTo>
                  <a:cubicBezTo>
                    <a:pt x="15240" y="113"/>
                    <a:pt x="0" y="-2427"/>
                    <a:pt x="0" y="16623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6" name="AutoShape 26"/>
          <p:cNvSpPr/>
          <p:nvPr/>
        </p:nvSpPr>
        <p:spPr>
          <a:xfrm>
            <a:off x="-803490" y="1581949"/>
            <a:ext cx="4369456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27" name="AutoShape 27"/>
          <p:cNvSpPr/>
          <p:nvPr/>
        </p:nvSpPr>
        <p:spPr>
          <a:xfrm>
            <a:off x="14722034" y="1610524"/>
            <a:ext cx="4369456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28" name="TextBox 28"/>
          <p:cNvSpPr txBox="1"/>
          <p:nvPr/>
        </p:nvSpPr>
        <p:spPr>
          <a:xfrm>
            <a:off x="3798592" y="1323975"/>
            <a:ext cx="10689901" cy="770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180"/>
              </a:lnSpc>
              <a:spcBef>
                <a:spcPct val="0"/>
              </a:spcBef>
            </a:pPr>
            <a:r>
              <a:rPr lang="en-US" sz="7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PCB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B5CCF75-D511-9EE8-CC76-3AB2B723AF50}"/>
              </a:ext>
            </a:extLst>
          </p:cNvPr>
          <p:cNvGrpSpPr/>
          <p:nvPr/>
        </p:nvGrpSpPr>
        <p:grpSpPr>
          <a:xfrm>
            <a:off x="-577060" y="3861421"/>
            <a:ext cx="4764699" cy="4505745"/>
            <a:chOff x="-577060" y="3861421"/>
            <a:chExt cx="4764699" cy="4505745"/>
          </a:xfrm>
        </p:grpSpPr>
        <p:grpSp>
          <p:nvGrpSpPr>
            <p:cNvPr id="20" name="Group 20"/>
            <p:cNvGrpSpPr/>
            <p:nvPr/>
          </p:nvGrpSpPr>
          <p:grpSpPr>
            <a:xfrm>
              <a:off x="-577060" y="3861421"/>
              <a:ext cx="4764699" cy="4505745"/>
              <a:chOff x="0" y="0"/>
              <a:chExt cx="1451865" cy="137295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1451864" cy="1372958"/>
              </a:xfrm>
              <a:custGeom>
                <a:avLst/>
                <a:gdLst/>
                <a:ahLst/>
                <a:cxnLst/>
                <a:rect l="l" t="t" r="r" b="b"/>
                <a:pathLst>
                  <a:path w="1451864" h="1372958">
                    <a:moveTo>
                      <a:pt x="40621" y="0"/>
                    </a:moveTo>
                    <a:lnTo>
                      <a:pt x="1411243" y="0"/>
                    </a:lnTo>
                    <a:cubicBezTo>
                      <a:pt x="1422017" y="0"/>
                      <a:pt x="1432349" y="4280"/>
                      <a:pt x="1439967" y="11898"/>
                    </a:cubicBezTo>
                    <a:cubicBezTo>
                      <a:pt x="1447585" y="19516"/>
                      <a:pt x="1451864" y="29848"/>
                      <a:pt x="1451864" y="40621"/>
                    </a:cubicBezTo>
                    <a:lnTo>
                      <a:pt x="1451864" y="1332337"/>
                    </a:lnTo>
                    <a:cubicBezTo>
                      <a:pt x="1451864" y="1343110"/>
                      <a:pt x="1447585" y="1353442"/>
                      <a:pt x="1439967" y="1361060"/>
                    </a:cubicBezTo>
                    <a:cubicBezTo>
                      <a:pt x="1432349" y="1368678"/>
                      <a:pt x="1422017" y="1372958"/>
                      <a:pt x="1411243" y="1372958"/>
                    </a:cubicBezTo>
                    <a:lnTo>
                      <a:pt x="40621" y="1372958"/>
                    </a:lnTo>
                    <a:cubicBezTo>
                      <a:pt x="29848" y="1372958"/>
                      <a:pt x="19516" y="1368678"/>
                      <a:pt x="11898" y="1361060"/>
                    </a:cubicBezTo>
                    <a:cubicBezTo>
                      <a:pt x="4280" y="1353442"/>
                      <a:pt x="0" y="1343110"/>
                      <a:pt x="0" y="1332337"/>
                    </a:cubicBezTo>
                    <a:lnTo>
                      <a:pt x="0" y="40621"/>
                    </a:lnTo>
                    <a:cubicBezTo>
                      <a:pt x="0" y="29848"/>
                      <a:pt x="4280" y="19516"/>
                      <a:pt x="11898" y="11898"/>
                    </a:cubicBezTo>
                    <a:cubicBezTo>
                      <a:pt x="19516" y="4280"/>
                      <a:pt x="29848" y="0"/>
                      <a:pt x="4062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47625"/>
                <a:ext cx="1451865" cy="14205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1028700" y="6057143"/>
              <a:ext cx="2304639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Vytvoření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elektrického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schématu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propojujícího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všechny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komponenty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hůlky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3041" y="4301398"/>
              <a:ext cx="3615958" cy="16478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00"/>
                </a:lnSpc>
              </a:pPr>
              <a:r>
                <a:rPr lang="en-US" sz="80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</a:t>
              </a:r>
              <a:r>
                <a:rPr lang="en-US" sz="80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Návrh</a:t>
              </a:r>
              <a:r>
                <a:rPr lang="en-US" sz="80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80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schématu</a:t>
              </a:r>
              <a:endParaRPr lang="en-US" sz="80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7C85C9E-9F3C-9CDE-3AF4-FB49A4112C82}"/>
              </a:ext>
            </a:extLst>
          </p:cNvPr>
          <p:cNvGrpSpPr/>
          <p:nvPr/>
        </p:nvGrpSpPr>
        <p:grpSpPr>
          <a:xfrm>
            <a:off x="14100361" y="3861421"/>
            <a:ext cx="4764699" cy="4505745"/>
            <a:chOff x="14100361" y="3861421"/>
            <a:chExt cx="4764699" cy="4505745"/>
          </a:xfrm>
        </p:grpSpPr>
        <p:grpSp>
          <p:nvGrpSpPr>
            <p:cNvPr id="23" name="Group 23"/>
            <p:cNvGrpSpPr/>
            <p:nvPr/>
          </p:nvGrpSpPr>
          <p:grpSpPr>
            <a:xfrm>
              <a:off x="14100361" y="3861421"/>
              <a:ext cx="4764699" cy="4505745"/>
              <a:chOff x="0" y="0"/>
              <a:chExt cx="1451865" cy="1372958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1451864" cy="1372958"/>
              </a:xfrm>
              <a:custGeom>
                <a:avLst/>
                <a:gdLst/>
                <a:ahLst/>
                <a:cxnLst/>
                <a:rect l="l" t="t" r="r" b="b"/>
                <a:pathLst>
                  <a:path w="1451864" h="1372958">
                    <a:moveTo>
                      <a:pt x="40621" y="0"/>
                    </a:moveTo>
                    <a:lnTo>
                      <a:pt x="1411243" y="0"/>
                    </a:lnTo>
                    <a:cubicBezTo>
                      <a:pt x="1422017" y="0"/>
                      <a:pt x="1432349" y="4280"/>
                      <a:pt x="1439967" y="11898"/>
                    </a:cubicBezTo>
                    <a:cubicBezTo>
                      <a:pt x="1447585" y="19516"/>
                      <a:pt x="1451864" y="29848"/>
                      <a:pt x="1451864" y="40621"/>
                    </a:cubicBezTo>
                    <a:lnTo>
                      <a:pt x="1451864" y="1332337"/>
                    </a:lnTo>
                    <a:cubicBezTo>
                      <a:pt x="1451864" y="1343110"/>
                      <a:pt x="1447585" y="1353442"/>
                      <a:pt x="1439967" y="1361060"/>
                    </a:cubicBezTo>
                    <a:cubicBezTo>
                      <a:pt x="1432349" y="1368678"/>
                      <a:pt x="1422017" y="1372958"/>
                      <a:pt x="1411243" y="1372958"/>
                    </a:cubicBezTo>
                    <a:lnTo>
                      <a:pt x="40621" y="1372958"/>
                    </a:lnTo>
                    <a:cubicBezTo>
                      <a:pt x="29848" y="1372958"/>
                      <a:pt x="19516" y="1368678"/>
                      <a:pt x="11898" y="1361060"/>
                    </a:cubicBezTo>
                    <a:cubicBezTo>
                      <a:pt x="4280" y="1353442"/>
                      <a:pt x="0" y="1343110"/>
                      <a:pt x="0" y="1332337"/>
                    </a:cubicBezTo>
                    <a:lnTo>
                      <a:pt x="0" y="40621"/>
                    </a:lnTo>
                    <a:cubicBezTo>
                      <a:pt x="0" y="29848"/>
                      <a:pt x="4280" y="19516"/>
                      <a:pt x="11898" y="11898"/>
                    </a:cubicBezTo>
                    <a:cubicBezTo>
                      <a:pt x="19516" y="4280"/>
                      <a:pt x="29848" y="0"/>
                      <a:pt x="4062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47625"/>
                <a:ext cx="1451865" cy="14205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4954661" y="6057143"/>
              <a:ext cx="2304639" cy="12154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Převod schématu do podoby vlastní desky plošných spojů v programu KiCad.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299001" y="4301398"/>
              <a:ext cx="3615958" cy="16478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00"/>
                </a:lnSpc>
              </a:pPr>
              <a:r>
                <a:rPr lang="en-US" sz="80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 </a:t>
              </a:r>
              <a:r>
                <a:rPr lang="en-US" sz="80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Návrh</a:t>
              </a:r>
              <a:r>
                <a:rPr lang="en-US" sz="80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PCB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 rot="-10800000">
            <a:off x="4527621" y="4468854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14134873" y="-1563445"/>
            <a:ext cx="5414402" cy="5184290"/>
          </a:xfrm>
          <a:custGeom>
            <a:avLst/>
            <a:gdLst/>
            <a:ahLst/>
            <a:cxnLst/>
            <a:rect l="l" t="t" r="r" b="b"/>
            <a:pathLst>
              <a:path w="5414402" h="5184290">
                <a:moveTo>
                  <a:pt x="0" y="0"/>
                </a:moveTo>
                <a:lnTo>
                  <a:pt x="5414401" y="0"/>
                </a:lnTo>
                <a:lnTo>
                  <a:pt x="5414401" y="5184290"/>
                </a:lnTo>
                <a:lnTo>
                  <a:pt x="0" y="51842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" name="Freeform 2"/>
          <p:cNvSpPr/>
          <p:nvPr/>
        </p:nvSpPr>
        <p:spPr>
          <a:xfrm rot="-5400000">
            <a:off x="2943662" y="-2743200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7685F2D-F244-F553-EA0A-7B668A462CE5}"/>
              </a:ext>
            </a:extLst>
          </p:cNvPr>
          <p:cNvGrpSpPr/>
          <p:nvPr/>
        </p:nvGrpSpPr>
        <p:grpSpPr>
          <a:xfrm>
            <a:off x="18922531" y="2538970"/>
            <a:ext cx="9804869" cy="1525955"/>
            <a:chOff x="7037204" y="2538970"/>
            <a:chExt cx="9804869" cy="1525955"/>
          </a:xfrm>
        </p:grpSpPr>
        <p:grpSp>
          <p:nvGrpSpPr>
            <p:cNvPr id="39" name="Group 12">
              <a:extLst>
                <a:ext uri="{FF2B5EF4-FFF2-40B4-BE49-F238E27FC236}">
                  <a16:creationId xmlns:a16="http://schemas.microsoft.com/office/drawing/2014/main" id="{94F6707C-B6C3-0FA5-A629-A8DAD823C279}"/>
                </a:ext>
              </a:extLst>
            </p:cNvPr>
            <p:cNvGrpSpPr/>
            <p:nvPr/>
          </p:nvGrpSpPr>
          <p:grpSpPr>
            <a:xfrm>
              <a:off x="7037204" y="2538970"/>
              <a:ext cx="9804869" cy="1525955"/>
              <a:chOff x="0" y="-47625"/>
              <a:chExt cx="2643200" cy="411368"/>
            </a:xfrm>
          </p:grpSpPr>
          <p:sp>
            <p:nvSpPr>
              <p:cNvPr id="42" name="Freeform 13">
                <a:extLst>
                  <a:ext uri="{FF2B5EF4-FFF2-40B4-BE49-F238E27FC236}">
                    <a16:creationId xmlns:a16="http://schemas.microsoft.com/office/drawing/2014/main" id="{C6961670-171E-EB0F-887C-3AD24B6E7108}"/>
                  </a:ext>
                </a:extLst>
              </p:cNvPr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 dirty="0"/>
              </a:p>
            </p:txBody>
          </p:sp>
          <p:sp>
            <p:nvSpPr>
              <p:cNvPr id="43" name="TextBox 14">
                <a:extLst>
                  <a:ext uri="{FF2B5EF4-FFF2-40B4-BE49-F238E27FC236}">
                    <a16:creationId xmlns:a16="http://schemas.microsoft.com/office/drawing/2014/main" id="{9C798FDE-6C96-A8FD-19CB-E774CB50536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40" name="TextBox 30">
              <a:extLst>
                <a:ext uri="{FF2B5EF4-FFF2-40B4-BE49-F238E27FC236}">
                  <a16:creationId xmlns:a16="http://schemas.microsoft.com/office/drawing/2014/main" id="{64DE46D1-C7F5-C9E4-9CCA-0F158CE24343}"/>
                </a:ext>
              </a:extLst>
            </p:cNvPr>
            <p:cNvSpPr txBox="1"/>
            <p:nvPr/>
          </p:nvSpPr>
          <p:spPr>
            <a:xfrm>
              <a:off x="10547628" y="3211196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lavní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řídicí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jednotka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systému</a:t>
              </a:r>
              <a:endParaRPr lang="en-US" sz="1600" u="none" strike="noStrike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41" name="TextBox 31">
              <a:extLst>
                <a:ext uri="{FF2B5EF4-FFF2-40B4-BE49-F238E27FC236}">
                  <a16:creationId xmlns:a16="http://schemas.microsoft.com/office/drawing/2014/main" id="{CE1DDD49-21DF-9AC9-851D-0C88135E91BA}"/>
                </a:ext>
              </a:extLst>
            </p:cNvPr>
            <p:cNvSpPr txBox="1"/>
            <p:nvPr/>
          </p:nvSpPr>
          <p:spPr>
            <a:xfrm>
              <a:off x="7708090" y="2986433"/>
              <a:ext cx="2233944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ESP32-C6</a:t>
              </a:r>
            </a:p>
          </p:txBody>
        </p:sp>
      </p:grpSp>
      <p:sp>
        <p:nvSpPr>
          <p:cNvPr id="3" name="Freeform 3"/>
          <p:cNvSpPr/>
          <p:nvPr/>
        </p:nvSpPr>
        <p:spPr>
          <a:xfrm rot="-5400000">
            <a:off x="13928287" y="2849604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1296076" y="1323975"/>
            <a:ext cx="6163389" cy="12195325"/>
            <a:chOff x="0" y="0"/>
            <a:chExt cx="2620010" cy="5184140"/>
          </a:xfrm>
        </p:grpSpPr>
        <p:sp>
          <p:nvSpPr>
            <p:cNvPr id="19" name="Freeform 19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4"/>
              <a:stretch>
                <a:fillRect l="-193080" t="-23127" r="-181266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8" name="Freeform 28"/>
          <p:cNvSpPr/>
          <p:nvPr/>
        </p:nvSpPr>
        <p:spPr>
          <a:xfrm rot="-5400000">
            <a:off x="-2519171" y="6021991"/>
            <a:ext cx="7472928" cy="6931140"/>
          </a:xfrm>
          <a:custGeom>
            <a:avLst/>
            <a:gdLst/>
            <a:ahLst/>
            <a:cxnLst/>
            <a:rect l="l" t="t" r="r" b="b"/>
            <a:pathLst>
              <a:path w="7472928" h="6931140">
                <a:moveTo>
                  <a:pt x="0" y="0"/>
                </a:moveTo>
                <a:lnTo>
                  <a:pt x="7472928" y="0"/>
                </a:lnTo>
                <a:lnTo>
                  <a:pt x="7472928" y="6931140"/>
                </a:lnTo>
                <a:lnTo>
                  <a:pt x="0" y="69311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9" name="TextBox 29"/>
          <p:cNvSpPr txBox="1"/>
          <p:nvPr/>
        </p:nvSpPr>
        <p:spPr>
          <a:xfrm>
            <a:off x="9190830" y="1519659"/>
            <a:ext cx="5497617" cy="79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28"/>
              </a:lnSpc>
              <a:spcBef>
                <a:spcPct val="0"/>
              </a:spcBef>
            </a:pPr>
            <a:r>
              <a:rPr lang="en-US" sz="72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HARDWARE HŮLKY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-10800000">
            <a:off x="14134873" y="-1563445"/>
            <a:ext cx="5414402" cy="5184290"/>
          </a:xfrm>
          <a:custGeom>
            <a:avLst/>
            <a:gdLst/>
            <a:ahLst/>
            <a:cxnLst/>
            <a:rect l="l" t="t" r="r" b="b"/>
            <a:pathLst>
              <a:path w="5414402" h="5184290">
                <a:moveTo>
                  <a:pt x="0" y="0"/>
                </a:moveTo>
                <a:lnTo>
                  <a:pt x="5414401" y="0"/>
                </a:lnTo>
                <a:lnTo>
                  <a:pt x="5414401" y="5184290"/>
                </a:lnTo>
                <a:lnTo>
                  <a:pt x="0" y="51842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" name="Freeform 2"/>
          <p:cNvSpPr/>
          <p:nvPr/>
        </p:nvSpPr>
        <p:spPr>
          <a:xfrm rot="-5400000">
            <a:off x="2943662" y="-2743200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6350728-C53A-02FC-C73B-EC3AEDD5E25D}"/>
              </a:ext>
            </a:extLst>
          </p:cNvPr>
          <p:cNvGrpSpPr/>
          <p:nvPr/>
        </p:nvGrpSpPr>
        <p:grpSpPr>
          <a:xfrm>
            <a:off x="7037204" y="2538970"/>
            <a:ext cx="9804869" cy="1525955"/>
            <a:chOff x="7037204" y="2538970"/>
            <a:chExt cx="9804869" cy="1525955"/>
          </a:xfrm>
        </p:grpSpPr>
        <p:grpSp>
          <p:nvGrpSpPr>
            <p:cNvPr id="39" name="Group 12">
              <a:extLst>
                <a:ext uri="{FF2B5EF4-FFF2-40B4-BE49-F238E27FC236}">
                  <a16:creationId xmlns:a16="http://schemas.microsoft.com/office/drawing/2014/main" id="{784AFC98-0B9E-4322-13E8-13E99E8B0641}"/>
                </a:ext>
              </a:extLst>
            </p:cNvPr>
            <p:cNvGrpSpPr/>
            <p:nvPr/>
          </p:nvGrpSpPr>
          <p:grpSpPr>
            <a:xfrm>
              <a:off x="7037204" y="2538970"/>
              <a:ext cx="9804869" cy="1525955"/>
              <a:chOff x="0" y="-47625"/>
              <a:chExt cx="2643200" cy="411368"/>
            </a:xfrm>
          </p:grpSpPr>
          <p:sp>
            <p:nvSpPr>
              <p:cNvPr id="42" name="Freeform 13">
                <a:extLst>
                  <a:ext uri="{FF2B5EF4-FFF2-40B4-BE49-F238E27FC236}">
                    <a16:creationId xmlns:a16="http://schemas.microsoft.com/office/drawing/2014/main" id="{72ECCAF5-A67D-AD5E-BF2B-1F47F2F8B0AA}"/>
                  </a:ext>
                </a:extLst>
              </p:cNvPr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 dirty="0"/>
              </a:p>
            </p:txBody>
          </p:sp>
          <p:sp>
            <p:nvSpPr>
              <p:cNvPr id="43" name="TextBox 14">
                <a:extLst>
                  <a:ext uri="{FF2B5EF4-FFF2-40B4-BE49-F238E27FC236}">
                    <a16:creationId xmlns:a16="http://schemas.microsoft.com/office/drawing/2014/main" id="{7D732AD1-517C-1C60-12E0-0D59264162D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40" name="TextBox 30">
              <a:extLst>
                <a:ext uri="{FF2B5EF4-FFF2-40B4-BE49-F238E27FC236}">
                  <a16:creationId xmlns:a16="http://schemas.microsoft.com/office/drawing/2014/main" id="{3650956A-99E3-4986-09E8-B272E7EB233C}"/>
                </a:ext>
              </a:extLst>
            </p:cNvPr>
            <p:cNvSpPr txBox="1"/>
            <p:nvPr/>
          </p:nvSpPr>
          <p:spPr>
            <a:xfrm>
              <a:off x="10547628" y="3211196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lavní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řídicí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jednotka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systému</a:t>
              </a:r>
              <a:endParaRPr lang="en-US" sz="1600" u="none" strike="noStrike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41" name="TextBox 31">
              <a:extLst>
                <a:ext uri="{FF2B5EF4-FFF2-40B4-BE49-F238E27FC236}">
                  <a16:creationId xmlns:a16="http://schemas.microsoft.com/office/drawing/2014/main" id="{14CD8F79-DCCF-F96A-B28C-8C5439745105}"/>
                </a:ext>
              </a:extLst>
            </p:cNvPr>
            <p:cNvSpPr txBox="1"/>
            <p:nvPr/>
          </p:nvSpPr>
          <p:spPr>
            <a:xfrm>
              <a:off x="7708090" y="2986433"/>
              <a:ext cx="2233944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ESP32-C6</a:t>
              </a:r>
            </a:p>
          </p:txBody>
        </p:sp>
      </p:grpSp>
      <p:sp>
        <p:nvSpPr>
          <p:cNvPr id="4" name="Freeform 4"/>
          <p:cNvSpPr/>
          <p:nvPr/>
        </p:nvSpPr>
        <p:spPr>
          <a:xfrm rot="-10800000">
            <a:off x="4527621" y="4468854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-5400000">
            <a:off x="13928287" y="2849604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1296076" y="1323975"/>
            <a:ext cx="6163389" cy="12195325"/>
            <a:chOff x="0" y="0"/>
            <a:chExt cx="2620010" cy="5184140"/>
          </a:xfrm>
        </p:grpSpPr>
        <p:sp>
          <p:nvSpPr>
            <p:cNvPr id="19" name="Freeform 19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4"/>
              <a:stretch>
                <a:fillRect l="-193080" t="-23127" r="-181266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8" name="Freeform 28"/>
          <p:cNvSpPr/>
          <p:nvPr/>
        </p:nvSpPr>
        <p:spPr>
          <a:xfrm rot="-5400000">
            <a:off x="-2519171" y="6021991"/>
            <a:ext cx="7472928" cy="6931140"/>
          </a:xfrm>
          <a:custGeom>
            <a:avLst/>
            <a:gdLst/>
            <a:ahLst/>
            <a:cxnLst/>
            <a:rect l="l" t="t" r="r" b="b"/>
            <a:pathLst>
              <a:path w="7472928" h="6931140">
                <a:moveTo>
                  <a:pt x="0" y="0"/>
                </a:moveTo>
                <a:lnTo>
                  <a:pt x="7472928" y="0"/>
                </a:lnTo>
                <a:lnTo>
                  <a:pt x="7472928" y="6931140"/>
                </a:lnTo>
                <a:lnTo>
                  <a:pt x="0" y="69311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9" name="TextBox 29"/>
          <p:cNvSpPr txBox="1"/>
          <p:nvPr/>
        </p:nvSpPr>
        <p:spPr>
          <a:xfrm>
            <a:off x="9190830" y="1519659"/>
            <a:ext cx="5497617" cy="79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28"/>
              </a:lnSpc>
              <a:spcBef>
                <a:spcPct val="0"/>
              </a:spcBef>
            </a:pPr>
            <a:r>
              <a:rPr lang="en-US" sz="72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HARDWARE HŮLKY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B72296D-B865-236C-6CB0-711BDABC8587}"/>
              </a:ext>
            </a:extLst>
          </p:cNvPr>
          <p:cNvGrpSpPr/>
          <p:nvPr/>
        </p:nvGrpSpPr>
        <p:grpSpPr>
          <a:xfrm>
            <a:off x="19126200" y="4613993"/>
            <a:ext cx="9804869" cy="1349292"/>
            <a:chOff x="7037204" y="4613993"/>
            <a:chExt cx="9804869" cy="1349292"/>
          </a:xfrm>
        </p:grpSpPr>
        <p:grpSp>
          <p:nvGrpSpPr>
            <p:cNvPr id="45" name="Group 9">
              <a:extLst>
                <a:ext uri="{FF2B5EF4-FFF2-40B4-BE49-F238E27FC236}">
                  <a16:creationId xmlns:a16="http://schemas.microsoft.com/office/drawing/2014/main" id="{810A7C26-59F7-0A95-EC9C-5FF3ABAB7E13}"/>
                </a:ext>
              </a:extLst>
            </p:cNvPr>
            <p:cNvGrpSpPr/>
            <p:nvPr/>
          </p:nvGrpSpPr>
          <p:grpSpPr>
            <a:xfrm>
              <a:off x="7037204" y="4613993"/>
              <a:ext cx="9804869" cy="1349292"/>
              <a:chOff x="0" y="0"/>
              <a:chExt cx="2643200" cy="363743"/>
            </a:xfrm>
          </p:grpSpPr>
          <p:sp>
            <p:nvSpPr>
              <p:cNvPr id="48" name="Freeform 10">
                <a:extLst>
                  <a:ext uri="{FF2B5EF4-FFF2-40B4-BE49-F238E27FC236}">
                    <a16:creationId xmlns:a16="http://schemas.microsoft.com/office/drawing/2014/main" id="{9C89990A-09E2-27EA-C0D1-93EC7FFAD455}"/>
                  </a:ext>
                </a:extLst>
              </p:cNvPr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9" name="TextBox 11">
                <a:extLst>
                  <a:ext uri="{FF2B5EF4-FFF2-40B4-BE49-F238E27FC236}">
                    <a16:creationId xmlns:a16="http://schemas.microsoft.com/office/drawing/2014/main" id="{A322E076-7700-4463-242C-35506EC159B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46" name="TextBox 32">
              <a:extLst>
                <a:ext uri="{FF2B5EF4-FFF2-40B4-BE49-F238E27FC236}">
                  <a16:creationId xmlns:a16="http://schemas.microsoft.com/office/drawing/2014/main" id="{3F37C8AC-501C-B7D0-003D-F86C02A561D7}"/>
                </a:ext>
              </a:extLst>
            </p:cNvPr>
            <p:cNvSpPr txBox="1"/>
            <p:nvPr/>
          </p:nvSpPr>
          <p:spPr>
            <a:xfrm>
              <a:off x="10547628" y="5109556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BMI160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+ QMC5883L pro snímání pohybu a orientace</a:t>
              </a:r>
            </a:p>
          </p:txBody>
        </p:sp>
        <p:sp>
          <p:nvSpPr>
            <p:cNvPr id="47" name="TextBox 35">
              <a:extLst>
                <a:ext uri="{FF2B5EF4-FFF2-40B4-BE49-F238E27FC236}">
                  <a16:creationId xmlns:a16="http://schemas.microsoft.com/office/drawing/2014/main" id="{F282FBB4-8FDB-DA8B-6190-C841436076F7}"/>
                </a:ext>
              </a:extLst>
            </p:cNvPr>
            <p:cNvSpPr txBox="1"/>
            <p:nvPr/>
          </p:nvSpPr>
          <p:spPr>
            <a:xfrm>
              <a:off x="7708090" y="4846679"/>
              <a:ext cx="2233944" cy="998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Pohybové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  <a:p>
              <a:pPr algn="l">
                <a:lnSpc>
                  <a:spcPts val="37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     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senzory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 rot="-5400000">
            <a:off x="13928287" y="2849604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" name="Freeform 2"/>
          <p:cNvSpPr/>
          <p:nvPr/>
        </p:nvSpPr>
        <p:spPr>
          <a:xfrm rot="-5400000">
            <a:off x="2943662" y="-2743200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14134873" y="-1563445"/>
            <a:ext cx="5414402" cy="5184290"/>
          </a:xfrm>
          <a:custGeom>
            <a:avLst/>
            <a:gdLst/>
            <a:ahLst/>
            <a:cxnLst/>
            <a:rect l="l" t="t" r="r" b="b"/>
            <a:pathLst>
              <a:path w="5414402" h="5184290">
                <a:moveTo>
                  <a:pt x="0" y="0"/>
                </a:moveTo>
                <a:lnTo>
                  <a:pt x="5414401" y="0"/>
                </a:lnTo>
                <a:lnTo>
                  <a:pt x="5414401" y="5184290"/>
                </a:lnTo>
                <a:lnTo>
                  <a:pt x="0" y="51842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4527621" y="4468854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4EF1CD6-31B5-AF8E-7193-9AC2F46D0709}"/>
              </a:ext>
            </a:extLst>
          </p:cNvPr>
          <p:cNvGrpSpPr/>
          <p:nvPr/>
        </p:nvGrpSpPr>
        <p:grpSpPr>
          <a:xfrm>
            <a:off x="7037204" y="4613993"/>
            <a:ext cx="9804869" cy="1349292"/>
            <a:chOff x="7037204" y="4613993"/>
            <a:chExt cx="9804869" cy="1349292"/>
          </a:xfrm>
        </p:grpSpPr>
        <p:grpSp>
          <p:nvGrpSpPr>
            <p:cNvPr id="45" name="Group 9">
              <a:extLst>
                <a:ext uri="{FF2B5EF4-FFF2-40B4-BE49-F238E27FC236}">
                  <a16:creationId xmlns:a16="http://schemas.microsoft.com/office/drawing/2014/main" id="{267516B8-F135-CCC4-41F5-E2C57DB2F10B}"/>
                </a:ext>
              </a:extLst>
            </p:cNvPr>
            <p:cNvGrpSpPr/>
            <p:nvPr/>
          </p:nvGrpSpPr>
          <p:grpSpPr>
            <a:xfrm>
              <a:off x="7037204" y="4613993"/>
              <a:ext cx="9804869" cy="1349292"/>
              <a:chOff x="0" y="0"/>
              <a:chExt cx="2643200" cy="363743"/>
            </a:xfrm>
          </p:grpSpPr>
          <p:sp>
            <p:nvSpPr>
              <p:cNvPr id="48" name="Freeform 10">
                <a:extLst>
                  <a:ext uri="{FF2B5EF4-FFF2-40B4-BE49-F238E27FC236}">
                    <a16:creationId xmlns:a16="http://schemas.microsoft.com/office/drawing/2014/main" id="{3C141B6E-B2F0-9EF8-E95A-30E924D0DFAC}"/>
                  </a:ext>
                </a:extLst>
              </p:cNvPr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9" name="TextBox 11">
                <a:extLst>
                  <a:ext uri="{FF2B5EF4-FFF2-40B4-BE49-F238E27FC236}">
                    <a16:creationId xmlns:a16="http://schemas.microsoft.com/office/drawing/2014/main" id="{BE9F517B-110E-2254-77B5-DEF01924EF8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46" name="TextBox 32">
              <a:extLst>
                <a:ext uri="{FF2B5EF4-FFF2-40B4-BE49-F238E27FC236}">
                  <a16:creationId xmlns:a16="http://schemas.microsoft.com/office/drawing/2014/main" id="{DE92A663-8019-F702-2679-2022BF2D1FFC}"/>
                </a:ext>
              </a:extLst>
            </p:cNvPr>
            <p:cNvSpPr txBox="1"/>
            <p:nvPr/>
          </p:nvSpPr>
          <p:spPr>
            <a:xfrm>
              <a:off x="10547628" y="5109556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BMI160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+ QMC5883L pro snímání pohybu a orientace</a:t>
              </a:r>
            </a:p>
          </p:txBody>
        </p:sp>
        <p:sp>
          <p:nvSpPr>
            <p:cNvPr id="47" name="TextBox 35">
              <a:extLst>
                <a:ext uri="{FF2B5EF4-FFF2-40B4-BE49-F238E27FC236}">
                  <a16:creationId xmlns:a16="http://schemas.microsoft.com/office/drawing/2014/main" id="{1E39C318-B2EF-4954-1051-E42EF5E08BC3}"/>
                </a:ext>
              </a:extLst>
            </p:cNvPr>
            <p:cNvSpPr txBox="1"/>
            <p:nvPr/>
          </p:nvSpPr>
          <p:spPr>
            <a:xfrm>
              <a:off x="7708090" y="4846679"/>
              <a:ext cx="2233944" cy="998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Pohybové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  <a:p>
              <a:pPr algn="l">
                <a:lnSpc>
                  <a:spcPts val="37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     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senzory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400F3FA-2B74-0204-E040-6F29B818824E}"/>
              </a:ext>
            </a:extLst>
          </p:cNvPr>
          <p:cNvGrpSpPr/>
          <p:nvPr/>
        </p:nvGrpSpPr>
        <p:grpSpPr>
          <a:xfrm>
            <a:off x="7037204" y="2538970"/>
            <a:ext cx="9804869" cy="1525955"/>
            <a:chOff x="7037204" y="2538970"/>
            <a:chExt cx="9804869" cy="1525955"/>
          </a:xfrm>
        </p:grpSpPr>
        <p:grpSp>
          <p:nvGrpSpPr>
            <p:cNvPr id="39" name="Group 12">
              <a:extLst>
                <a:ext uri="{FF2B5EF4-FFF2-40B4-BE49-F238E27FC236}">
                  <a16:creationId xmlns:a16="http://schemas.microsoft.com/office/drawing/2014/main" id="{3A94034A-C0C9-6C64-8EDC-B6A185DBA305}"/>
                </a:ext>
              </a:extLst>
            </p:cNvPr>
            <p:cNvGrpSpPr/>
            <p:nvPr/>
          </p:nvGrpSpPr>
          <p:grpSpPr>
            <a:xfrm>
              <a:off x="7037204" y="2538970"/>
              <a:ext cx="9804869" cy="1525955"/>
              <a:chOff x="0" y="-47625"/>
              <a:chExt cx="2643200" cy="411368"/>
            </a:xfrm>
          </p:grpSpPr>
          <p:sp>
            <p:nvSpPr>
              <p:cNvPr id="42" name="Freeform 13">
                <a:extLst>
                  <a:ext uri="{FF2B5EF4-FFF2-40B4-BE49-F238E27FC236}">
                    <a16:creationId xmlns:a16="http://schemas.microsoft.com/office/drawing/2014/main" id="{0CA6B51D-6BC6-3293-DFB2-FE241FE455A4}"/>
                  </a:ext>
                </a:extLst>
              </p:cNvPr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 dirty="0"/>
              </a:p>
            </p:txBody>
          </p:sp>
          <p:sp>
            <p:nvSpPr>
              <p:cNvPr id="43" name="TextBox 14">
                <a:extLst>
                  <a:ext uri="{FF2B5EF4-FFF2-40B4-BE49-F238E27FC236}">
                    <a16:creationId xmlns:a16="http://schemas.microsoft.com/office/drawing/2014/main" id="{550E0F73-454C-C134-5EC4-C239764E834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40" name="TextBox 30">
              <a:extLst>
                <a:ext uri="{FF2B5EF4-FFF2-40B4-BE49-F238E27FC236}">
                  <a16:creationId xmlns:a16="http://schemas.microsoft.com/office/drawing/2014/main" id="{4A25371D-8DD7-9DBB-5285-0132E1A9D155}"/>
                </a:ext>
              </a:extLst>
            </p:cNvPr>
            <p:cNvSpPr txBox="1"/>
            <p:nvPr/>
          </p:nvSpPr>
          <p:spPr>
            <a:xfrm>
              <a:off x="10547628" y="3211196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lavní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řídicí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jednotka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systému</a:t>
              </a:r>
              <a:endParaRPr lang="en-US" sz="1600" u="none" strike="noStrike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41" name="TextBox 31">
              <a:extLst>
                <a:ext uri="{FF2B5EF4-FFF2-40B4-BE49-F238E27FC236}">
                  <a16:creationId xmlns:a16="http://schemas.microsoft.com/office/drawing/2014/main" id="{5086DDD2-BF85-CBF0-77FE-56DA8358DE99}"/>
                </a:ext>
              </a:extLst>
            </p:cNvPr>
            <p:cNvSpPr txBox="1"/>
            <p:nvPr/>
          </p:nvSpPr>
          <p:spPr>
            <a:xfrm>
              <a:off x="7708090" y="2986433"/>
              <a:ext cx="2233944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ESP32-C6</a:t>
              </a:r>
            </a:p>
          </p:txBody>
        </p:sp>
      </p:grp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1296076" y="1323975"/>
            <a:ext cx="6163389" cy="12195325"/>
            <a:chOff x="0" y="0"/>
            <a:chExt cx="2620010" cy="5184140"/>
          </a:xfrm>
        </p:grpSpPr>
        <p:sp>
          <p:nvSpPr>
            <p:cNvPr id="19" name="Freeform 19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4"/>
              <a:stretch>
                <a:fillRect l="-193080" t="-23127" r="-181266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8" name="Freeform 28"/>
          <p:cNvSpPr/>
          <p:nvPr/>
        </p:nvSpPr>
        <p:spPr>
          <a:xfrm rot="-5400000">
            <a:off x="-2519171" y="6021991"/>
            <a:ext cx="7472928" cy="6931140"/>
          </a:xfrm>
          <a:custGeom>
            <a:avLst/>
            <a:gdLst/>
            <a:ahLst/>
            <a:cxnLst/>
            <a:rect l="l" t="t" r="r" b="b"/>
            <a:pathLst>
              <a:path w="7472928" h="6931140">
                <a:moveTo>
                  <a:pt x="0" y="0"/>
                </a:moveTo>
                <a:lnTo>
                  <a:pt x="7472928" y="0"/>
                </a:lnTo>
                <a:lnTo>
                  <a:pt x="7472928" y="6931140"/>
                </a:lnTo>
                <a:lnTo>
                  <a:pt x="0" y="6931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9" name="TextBox 29"/>
          <p:cNvSpPr txBox="1"/>
          <p:nvPr/>
        </p:nvSpPr>
        <p:spPr>
          <a:xfrm>
            <a:off x="9190830" y="1519659"/>
            <a:ext cx="5497617" cy="79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28"/>
              </a:lnSpc>
              <a:spcBef>
                <a:spcPct val="0"/>
              </a:spcBef>
            </a:pPr>
            <a:r>
              <a:rPr lang="en-US" sz="72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HARDWARE HŮLKY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EC81F9D-360C-949C-CDC4-5F1E50E2FA7C}"/>
              </a:ext>
            </a:extLst>
          </p:cNvPr>
          <p:cNvGrpSpPr/>
          <p:nvPr/>
        </p:nvGrpSpPr>
        <p:grpSpPr>
          <a:xfrm>
            <a:off x="18846331" y="6515736"/>
            <a:ext cx="9804869" cy="1349292"/>
            <a:chOff x="7037204" y="6515736"/>
            <a:chExt cx="9804869" cy="1349292"/>
          </a:xfrm>
        </p:grpSpPr>
        <p:grpSp>
          <p:nvGrpSpPr>
            <p:cNvPr id="51" name="Group 6">
              <a:extLst>
                <a:ext uri="{FF2B5EF4-FFF2-40B4-BE49-F238E27FC236}">
                  <a16:creationId xmlns:a16="http://schemas.microsoft.com/office/drawing/2014/main" id="{9117B888-0F96-6344-F3F6-8F1654B20A4E}"/>
                </a:ext>
              </a:extLst>
            </p:cNvPr>
            <p:cNvGrpSpPr/>
            <p:nvPr/>
          </p:nvGrpSpPr>
          <p:grpSpPr>
            <a:xfrm>
              <a:off x="7037204" y="6515736"/>
              <a:ext cx="9804869" cy="1349292"/>
              <a:chOff x="0" y="0"/>
              <a:chExt cx="2643200" cy="363743"/>
            </a:xfrm>
          </p:grpSpPr>
          <p:sp>
            <p:nvSpPr>
              <p:cNvPr id="54" name="Freeform 7">
                <a:extLst>
                  <a:ext uri="{FF2B5EF4-FFF2-40B4-BE49-F238E27FC236}">
                    <a16:creationId xmlns:a16="http://schemas.microsoft.com/office/drawing/2014/main" id="{57FD2706-56B4-0CD1-B9F3-F4B85F2D4BD0}"/>
                  </a:ext>
                </a:extLst>
              </p:cNvPr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5" name="TextBox 8">
                <a:extLst>
                  <a:ext uri="{FF2B5EF4-FFF2-40B4-BE49-F238E27FC236}">
                    <a16:creationId xmlns:a16="http://schemas.microsoft.com/office/drawing/2014/main" id="{E821743A-429F-7DEB-4803-829398F8B52C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52" name="TextBox 33">
              <a:extLst>
                <a:ext uri="{FF2B5EF4-FFF2-40B4-BE49-F238E27FC236}">
                  <a16:creationId xmlns:a16="http://schemas.microsoft.com/office/drawing/2014/main" id="{2CC43A2E-E17B-7C01-F2AE-BFE7EF4D197F}"/>
                </a:ext>
              </a:extLst>
            </p:cNvPr>
            <p:cNvSpPr txBox="1"/>
            <p:nvPr/>
          </p:nvSpPr>
          <p:spPr>
            <a:xfrm>
              <a:off x="10547628" y="7011298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Přesné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určování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polohy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hráče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prostoru</a:t>
              </a:r>
              <a:endParaRPr lang="en-US" sz="1600" u="none" strike="noStrike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53" name="TextBox 36">
              <a:extLst>
                <a:ext uri="{FF2B5EF4-FFF2-40B4-BE49-F238E27FC236}">
                  <a16:creationId xmlns:a16="http://schemas.microsoft.com/office/drawing/2014/main" id="{72A169F9-2F4D-298A-8FD8-128909BFBC5B}"/>
                </a:ext>
              </a:extLst>
            </p:cNvPr>
            <p:cNvSpPr txBox="1"/>
            <p:nvPr/>
          </p:nvSpPr>
          <p:spPr>
            <a:xfrm>
              <a:off x="7708090" y="6786535"/>
              <a:ext cx="2463566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03 UWB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modul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 rot="-5400000">
            <a:off x="13928287" y="2849604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4527621" y="4468854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14134873" y="-1563445"/>
            <a:ext cx="5414402" cy="5184290"/>
          </a:xfrm>
          <a:custGeom>
            <a:avLst/>
            <a:gdLst/>
            <a:ahLst/>
            <a:cxnLst/>
            <a:rect l="l" t="t" r="r" b="b"/>
            <a:pathLst>
              <a:path w="5414402" h="5184290">
                <a:moveTo>
                  <a:pt x="0" y="0"/>
                </a:moveTo>
                <a:lnTo>
                  <a:pt x="5414401" y="0"/>
                </a:lnTo>
                <a:lnTo>
                  <a:pt x="5414401" y="5184290"/>
                </a:lnTo>
                <a:lnTo>
                  <a:pt x="0" y="51842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" name="Freeform 2"/>
          <p:cNvSpPr/>
          <p:nvPr/>
        </p:nvSpPr>
        <p:spPr>
          <a:xfrm rot="-5400000">
            <a:off x="2943662" y="-2743200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C17085C-115C-2635-B98A-332504C620DB}"/>
              </a:ext>
            </a:extLst>
          </p:cNvPr>
          <p:cNvGrpSpPr/>
          <p:nvPr/>
        </p:nvGrpSpPr>
        <p:grpSpPr>
          <a:xfrm>
            <a:off x="7037204" y="6515736"/>
            <a:ext cx="9804869" cy="1349292"/>
            <a:chOff x="7037204" y="6515736"/>
            <a:chExt cx="9804869" cy="1349292"/>
          </a:xfrm>
        </p:grpSpPr>
        <p:grpSp>
          <p:nvGrpSpPr>
            <p:cNvPr id="57" name="Group 6">
              <a:extLst>
                <a:ext uri="{FF2B5EF4-FFF2-40B4-BE49-F238E27FC236}">
                  <a16:creationId xmlns:a16="http://schemas.microsoft.com/office/drawing/2014/main" id="{9264F3F9-FF0B-1E1B-37EC-E8299C112012}"/>
                </a:ext>
              </a:extLst>
            </p:cNvPr>
            <p:cNvGrpSpPr/>
            <p:nvPr/>
          </p:nvGrpSpPr>
          <p:grpSpPr>
            <a:xfrm>
              <a:off x="7037204" y="6515736"/>
              <a:ext cx="9804869" cy="1349292"/>
              <a:chOff x="0" y="0"/>
              <a:chExt cx="2643200" cy="363743"/>
            </a:xfrm>
          </p:grpSpPr>
          <p:sp>
            <p:nvSpPr>
              <p:cNvPr id="60" name="Freeform 7">
                <a:extLst>
                  <a:ext uri="{FF2B5EF4-FFF2-40B4-BE49-F238E27FC236}">
                    <a16:creationId xmlns:a16="http://schemas.microsoft.com/office/drawing/2014/main" id="{C838063A-B8EB-77B1-8BDE-1B2E0C993F4C}"/>
                  </a:ext>
                </a:extLst>
              </p:cNvPr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1" name="TextBox 8">
                <a:extLst>
                  <a:ext uri="{FF2B5EF4-FFF2-40B4-BE49-F238E27FC236}">
                    <a16:creationId xmlns:a16="http://schemas.microsoft.com/office/drawing/2014/main" id="{EA3D8C1F-01CB-E46F-CC3D-69778374531B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58" name="TextBox 33">
              <a:extLst>
                <a:ext uri="{FF2B5EF4-FFF2-40B4-BE49-F238E27FC236}">
                  <a16:creationId xmlns:a16="http://schemas.microsoft.com/office/drawing/2014/main" id="{9C9253C6-00EA-178D-33C4-752637B0535E}"/>
                </a:ext>
              </a:extLst>
            </p:cNvPr>
            <p:cNvSpPr txBox="1"/>
            <p:nvPr/>
          </p:nvSpPr>
          <p:spPr>
            <a:xfrm>
              <a:off x="10547628" y="7011298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Přesné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určování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polohy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hráče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prostoru</a:t>
              </a:r>
              <a:endParaRPr lang="en-US" sz="1600" u="none" strike="noStrike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59" name="TextBox 36">
              <a:extLst>
                <a:ext uri="{FF2B5EF4-FFF2-40B4-BE49-F238E27FC236}">
                  <a16:creationId xmlns:a16="http://schemas.microsoft.com/office/drawing/2014/main" id="{47F84661-4175-FF97-3681-D3EFEDCFEF58}"/>
                </a:ext>
              </a:extLst>
            </p:cNvPr>
            <p:cNvSpPr txBox="1"/>
            <p:nvPr/>
          </p:nvSpPr>
          <p:spPr>
            <a:xfrm>
              <a:off x="7708090" y="6786535"/>
              <a:ext cx="2463566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03 UWB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modul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FDDE56A-CBD1-0CFF-22D5-87152204E878}"/>
              </a:ext>
            </a:extLst>
          </p:cNvPr>
          <p:cNvGrpSpPr/>
          <p:nvPr/>
        </p:nvGrpSpPr>
        <p:grpSpPr>
          <a:xfrm>
            <a:off x="7037204" y="4613993"/>
            <a:ext cx="9804869" cy="1349292"/>
            <a:chOff x="7037204" y="4613993"/>
            <a:chExt cx="9804869" cy="1349292"/>
          </a:xfrm>
        </p:grpSpPr>
        <p:grpSp>
          <p:nvGrpSpPr>
            <p:cNvPr id="51" name="Group 9">
              <a:extLst>
                <a:ext uri="{FF2B5EF4-FFF2-40B4-BE49-F238E27FC236}">
                  <a16:creationId xmlns:a16="http://schemas.microsoft.com/office/drawing/2014/main" id="{8935E24A-313E-923E-8A54-BE2E277E4CFC}"/>
                </a:ext>
              </a:extLst>
            </p:cNvPr>
            <p:cNvGrpSpPr/>
            <p:nvPr/>
          </p:nvGrpSpPr>
          <p:grpSpPr>
            <a:xfrm>
              <a:off x="7037204" y="4613993"/>
              <a:ext cx="9804869" cy="1349292"/>
              <a:chOff x="0" y="0"/>
              <a:chExt cx="2643200" cy="363743"/>
            </a:xfrm>
          </p:grpSpPr>
          <p:sp>
            <p:nvSpPr>
              <p:cNvPr id="54" name="Freeform 10">
                <a:extLst>
                  <a:ext uri="{FF2B5EF4-FFF2-40B4-BE49-F238E27FC236}">
                    <a16:creationId xmlns:a16="http://schemas.microsoft.com/office/drawing/2014/main" id="{9089ED62-01BF-E073-BF29-96BDF4D730F0}"/>
                  </a:ext>
                </a:extLst>
              </p:cNvPr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5" name="TextBox 11">
                <a:extLst>
                  <a:ext uri="{FF2B5EF4-FFF2-40B4-BE49-F238E27FC236}">
                    <a16:creationId xmlns:a16="http://schemas.microsoft.com/office/drawing/2014/main" id="{A6A3368F-710F-D8AA-3570-114AAE2E0C6E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52" name="TextBox 32">
              <a:extLst>
                <a:ext uri="{FF2B5EF4-FFF2-40B4-BE49-F238E27FC236}">
                  <a16:creationId xmlns:a16="http://schemas.microsoft.com/office/drawing/2014/main" id="{FC6752FA-E1A3-A4CA-A9FD-D14A8697FF26}"/>
                </a:ext>
              </a:extLst>
            </p:cNvPr>
            <p:cNvSpPr txBox="1"/>
            <p:nvPr/>
          </p:nvSpPr>
          <p:spPr>
            <a:xfrm>
              <a:off x="10547628" y="5109556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BMI160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+ QMC5883L pro snímání pohybu a orientace</a:t>
              </a:r>
            </a:p>
          </p:txBody>
        </p:sp>
        <p:sp>
          <p:nvSpPr>
            <p:cNvPr id="53" name="TextBox 35">
              <a:extLst>
                <a:ext uri="{FF2B5EF4-FFF2-40B4-BE49-F238E27FC236}">
                  <a16:creationId xmlns:a16="http://schemas.microsoft.com/office/drawing/2014/main" id="{9342FFAE-9E90-E065-1974-A14520194D71}"/>
                </a:ext>
              </a:extLst>
            </p:cNvPr>
            <p:cNvSpPr txBox="1"/>
            <p:nvPr/>
          </p:nvSpPr>
          <p:spPr>
            <a:xfrm>
              <a:off x="7708090" y="4846679"/>
              <a:ext cx="2233944" cy="998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Pohybové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  <a:p>
              <a:pPr algn="l">
                <a:lnSpc>
                  <a:spcPts val="37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     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senzory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0EED36D-CAD1-E0F1-F1E8-436EDEA9D4C4}"/>
              </a:ext>
            </a:extLst>
          </p:cNvPr>
          <p:cNvGrpSpPr/>
          <p:nvPr/>
        </p:nvGrpSpPr>
        <p:grpSpPr>
          <a:xfrm>
            <a:off x="7037204" y="2538970"/>
            <a:ext cx="9804869" cy="1525955"/>
            <a:chOff x="7037204" y="2538970"/>
            <a:chExt cx="9804869" cy="1525955"/>
          </a:xfrm>
        </p:grpSpPr>
        <p:grpSp>
          <p:nvGrpSpPr>
            <p:cNvPr id="45" name="Group 12">
              <a:extLst>
                <a:ext uri="{FF2B5EF4-FFF2-40B4-BE49-F238E27FC236}">
                  <a16:creationId xmlns:a16="http://schemas.microsoft.com/office/drawing/2014/main" id="{55A4A9F9-7855-9280-A142-BEA4DBC87FA7}"/>
                </a:ext>
              </a:extLst>
            </p:cNvPr>
            <p:cNvGrpSpPr/>
            <p:nvPr/>
          </p:nvGrpSpPr>
          <p:grpSpPr>
            <a:xfrm>
              <a:off x="7037204" y="2538970"/>
              <a:ext cx="9804869" cy="1525955"/>
              <a:chOff x="0" y="-47625"/>
              <a:chExt cx="2643200" cy="411368"/>
            </a:xfrm>
          </p:grpSpPr>
          <p:sp>
            <p:nvSpPr>
              <p:cNvPr id="48" name="Freeform 13">
                <a:extLst>
                  <a:ext uri="{FF2B5EF4-FFF2-40B4-BE49-F238E27FC236}">
                    <a16:creationId xmlns:a16="http://schemas.microsoft.com/office/drawing/2014/main" id="{1B65D0C9-D9BA-5D1F-9001-F8126595B288}"/>
                  </a:ext>
                </a:extLst>
              </p:cNvPr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 dirty="0"/>
              </a:p>
            </p:txBody>
          </p:sp>
          <p:sp>
            <p:nvSpPr>
              <p:cNvPr id="49" name="TextBox 14">
                <a:extLst>
                  <a:ext uri="{FF2B5EF4-FFF2-40B4-BE49-F238E27FC236}">
                    <a16:creationId xmlns:a16="http://schemas.microsoft.com/office/drawing/2014/main" id="{F59787F6-5808-4108-38CB-CE876B04F055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46" name="TextBox 30">
              <a:extLst>
                <a:ext uri="{FF2B5EF4-FFF2-40B4-BE49-F238E27FC236}">
                  <a16:creationId xmlns:a16="http://schemas.microsoft.com/office/drawing/2014/main" id="{9F68664F-DA66-C2EC-8B4A-2154789823CD}"/>
                </a:ext>
              </a:extLst>
            </p:cNvPr>
            <p:cNvSpPr txBox="1"/>
            <p:nvPr/>
          </p:nvSpPr>
          <p:spPr>
            <a:xfrm>
              <a:off x="10547628" y="3211196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lavní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řídicí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jednotka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systému</a:t>
              </a:r>
              <a:endParaRPr lang="en-US" sz="1600" u="none" strike="noStrike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47" name="TextBox 31">
              <a:extLst>
                <a:ext uri="{FF2B5EF4-FFF2-40B4-BE49-F238E27FC236}">
                  <a16:creationId xmlns:a16="http://schemas.microsoft.com/office/drawing/2014/main" id="{4F0DEF37-7B00-C385-8D5F-AC490446EB98}"/>
                </a:ext>
              </a:extLst>
            </p:cNvPr>
            <p:cNvSpPr txBox="1"/>
            <p:nvPr/>
          </p:nvSpPr>
          <p:spPr>
            <a:xfrm>
              <a:off x="7708090" y="2986433"/>
              <a:ext cx="2233944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ESP32-C6</a:t>
              </a:r>
            </a:p>
          </p:txBody>
        </p:sp>
      </p:grp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1296076" y="1323975"/>
            <a:ext cx="6163389" cy="12195325"/>
            <a:chOff x="0" y="0"/>
            <a:chExt cx="2620010" cy="5184140"/>
          </a:xfrm>
        </p:grpSpPr>
        <p:sp>
          <p:nvSpPr>
            <p:cNvPr id="19" name="Freeform 19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4"/>
              <a:stretch>
                <a:fillRect l="-193080" t="-23127" r="-181266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8" name="Freeform 28"/>
          <p:cNvSpPr/>
          <p:nvPr/>
        </p:nvSpPr>
        <p:spPr>
          <a:xfrm rot="-5400000">
            <a:off x="-2519171" y="6021991"/>
            <a:ext cx="7472928" cy="6931140"/>
          </a:xfrm>
          <a:custGeom>
            <a:avLst/>
            <a:gdLst/>
            <a:ahLst/>
            <a:cxnLst/>
            <a:rect l="l" t="t" r="r" b="b"/>
            <a:pathLst>
              <a:path w="7472928" h="6931140">
                <a:moveTo>
                  <a:pt x="0" y="0"/>
                </a:moveTo>
                <a:lnTo>
                  <a:pt x="7472928" y="0"/>
                </a:lnTo>
                <a:lnTo>
                  <a:pt x="7472928" y="6931140"/>
                </a:lnTo>
                <a:lnTo>
                  <a:pt x="0" y="6931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9" name="TextBox 29"/>
          <p:cNvSpPr txBox="1"/>
          <p:nvPr/>
        </p:nvSpPr>
        <p:spPr>
          <a:xfrm>
            <a:off x="9190830" y="1519659"/>
            <a:ext cx="5497617" cy="79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28"/>
              </a:lnSpc>
              <a:spcBef>
                <a:spcPct val="0"/>
              </a:spcBef>
            </a:pPr>
            <a:r>
              <a:rPr lang="en-US" sz="72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HARDWARE HŮLKY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384935D-53E9-7F95-EB57-478B8AB93F57}"/>
              </a:ext>
            </a:extLst>
          </p:cNvPr>
          <p:cNvGrpSpPr/>
          <p:nvPr/>
        </p:nvGrpSpPr>
        <p:grpSpPr>
          <a:xfrm>
            <a:off x="18617731" y="8417478"/>
            <a:ext cx="9804869" cy="1349292"/>
            <a:chOff x="7037204" y="8417478"/>
            <a:chExt cx="9804869" cy="1349292"/>
          </a:xfrm>
        </p:grpSpPr>
        <p:grpSp>
          <p:nvGrpSpPr>
            <p:cNvPr id="63" name="Group 15">
              <a:extLst>
                <a:ext uri="{FF2B5EF4-FFF2-40B4-BE49-F238E27FC236}">
                  <a16:creationId xmlns:a16="http://schemas.microsoft.com/office/drawing/2014/main" id="{6DE1A2F6-5D2E-16A1-7165-8E67802FE9FD}"/>
                </a:ext>
              </a:extLst>
            </p:cNvPr>
            <p:cNvGrpSpPr/>
            <p:nvPr/>
          </p:nvGrpSpPr>
          <p:grpSpPr>
            <a:xfrm>
              <a:off x="7037204" y="8417478"/>
              <a:ext cx="9804869" cy="1349292"/>
              <a:chOff x="0" y="0"/>
              <a:chExt cx="2643200" cy="363743"/>
            </a:xfrm>
          </p:grpSpPr>
          <p:sp>
            <p:nvSpPr>
              <p:cNvPr id="66" name="Freeform 16">
                <a:extLst>
                  <a:ext uri="{FF2B5EF4-FFF2-40B4-BE49-F238E27FC236}">
                    <a16:creationId xmlns:a16="http://schemas.microsoft.com/office/drawing/2014/main" id="{9687BD76-1FB9-5553-4E82-9664C0C96F1F}"/>
                  </a:ext>
                </a:extLst>
              </p:cNvPr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67" name="TextBox 17">
                <a:extLst>
                  <a:ext uri="{FF2B5EF4-FFF2-40B4-BE49-F238E27FC236}">
                    <a16:creationId xmlns:a16="http://schemas.microsoft.com/office/drawing/2014/main" id="{9E8CFAE7-593A-9DFA-FB98-F6452AA1F8E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64" name="TextBox 34">
              <a:extLst>
                <a:ext uri="{FF2B5EF4-FFF2-40B4-BE49-F238E27FC236}">
                  <a16:creationId xmlns:a16="http://schemas.microsoft.com/office/drawing/2014/main" id="{7CD0E476-E656-37C8-941C-715CE46EF99B}"/>
                </a:ext>
              </a:extLst>
            </p:cNvPr>
            <p:cNvSpPr txBox="1"/>
            <p:nvPr/>
          </p:nvSpPr>
          <p:spPr>
            <a:xfrm>
              <a:off x="10547628" y="8913083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18650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+ USB-C nabíjení</a:t>
              </a:r>
            </a:p>
          </p:txBody>
        </p:sp>
        <p:sp>
          <p:nvSpPr>
            <p:cNvPr id="65" name="TextBox 37">
              <a:extLst>
                <a:ext uri="{FF2B5EF4-FFF2-40B4-BE49-F238E27FC236}">
                  <a16:creationId xmlns:a16="http://schemas.microsoft.com/office/drawing/2014/main" id="{079124B6-3E6B-FE30-0868-8909C6C35E02}"/>
                </a:ext>
              </a:extLst>
            </p:cNvPr>
            <p:cNvSpPr txBox="1"/>
            <p:nvPr/>
          </p:nvSpPr>
          <p:spPr>
            <a:xfrm>
              <a:off x="7708090" y="8688320"/>
              <a:ext cx="2233944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04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Napájení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 rot="-5400000">
            <a:off x="13928287" y="2849604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4527621" y="4468854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5C91263-7851-E2F3-0FCD-B4D25C1D66E6}"/>
              </a:ext>
            </a:extLst>
          </p:cNvPr>
          <p:cNvGrpSpPr/>
          <p:nvPr/>
        </p:nvGrpSpPr>
        <p:grpSpPr>
          <a:xfrm>
            <a:off x="7037204" y="8417478"/>
            <a:ext cx="9804869" cy="1349292"/>
            <a:chOff x="7037204" y="8417478"/>
            <a:chExt cx="9804869" cy="1349292"/>
          </a:xfrm>
        </p:grpSpPr>
        <p:grpSp>
          <p:nvGrpSpPr>
            <p:cNvPr id="15" name="Group 15"/>
            <p:cNvGrpSpPr/>
            <p:nvPr/>
          </p:nvGrpSpPr>
          <p:grpSpPr>
            <a:xfrm>
              <a:off x="7037204" y="8417478"/>
              <a:ext cx="9804869" cy="1349292"/>
              <a:chOff x="0" y="0"/>
              <a:chExt cx="2643200" cy="36374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0547628" y="8913083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18650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+ USB-C nabíjení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08090" y="8688320"/>
              <a:ext cx="2233944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04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Napájení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D989F6C-5655-2481-1BDB-0722AEF161B0}"/>
              </a:ext>
            </a:extLst>
          </p:cNvPr>
          <p:cNvGrpSpPr/>
          <p:nvPr/>
        </p:nvGrpSpPr>
        <p:grpSpPr>
          <a:xfrm>
            <a:off x="7037204" y="6515736"/>
            <a:ext cx="9804869" cy="1349292"/>
            <a:chOff x="7037204" y="6515736"/>
            <a:chExt cx="9804869" cy="1349292"/>
          </a:xfrm>
        </p:grpSpPr>
        <p:grpSp>
          <p:nvGrpSpPr>
            <p:cNvPr id="6" name="Group 6"/>
            <p:cNvGrpSpPr/>
            <p:nvPr/>
          </p:nvGrpSpPr>
          <p:grpSpPr>
            <a:xfrm>
              <a:off x="7037204" y="6515736"/>
              <a:ext cx="9804869" cy="1349292"/>
              <a:chOff x="0" y="0"/>
              <a:chExt cx="2643200" cy="363743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10547628" y="7011298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Přesné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určování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polohy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hráče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prostoru</a:t>
              </a:r>
              <a:endParaRPr lang="en-US" sz="1600" u="none" strike="noStrike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708090" y="6786535"/>
              <a:ext cx="2463566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03 UWB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modul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199571B-3906-C5CF-E98A-9FD2542DF71C}"/>
              </a:ext>
            </a:extLst>
          </p:cNvPr>
          <p:cNvGrpSpPr/>
          <p:nvPr/>
        </p:nvGrpSpPr>
        <p:grpSpPr>
          <a:xfrm>
            <a:off x="7037204" y="4613993"/>
            <a:ext cx="9804869" cy="1349292"/>
            <a:chOff x="7037204" y="4613993"/>
            <a:chExt cx="9804869" cy="1349292"/>
          </a:xfrm>
        </p:grpSpPr>
        <p:grpSp>
          <p:nvGrpSpPr>
            <p:cNvPr id="9" name="Group 9"/>
            <p:cNvGrpSpPr/>
            <p:nvPr/>
          </p:nvGrpSpPr>
          <p:grpSpPr>
            <a:xfrm>
              <a:off x="7037204" y="4613993"/>
              <a:ext cx="9804869" cy="1349292"/>
              <a:chOff x="0" y="0"/>
              <a:chExt cx="2643200" cy="363743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0547628" y="5109556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BMI160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+ QMC5883L pro snímání pohybu a orientace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708090" y="4846679"/>
              <a:ext cx="2233944" cy="998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Pohybové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  <a:p>
              <a:pPr algn="l">
                <a:lnSpc>
                  <a:spcPts val="37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     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senzory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 rot="-10800000">
            <a:off x="14134873" y="-1563445"/>
            <a:ext cx="5414402" cy="5184290"/>
          </a:xfrm>
          <a:custGeom>
            <a:avLst/>
            <a:gdLst/>
            <a:ahLst/>
            <a:cxnLst/>
            <a:rect l="l" t="t" r="r" b="b"/>
            <a:pathLst>
              <a:path w="5414402" h="5184290">
                <a:moveTo>
                  <a:pt x="0" y="0"/>
                </a:moveTo>
                <a:lnTo>
                  <a:pt x="5414401" y="0"/>
                </a:lnTo>
                <a:lnTo>
                  <a:pt x="5414401" y="5184290"/>
                </a:lnTo>
                <a:lnTo>
                  <a:pt x="0" y="51842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" name="Freeform 2"/>
          <p:cNvSpPr/>
          <p:nvPr/>
        </p:nvSpPr>
        <p:spPr>
          <a:xfrm rot="-5400000">
            <a:off x="2943662" y="-2743200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3CF3402-9293-099E-E1C8-29B7F1EC998B}"/>
              </a:ext>
            </a:extLst>
          </p:cNvPr>
          <p:cNvGrpSpPr/>
          <p:nvPr/>
        </p:nvGrpSpPr>
        <p:grpSpPr>
          <a:xfrm>
            <a:off x="7037204" y="2538970"/>
            <a:ext cx="9804869" cy="1525955"/>
            <a:chOff x="7037204" y="2538970"/>
            <a:chExt cx="9804869" cy="1525955"/>
          </a:xfrm>
        </p:grpSpPr>
        <p:grpSp>
          <p:nvGrpSpPr>
            <p:cNvPr id="12" name="Group 12"/>
            <p:cNvGrpSpPr/>
            <p:nvPr/>
          </p:nvGrpSpPr>
          <p:grpSpPr>
            <a:xfrm>
              <a:off x="7037204" y="2538970"/>
              <a:ext cx="9804869" cy="1525955"/>
              <a:chOff x="0" y="-47625"/>
              <a:chExt cx="2643200" cy="411368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643200" cy="363743"/>
              </a:xfrm>
              <a:custGeom>
                <a:avLst/>
                <a:gdLst/>
                <a:ahLst/>
                <a:cxnLst/>
                <a:rect l="l" t="t" r="r" b="b"/>
                <a:pathLst>
                  <a:path w="2643200" h="363743">
                    <a:moveTo>
                      <a:pt x="19740" y="0"/>
                    </a:moveTo>
                    <a:lnTo>
                      <a:pt x="2623460" y="0"/>
                    </a:lnTo>
                    <a:cubicBezTo>
                      <a:pt x="2634363" y="0"/>
                      <a:pt x="2643200" y="8838"/>
                      <a:pt x="2643200" y="19740"/>
                    </a:cubicBezTo>
                    <a:lnTo>
                      <a:pt x="2643200" y="344003"/>
                    </a:lnTo>
                    <a:cubicBezTo>
                      <a:pt x="2643200" y="354905"/>
                      <a:pt x="2634363" y="363743"/>
                      <a:pt x="2623460" y="363743"/>
                    </a:cubicBezTo>
                    <a:lnTo>
                      <a:pt x="19740" y="363743"/>
                    </a:lnTo>
                    <a:cubicBezTo>
                      <a:pt x="8838" y="363743"/>
                      <a:pt x="0" y="354905"/>
                      <a:pt x="0" y="344003"/>
                    </a:cubicBezTo>
                    <a:lnTo>
                      <a:pt x="0" y="19740"/>
                    </a:lnTo>
                    <a:cubicBezTo>
                      <a:pt x="0" y="8838"/>
                      <a:pt x="8838" y="0"/>
                      <a:pt x="1974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 dirty="0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2643200" cy="41136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0547628" y="3211196"/>
              <a:ext cx="5555727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lavní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řídicí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jednotka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systému</a:t>
              </a:r>
              <a:endParaRPr lang="en-US" sz="1600" u="none" strike="noStrike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08090" y="2986433"/>
              <a:ext cx="2233944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ESP32-C6</a:t>
              </a:r>
            </a:p>
          </p:txBody>
        </p:sp>
      </p:grp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1296076" y="1323975"/>
            <a:ext cx="6163389" cy="12195325"/>
            <a:chOff x="0" y="0"/>
            <a:chExt cx="2620010" cy="5184140"/>
          </a:xfrm>
        </p:grpSpPr>
        <p:sp>
          <p:nvSpPr>
            <p:cNvPr id="19" name="Freeform 19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4"/>
              <a:stretch>
                <a:fillRect l="-193080" t="-23127" r="-181266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8" name="Freeform 28"/>
          <p:cNvSpPr/>
          <p:nvPr/>
        </p:nvSpPr>
        <p:spPr>
          <a:xfrm rot="-5400000">
            <a:off x="-2519171" y="6021991"/>
            <a:ext cx="7472928" cy="6931140"/>
          </a:xfrm>
          <a:custGeom>
            <a:avLst/>
            <a:gdLst/>
            <a:ahLst/>
            <a:cxnLst/>
            <a:rect l="l" t="t" r="r" b="b"/>
            <a:pathLst>
              <a:path w="7472928" h="6931140">
                <a:moveTo>
                  <a:pt x="0" y="0"/>
                </a:moveTo>
                <a:lnTo>
                  <a:pt x="7472928" y="0"/>
                </a:lnTo>
                <a:lnTo>
                  <a:pt x="7472928" y="6931140"/>
                </a:lnTo>
                <a:lnTo>
                  <a:pt x="0" y="6931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9" name="TextBox 29"/>
          <p:cNvSpPr txBox="1"/>
          <p:nvPr/>
        </p:nvSpPr>
        <p:spPr>
          <a:xfrm>
            <a:off x="9190830" y="1519659"/>
            <a:ext cx="5497617" cy="79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28"/>
              </a:lnSpc>
              <a:spcBef>
                <a:spcPct val="0"/>
              </a:spcBef>
            </a:pPr>
            <a:r>
              <a:rPr lang="en-US" sz="72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HARDWARE HŮLKY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7350715">
            <a:off x="-883865" y="6883255"/>
            <a:ext cx="4960930" cy="4750091"/>
          </a:xfrm>
          <a:custGeom>
            <a:avLst/>
            <a:gdLst/>
            <a:ahLst/>
            <a:cxnLst/>
            <a:rect l="l" t="t" r="r" b="b"/>
            <a:pathLst>
              <a:path w="4960930" h="4750091">
                <a:moveTo>
                  <a:pt x="0" y="0"/>
                </a:moveTo>
                <a:lnTo>
                  <a:pt x="4960930" y="0"/>
                </a:lnTo>
                <a:lnTo>
                  <a:pt x="4960930" y="4750090"/>
                </a:lnTo>
                <a:lnTo>
                  <a:pt x="0" y="47500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AC67590-92A5-2737-F03B-C9D19B27AEF1}"/>
              </a:ext>
            </a:extLst>
          </p:cNvPr>
          <p:cNvGrpSpPr/>
          <p:nvPr/>
        </p:nvGrpSpPr>
        <p:grpSpPr>
          <a:xfrm>
            <a:off x="4962055" y="3793620"/>
            <a:ext cx="3800945" cy="4778880"/>
            <a:chOff x="1038224" y="3793620"/>
            <a:chExt cx="3800945" cy="477888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89DDAAC-2F0F-79A0-8E3E-FDEC56090EED}"/>
                </a:ext>
              </a:extLst>
            </p:cNvPr>
            <p:cNvSpPr/>
            <p:nvPr/>
          </p:nvSpPr>
          <p:spPr>
            <a:xfrm>
              <a:off x="1038224" y="3793620"/>
              <a:ext cx="3800945" cy="4778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23" name="TextBox 17">
              <a:extLst>
                <a:ext uri="{FF2B5EF4-FFF2-40B4-BE49-F238E27FC236}">
                  <a16:creationId xmlns:a16="http://schemas.microsoft.com/office/drawing/2014/main" id="{23020FF3-A0B5-DE63-EE01-3EA145D987F3}"/>
                </a:ext>
              </a:extLst>
            </p:cNvPr>
            <p:cNvSpPr txBox="1"/>
            <p:nvPr/>
          </p:nvSpPr>
          <p:spPr>
            <a:xfrm>
              <a:off x="1596600" y="6205538"/>
              <a:ext cx="268275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Nefunkční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komunikace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senzorů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4" name="TextBox 19">
              <a:extLst>
                <a:ext uri="{FF2B5EF4-FFF2-40B4-BE49-F238E27FC236}">
                  <a16:creationId xmlns:a16="http://schemas.microsoft.com/office/drawing/2014/main" id="{12EC2DE0-8BDC-115A-0B41-F50C12118A76}"/>
                </a:ext>
              </a:extLst>
            </p:cNvPr>
            <p:cNvSpPr txBox="1"/>
            <p:nvPr/>
          </p:nvSpPr>
          <p:spPr>
            <a:xfrm>
              <a:off x="2379490" y="4739654"/>
              <a:ext cx="1116972" cy="67999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Dopad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sp>
        <p:nvSpPr>
          <p:cNvPr id="2" name="Freeform 2"/>
          <p:cNvSpPr/>
          <p:nvPr/>
        </p:nvSpPr>
        <p:spPr>
          <a:xfrm>
            <a:off x="10525637" y="5288185"/>
            <a:ext cx="9648774" cy="8229600"/>
          </a:xfrm>
          <a:custGeom>
            <a:avLst/>
            <a:gdLst/>
            <a:ahLst/>
            <a:cxnLst/>
            <a:rect l="l" t="t" r="r" b="b"/>
            <a:pathLst>
              <a:path w="9648774" h="8229600">
                <a:moveTo>
                  <a:pt x="0" y="0"/>
                </a:moveTo>
                <a:lnTo>
                  <a:pt x="9648774" y="0"/>
                </a:lnTo>
                <a:lnTo>
                  <a:pt x="964877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>
            <a:off x="4319613" y="-321179"/>
            <a:ext cx="9648774" cy="8229600"/>
          </a:xfrm>
          <a:custGeom>
            <a:avLst/>
            <a:gdLst/>
            <a:ahLst/>
            <a:cxnLst/>
            <a:rect l="l" t="t" r="r" b="b"/>
            <a:pathLst>
              <a:path w="9648774" h="8229600">
                <a:moveTo>
                  <a:pt x="0" y="0"/>
                </a:moveTo>
                <a:lnTo>
                  <a:pt x="9648774" y="0"/>
                </a:lnTo>
                <a:lnTo>
                  <a:pt x="964877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7350715">
            <a:off x="15330618" y="1073605"/>
            <a:ext cx="7665473" cy="7339690"/>
          </a:xfrm>
          <a:custGeom>
            <a:avLst/>
            <a:gdLst/>
            <a:ahLst/>
            <a:cxnLst/>
            <a:rect l="l" t="t" r="r" b="b"/>
            <a:pathLst>
              <a:path w="7665473" h="7339690">
                <a:moveTo>
                  <a:pt x="0" y="0"/>
                </a:moveTo>
                <a:lnTo>
                  <a:pt x="7665473" y="0"/>
                </a:lnTo>
                <a:lnTo>
                  <a:pt x="7665473" y="7339690"/>
                </a:lnTo>
                <a:lnTo>
                  <a:pt x="0" y="73396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4850852" y="3393139"/>
            <a:ext cx="8586296" cy="6893861"/>
            <a:chOff x="0" y="0"/>
            <a:chExt cx="7467600" cy="599567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467600" cy="4513580"/>
            </a:xfrm>
            <a:custGeom>
              <a:avLst/>
              <a:gdLst/>
              <a:ahLst/>
              <a:cxnLst/>
              <a:rect l="l" t="t" r="r" b="b"/>
              <a:pathLst>
                <a:path w="7467600" h="4513580">
                  <a:moveTo>
                    <a:pt x="7127240" y="0"/>
                  </a:moveTo>
                  <a:lnTo>
                    <a:pt x="340360" y="0"/>
                  </a:lnTo>
                  <a:cubicBezTo>
                    <a:pt x="152400" y="0"/>
                    <a:pt x="0" y="152400"/>
                    <a:pt x="0" y="340360"/>
                  </a:cubicBezTo>
                  <a:lnTo>
                    <a:pt x="0" y="4513580"/>
                  </a:lnTo>
                  <a:lnTo>
                    <a:pt x="7467600" y="4513580"/>
                  </a:lnTo>
                  <a:lnTo>
                    <a:pt x="7467600" y="340360"/>
                  </a:lnTo>
                  <a:cubicBezTo>
                    <a:pt x="7467600" y="152400"/>
                    <a:pt x="7315200" y="0"/>
                    <a:pt x="7127240" y="0"/>
                  </a:cubicBezTo>
                  <a:close/>
                  <a:moveTo>
                    <a:pt x="7142480" y="4188460"/>
                  </a:moveTo>
                  <a:lnTo>
                    <a:pt x="314961" y="4188460"/>
                  </a:lnTo>
                  <a:lnTo>
                    <a:pt x="314961" y="353060"/>
                  </a:lnTo>
                  <a:lnTo>
                    <a:pt x="7142480" y="353060"/>
                  </a:lnTo>
                  <a:lnTo>
                    <a:pt x="7142480" y="41884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4514850"/>
              <a:ext cx="7467600" cy="695960"/>
            </a:xfrm>
            <a:custGeom>
              <a:avLst/>
              <a:gdLst/>
              <a:ahLst/>
              <a:cxnLst/>
              <a:rect l="l" t="t" r="r" b="b"/>
              <a:pathLst>
                <a:path w="7467600" h="695960">
                  <a:moveTo>
                    <a:pt x="0" y="355600"/>
                  </a:moveTo>
                  <a:cubicBezTo>
                    <a:pt x="0" y="543560"/>
                    <a:pt x="152400" y="695960"/>
                    <a:pt x="340360" y="695960"/>
                  </a:cubicBezTo>
                  <a:lnTo>
                    <a:pt x="7127240" y="695960"/>
                  </a:lnTo>
                  <a:cubicBezTo>
                    <a:pt x="7315200" y="695960"/>
                    <a:pt x="7467600" y="543560"/>
                    <a:pt x="7467600" y="355600"/>
                  </a:cubicBezTo>
                  <a:lnTo>
                    <a:pt x="7467600" y="0"/>
                  </a:lnTo>
                  <a:lnTo>
                    <a:pt x="0" y="0"/>
                  </a:lnTo>
                  <a:lnTo>
                    <a:pt x="0" y="35560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2434265" y="5210810"/>
              <a:ext cx="2596530" cy="786130"/>
            </a:xfrm>
            <a:custGeom>
              <a:avLst/>
              <a:gdLst/>
              <a:ahLst/>
              <a:cxnLst/>
              <a:rect l="l" t="t" r="r" b="b"/>
              <a:pathLst>
                <a:path w="2596530" h="786130">
                  <a:moveTo>
                    <a:pt x="1253815" y="0"/>
                  </a:moveTo>
                  <a:lnTo>
                    <a:pt x="448635" y="0"/>
                  </a:lnTo>
                  <a:cubicBezTo>
                    <a:pt x="448635" y="0"/>
                    <a:pt x="424505" y="370840"/>
                    <a:pt x="399105" y="525780"/>
                  </a:cubicBezTo>
                  <a:cubicBezTo>
                    <a:pt x="354655" y="791210"/>
                    <a:pt x="82875" y="706120"/>
                    <a:pt x="5405" y="762000"/>
                  </a:cubicBezTo>
                  <a:cubicBezTo>
                    <a:pt x="-4755" y="769620"/>
                    <a:pt x="325" y="786130"/>
                    <a:pt x="13025" y="786130"/>
                  </a:cubicBezTo>
                  <a:lnTo>
                    <a:pt x="2583505" y="786130"/>
                  </a:lnTo>
                  <a:cubicBezTo>
                    <a:pt x="2596205" y="786130"/>
                    <a:pt x="2601285" y="769620"/>
                    <a:pt x="2591125" y="762000"/>
                  </a:cubicBezTo>
                  <a:cubicBezTo>
                    <a:pt x="2513655" y="706120"/>
                    <a:pt x="2241875" y="791210"/>
                    <a:pt x="2197425" y="525780"/>
                  </a:cubicBezTo>
                  <a:cubicBezTo>
                    <a:pt x="2172025" y="370840"/>
                    <a:pt x="2147895" y="0"/>
                    <a:pt x="2147895" y="0"/>
                  </a:cubicBezTo>
                  <a:lnTo>
                    <a:pt x="1253815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14960" y="353060"/>
              <a:ext cx="6827520" cy="3835400"/>
            </a:xfrm>
            <a:custGeom>
              <a:avLst/>
              <a:gdLst/>
              <a:ahLst/>
              <a:cxnLst/>
              <a:rect l="l" t="t" r="r" b="b"/>
              <a:pathLst>
                <a:path w="6827520" h="3835400">
                  <a:moveTo>
                    <a:pt x="0" y="0"/>
                  </a:moveTo>
                  <a:lnTo>
                    <a:pt x="6827520" y="0"/>
                  </a:lnTo>
                  <a:lnTo>
                    <a:pt x="6827520" y="3835400"/>
                  </a:lnTo>
                  <a:lnTo>
                    <a:pt x="0" y="3835400"/>
                  </a:lnTo>
                  <a:close/>
                </a:path>
              </a:pathLst>
            </a:custGeom>
            <a:blipFill>
              <a:blip r:embed="rId4"/>
              <a:stretch>
                <a:fillRect b="-22829"/>
              </a:stretch>
            </a:blip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14" name="AutoShape 14"/>
          <p:cNvSpPr/>
          <p:nvPr/>
        </p:nvSpPr>
        <p:spPr>
          <a:xfrm>
            <a:off x="10054256" y="2666270"/>
            <a:ext cx="8709994" cy="0"/>
          </a:xfrm>
          <a:prstGeom prst="line">
            <a:avLst/>
          </a:prstGeom>
          <a:ln w="2857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15" name="TextBox 15"/>
          <p:cNvSpPr txBox="1"/>
          <p:nvPr/>
        </p:nvSpPr>
        <p:spPr>
          <a:xfrm>
            <a:off x="2314089" y="1371600"/>
            <a:ext cx="7444313" cy="867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2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PROBLÉM S I²C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054256" y="1100442"/>
            <a:ext cx="4838824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00"/>
              </a:lnSpc>
            </a:pPr>
            <a:r>
              <a:rPr lang="en-US" sz="5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SDA/SCL ≈ 0,5 V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525637" y="5288185"/>
            <a:ext cx="9648774" cy="8229600"/>
          </a:xfrm>
          <a:custGeom>
            <a:avLst/>
            <a:gdLst/>
            <a:ahLst/>
            <a:cxnLst/>
            <a:rect l="l" t="t" r="r" b="b"/>
            <a:pathLst>
              <a:path w="9648774" h="8229600">
                <a:moveTo>
                  <a:pt x="0" y="0"/>
                </a:moveTo>
                <a:lnTo>
                  <a:pt x="9648774" y="0"/>
                </a:lnTo>
                <a:lnTo>
                  <a:pt x="964877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7350715">
            <a:off x="15330618" y="1073605"/>
            <a:ext cx="7665473" cy="7339690"/>
          </a:xfrm>
          <a:custGeom>
            <a:avLst/>
            <a:gdLst/>
            <a:ahLst/>
            <a:cxnLst/>
            <a:rect l="l" t="t" r="r" b="b"/>
            <a:pathLst>
              <a:path w="7665473" h="7339690">
                <a:moveTo>
                  <a:pt x="0" y="0"/>
                </a:moveTo>
                <a:lnTo>
                  <a:pt x="7665473" y="0"/>
                </a:lnTo>
                <a:lnTo>
                  <a:pt x="7665473" y="7339690"/>
                </a:lnTo>
                <a:lnTo>
                  <a:pt x="0" y="73396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CECC0BD-3C24-67D9-F16D-07BD849F385F}"/>
              </a:ext>
            </a:extLst>
          </p:cNvPr>
          <p:cNvGrpSpPr/>
          <p:nvPr/>
        </p:nvGrpSpPr>
        <p:grpSpPr>
          <a:xfrm>
            <a:off x="9534055" y="3774570"/>
            <a:ext cx="3800945" cy="4778880"/>
            <a:chOff x="13437148" y="3774570"/>
            <a:chExt cx="3800945" cy="477888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9D8CBE2-42B3-F329-F954-F2CDB09A6269}"/>
                </a:ext>
              </a:extLst>
            </p:cNvPr>
            <p:cNvSpPr/>
            <p:nvPr/>
          </p:nvSpPr>
          <p:spPr>
            <a:xfrm>
              <a:off x="13437148" y="3774570"/>
              <a:ext cx="3800945" cy="4778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sp>
          <p:nvSpPr>
            <p:cNvPr id="27" name="TextBox 16">
              <a:extLst>
                <a:ext uri="{FF2B5EF4-FFF2-40B4-BE49-F238E27FC236}">
                  <a16:creationId xmlns:a16="http://schemas.microsoft.com/office/drawing/2014/main" id="{CC174A80-13F9-8F58-014A-FB7B448EEB7F}"/>
                </a:ext>
              </a:extLst>
            </p:cNvPr>
            <p:cNvSpPr txBox="1"/>
            <p:nvPr/>
          </p:nvSpPr>
          <p:spPr>
            <a:xfrm>
              <a:off x="14008648" y="6205538"/>
              <a:ext cx="2682752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Návrh nové PCB</a:t>
              </a:r>
            </a:p>
          </p:txBody>
        </p:sp>
        <p:sp>
          <p:nvSpPr>
            <p:cNvPr id="28" name="TextBox 20">
              <a:extLst>
                <a:ext uri="{FF2B5EF4-FFF2-40B4-BE49-F238E27FC236}">
                  <a16:creationId xmlns:a16="http://schemas.microsoft.com/office/drawing/2014/main" id="{BFEB9A15-BCFD-08C1-7D1A-19DD248429C1}"/>
                </a:ext>
              </a:extLst>
            </p:cNvPr>
            <p:cNvSpPr txBox="1"/>
            <p:nvPr/>
          </p:nvSpPr>
          <p:spPr>
            <a:xfrm>
              <a:off x="14774316" y="4739654"/>
              <a:ext cx="1151415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Řešení</a:t>
              </a:r>
            </a:p>
          </p:txBody>
        </p:sp>
      </p:grpSp>
      <p:sp>
        <p:nvSpPr>
          <p:cNvPr id="5" name="Freeform 5"/>
          <p:cNvSpPr/>
          <p:nvPr/>
        </p:nvSpPr>
        <p:spPr>
          <a:xfrm rot="7350715">
            <a:off x="-883865" y="6883255"/>
            <a:ext cx="4960930" cy="4750091"/>
          </a:xfrm>
          <a:custGeom>
            <a:avLst/>
            <a:gdLst/>
            <a:ahLst/>
            <a:cxnLst/>
            <a:rect l="l" t="t" r="r" b="b"/>
            <a:pathLst>
              <a:path w="4960930" h="4750091">
                <a:moveTo>
                  <a:pt x="0" y="0"/>
                </a:moveTo>
                <a:lnTo>
                  <a:pt x="4960930" y="0"/>
                </a:lnTo>
                <a:lnTo>
                  <a:pt x="4960930" y="4750090"/>
                </a:lnTo>
                <a:lnTo>
                  <a:pt x="0" y="47500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802AAEC-BE81-A677-ACE1-824F7FC8F678}"/>
              </a:ext>
            </a:extLst>
          </p:cNvPr>
          <p:cNvGrpSpPr/>
          <p:nvPr/>
        </p:nvGrpSpPr>
        <p:grpSpPr>
          <a:xfrm>
            <a:off x="1038224" y="3793620"/>
            <a:ext cx="3800945" cy="4778880"/>
            <a:chOff x="1038224" y="3793620"/>
            <a:chExt cx="3800945" cy="477888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AFA2C7D-039D-9CD0-9827-D8CCEB0EA37E}"/>
                </a:ext>
              </a:extLst>
            </p:cNvPr>
            <p:cNvSpPr/>
            <p:nvPr/>
          </p:nvSpPr>
          <p:spPr>
            <a:xfrm>
              <a:off x="1038224" y="3793620"/>
              <a:ext cx="3800945" cy="4778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23" name="TextBox 17">
              <a:extLst>
                <a:ext uri="{FF2B5EF4-FFF2-40B4-BE49-F238E27FC236}">
                  <a16:creationId xmlns:a16="http://schemas.microsoft.com/office/drawing/2014/main" id="{01616B3E-ACA1-26FA-D8CE-104ADF7EFA05}"/>
                </a:ext>
              </a:extLst>
            </p:cNvPr>
            <p:cNvSpPr txBox="1"/>
            <p:nvPr/>
          </p:nvSpPr>
          <p:spPr>
            <a:xfrm>
              <a:off x="1596600" y="6205538"/>
              <a:ext cx="268275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Nefunkční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komunikace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senzorů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4" name="TextBox 19">
              <a:extLst>
                <a:ext uri="{FF2B5EF4-FFF2-40B4-BE49-F238E27FC236}">
                  <a16:creationId xmlns:a16="http://schemas.microsoft.com/office/drawing/2014/main" id="{7D0C6ED5-3E20-6B33-67C5-657340951ECC}"/>
                </a:ext>
              </a:extLst>
            </p:cNvPr>
            <p:cNvSpPr txBox="1"/>
            <p:nvPr/>
          </p:nvSpPr>
          <p:spPr>
            <a:xfrm>
              <a:off x="2379490" y="4739654"/>
              <a:ext cx="1116972" cy="67999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Dopad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sp>
        <p:nvSpPr>
          <p:cNvPr id="3" name="Freeform 3"/>
          <p:cNvSpPr/>
          <p:nvPr/>
        </p:nvSpPr>
        <p:spPr>
          <a:xfrm>
            <a:off x="4319613" y="-321179"/>
            <a:ext cx="9648774" cy="8229600"/>
          </a:xfrm>
          <a:custGeom>
            <a:avLst/>
            <a:gdLst/>
            <a:ahLst/>
            <a:cxnLst/>
            <a:rect l="l" t="t" r="r" b="b"/>
            <a:pathLst>
              <a:path w="9648774" h="8229600">
                <a:moveTo>
                  <a:pt x="0" y="0"/>
                </a:moveTo>
                <a:lnTo>
                  <a:pt x="9648774" y="0"/>
                </a:lnTo>
                <a:lnTo>
                  <a:pt x="964877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4850852" y="3393139"/>
            <a:ext cx="8586296" cy="6893861"/>
            <a:chOff x="0" y="0"/>
            <a:chExt cx="7467600" cy="599567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467600" cy="4513580"/>
            </a:xfrm>
            <a:custGeom>
              <a:avLst/>
              <a:gdLst/>
              <a:ahLst/>
              <a:cxnLst/>
              <a:rect l="l" t="t" r="r" b="b"/>
              <a:pathLst>
                <a:path w="7467600" h="4513580">
                  <a:moveTo>
                    <a:pt x="7127240" y="0"/>
                  </a:moveTo>
                  <a:lnTo>
                    <a:pt x="340360" y="0"/>
                  </a:lnTo>
                  <a:cubicBezTo>
                    <a:pt x="152400" y="0"/>
                    <a:pt x="0" y="152400"/>
                    <a:pt x="0" y="340360"/>
                  </a:cubicBezTo>
                  <a:lnTo>
                    <a:pt x="0" y="4513580"/>
                  </a:lnTo>
                  <a:lnTo>
                    <a:pt x="7467600" y="4513580"/>
                  </a:lnTo>
                  <a:lnTo>
                    <a:pt x="7467600" y="340360"/>
                  </a:lnTo>
                  <a:cubicBezTo>
                    <a:pt x="7467600" y="152400"/>
                    <a:pt x="7315200" y="0"/>
                    <a:pt x="7127240" y="0"/>
                  </a:cubicBezTo>
                  <a:close/>
                  <a:moveTo>
                    <a:pt x="7142480" y="4188460"/>
                  </a:moveTo>
                  <a:lnTo>
                    <a:pt x="314961" y="4188460"/>
                  </a:lnTo>
                  <a:lnTo>
                    <a:pt x="314961" y="353060"/>
                  </a:lnTo>
                  <a:lnTo>
                    <a:pt x="7142480" y="353060"/>
                  </a:lnTo>
                  <a:lnTo>
                    <a:pt x="7142480" y="41884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4514850"/>
              <a:ext cx="7467600" cy="695960"/>
            </a:xfrm>
            <a:custGeom>
              <a:avLst/>
              <a:gdLst/>
              <a:ahLst/>
              <a:cxnLst/>
              <a:rect l="l" t="t" r="r" b="b"/>
              <a:pathLst>
                <a:path w="7467600" h="695960">
                  <a:moveTo>
                    <a:pt x="0" y="355600"/>
                  </a:moveTo>
                  <a:cubicBezTo>
                    <a:pt x="0" y="543560"/>
                    <a:pt x="152400" y="695960"/>
                    <a:pt x="340360" y="695960"/>
                  </a:cubicBezTo>
                  <a:lnTo>
                    <a:pt x="7127240" y="695960"/>
                  </a:lnTo>
                  <a:cubicBezTo>
                    <a:pt x="7315200" y="695960"/>
                    <a:pt x="7467600" y="543560"/>
                    <a:pt x="7467600" y="355600"/>
                  </a:cubicBezTo>
                  <a:lnTo>
                    <a:pt x="7467600" y="0"/>
                  </a:lnTo>
                  <a:lnTo>
                    <a:pt x="0" y="0"/>
                  </a:lnTo>
                  <a:lnTo>
                    <a:pt x="0" y="35560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2434265" y="5210810"/>
              <a:ext cx="2596530" cy="786130"/>
            </a:xfrm>
            <a:custGeom>
              <a:avLst/>
              <a:gdLst/>
              <a:ahLst/>
              <a:cxnLst/>
              <a:rect l="l" t="t" r="r" b="b"/>
              <a:pathLst>
                <a:path w="2596530" h="786130">
                  <a:moveTo>
                    <a:pt x="1253815" y="0"/>
                  </a:moveTo>
                  <a:lnTo>
                    <a:pt x="448635" y="0"/>
                  </a:lnTo>
                  <a:cubicBezTo>
                    <a:pt x="448635" y="0"/>
                    <a:pt x="424505" y="370840"/>
                    <a:pt x="399105" y="525780"/>
                  </a:cubicBezTo>
                  <a:cubicBezTo>
                    <a:pt x="354655" y="791210"/>
                    <a:pt x="82875" y="706120"/>
                    <a:pt x="5405" y="762000"/>
                  </a:cubicBezTo>
                  <a:cubicBezTo>
                    <a:pt x="-4755" y="769620"/>
                    <a:pt x="325" y="786130"/>
                    <a:pt x="13025" y="786130"/>
                  </a:cubicBezTo>
                  <a:lnTo>
                    <a:pt x="2583505" y="786130"/>
                  </a:lnTo>
                  <a:cubicBezTo>
                    <a:pt x="2596205" y="786130"/>
                    <a:pt x="2601285" y="769620"/>
                    <a:pt x="2591125" y="762000"/>
                  </a:cubicBezTo>
                  <a:cubicBezTo>
                    <a:pt x="2513655" y="706120"/>
                    <a:pt x="2241875" y="791210"/>
                    <a:pt x="2197425" y="525780"/>
                  </a:cubicBezTo>
                  <a:cubicBezTo>
                    <a:pt x="2172025" y="370840"/>
                    <a:pt x="2147895" y="0"/>
                    <a:pt x="2147895" y="0"/>
                  </a:cubicBezTo>
                  <a:lnTo>
                    <a:pt x="1253815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14960" y="353060"/>
              <a:ext cx="6827520" cy="3835400"/>
            </a:xfrm>
            <a:custGeom>
              <a:avLst/>
              <a:gdLst/>
              <a:ahLst/>
              <a:cxnLst/>
              <a:rect l="l" t="t" r="r" b="b"/>
              <a:pathLst>
                <a:path w="6827520" h="3835400">
                  <a:moveTo>
                    <a:pt x="0" y="0"/>
                  </a:moveTo>
                  <a:lnTo>
                    <a:pt x="6827520" y="0"/>
                  </a:lnTo>
                  <a:lnTo>
                    <a:pt x="6827520" y="3835400"/>
                  </a:lnTo>
                  <a:lnTo>
                    <a:pt x="0" y="3835400"/>
                  </a:lnTo>
                  <a:close/>
                </a:path>
              </a:pathLst>
            </a:custGeom>
            <a:blipFill>
              <a:blip r:embed="rId4"/>
              <a:stretch>
                <a:fillRect b="-22829"/>
              </a:stretch>
            </a:blip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14" name="AutoShape 14"/>
          <p:cNvSpPr/>
          <p:nvPr/>
        </p:nvSpPr>
        <p:spPr>
          <a:xfrm>
            <a:off x="10054256" y="2666270"/>
            <a:ext cx="8709994" cy="0"/>
          </a:xfrm>
          <a:prstGeom prst="line">
            <a:avLst/>
          </a:prstGeom>
          <a:ln w="2857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15" name="TextBox 15"/>
          <p:cNvSpPr txBox="1"/>
          <p:nvPr/>
        </p:nvSpPr>
        <p:spPr>
          <a:xfrm>
            <a:off x="2314089" y="1371600"/>
            <a:ext cx="7444313" cy="867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2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PROBLÉM S I²C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054256" y="1100442"/>
            <a:ext cx="4838824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00"/>
              </a:lnSpc>
            </a:pPr>
            <a:r>
              <a:rPr lang="en-US" sz="5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SDA/SCL ≈ 0,5 V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525637" y="5288185"/>
            <a:ext cx="9648774" cy="8229600"/>
          </a:xfrm>
          <a:custGeom>
            <a:avLst/>
            <a:gdLst/>
            <a:ahLst/>
            <a:cxnLst/>
            <a:rect l="l" t="t" r="r" b="b"/>
            <a:pathLst>
              <a:path w="9648774" h="8229600">
                <a:moveTo>
                  <a:pt x="0" y="0"/>
                </a:moveTo>
                <a:lnTo>
                  <a:pt x="9648774" y="0"/>
                </a:lnTo>
                <a:lnTo>
                  <a:pt x="964877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7350715">
            <a:off x="15275116" y="1069809"/>
            <a:ext cx="7665473" cy="7339690"/>
          </a:xfrm>
          <a:custGeom>
            <a:avLst/>
            <a:gdLst/>
            <a:ahLst/>
            <a:cxnLst/>
            <a:rect l="l" t="t" r="r" b="b"/>
            <a:pathLst>
              <a:path w="7665473" h="7339690">
                <a:moveTo>
                  <a:pt x="0" y="0"/>
                </a:moveTo>
                <a:lnTo>
                  <a:pt x="7665473" y="0"/>
                </a:lnTo>
                <a:lnTo>
                  <a:pt x="7665473" y="7339690"/>
                </a:lnTo>
                <a:lnTo>
                  <a:pt x="0" y="73396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64B57F6-4D01-2E12-7DE3-0831A38FDAD4}"/>
              </a:ext>
            </a:extLst>
          </p:cNvPr>
          <p:cNvGrpSpPr/>
          <p:nvPr/>
        </p:nvGrpSpPr>
        <p:grpSpPr>
          <a:xfrm>
            <a:off x="13437148" y="3774570"/>
            <a:ext cx="3800945" cy="4778880"/>
            <a:chOff x="13437148" y="3774570"/>
            <a:chExt cx="3800945" cy="477888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4C4021A-FFDD-8CC8-A71D-9B8F25AFB0C5}"/>
                </a:ext>
              </a:extLst>
            </p:cNvPr>
            <p:cNvSpPr/>
            <p:nvPr/>
          </p:nvSpPr>
          <p:spPr>
            <a:xfrm>
              <a:off x="13437148" y="3774570"/>
              <a:ext cx="3800945" cy="4778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008648" y="6205538"/>
              <a:ext cx="2682752" cy="3010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Návrh nové PCB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4774316" y="4739654"/>
              <a:ext cx="1151415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Řešení</a:t>
              </a:r>
            </a:p>
          </p:txBody>
        </p:sp>
      </p:grpSp>
      <p:sp>
        <p:nvSpPr>
          <p:cNvPr id="5" name="Freeform 5"/>
          <p:cNvSpPr/>
          <p:nvPr/>
        </p:nvSpPr>
        <p:spPr>
          <a:xfrm rot="7350715">
            <a:off x="-883865" y="6883255"/>
            <a:ext cx="4960930" cy="4750091"/>
          </a:xfrm>
          <a:custGeom>
            <a:avLst/>
            <a:gdLst/>
            <a:ahLst/>
            <a:cxnLst/>
            <a:rect l="l" t="t" r="r" b="b"/>
            <a:pathLst>
              <a:path w="4960930" h="4750091">
                <a:moveTo>
                  <a:pt x="0" y="0"/>
                </a:moveTo>
                <a:lnTo>
                  <a:pt x="4960930" y="0"/>
                </a:lnTo>
                <a:lnTo>
                  <a:pt x="4960930" y="4750090"/>
                </a:lnTo>
                <a:lnTo>
                  <a:pt x="0" y="47500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47310C7-896E-D7F6-64A0-70834F39A445}"/>
              </a:ext>
            </a:extLst>
          </p:cNvPr>
          <p:cNvGrpSpPr/>
          <p:nvPr/>
        </p:nvGrpSpPr>
        <p:grpSpPr>
          <a:xfrm>
            <a:off x="1038224" y="3793620"/>
            <a:ext cx="3800945" cy="4778880"/>
            <a:chOff x="1038224" y="3793620"/>
            <a:chExt cx="3800945" cy="477888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25230E8-C672-5530-AA1D-5122C18B9748}"/>
                </a:ext>
              </a:extLst>
            </p:cNvPr>
            <p:cNvSpPr/>
            <p:nvPr/>
          </p:nvSpPr>
          <p:spPr>
            <a:xfrm>
              <a:off x="1038224" y="3793620"/>
              <a:ext cx="3800945" cy="47788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96600" y="6205538"/>
              <a:ext cx="268275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Nefunkční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komunikace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senzorů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379490" y="4739654"/>
              <a:ext cx="1116972" cy="67999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Dopad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sp>
        <p:nvSpPr>
          <p:cNvPr id="3" name="Freeform 3"/>
          <p:cNvSpPr/>
          <p:nvPr/>
        </p:nvSpPr>
        <p:spPr>
          <a:xfrm>
            <a:off x="4319613" y="-321179"/>
            <a:ext cx="9648774" cy="8229600"/>
          </a:xfrm>
          <a:custGeom>
            <a:avLst/>
            <a:gdLst/>
            <a:ahLst/>
            <a:cxnLst/>
            <a:rect l="l" t="t" r="r" b="b"/>
            <a:pathLst>
              <a:path w="9648774" h="8229600">
                <a:moveTo>
                  <a:pt x="0" y="0"/>
                </a:moveTo>
                <a:lnTo>
                  <a:pt x="9648774" y="0"/>
                </a:lnTo>
                <a:lnTo>
                  <a:pt x="964877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4850852" y="3393139"/>
            <a:ext cx="8586296" cy="6893861"/>
            <a:chOff x="0" y="0"/>
            <a:chExt cx="7467600" cy="599567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467600" cy="4513580"/>
            </a:xfrm>
            <a:custGeom>
              <a:avLst/>
              <a:gdLst/>
              <a:ahLst/>
              <a:cxnLst/>
              <a:rect l="l" t="t" r="r" b="b"/>
              <a:pathLst>
                <a:path w="7467600" h="4513580">
                  <a:moveTo>
                    <a:pt x="7127240" y="0"/>
                  </a:moveTo>
                  <a:lnTo>
                    <a:pt x="340360" y="0"/>
                  </a:lnTo>
                  <a:cubicBezTo>
                    <a:pt x="152400" y="0"/>
                    <a:pt x="0" y="152400"/>
                    <a:pt x="0" y="340360"/>
                  </a:cubicBezTo>
                  <a:lnTo>
                    <a:pt x="0" y="4513580"/>
                  </a:lnTo>
                  <a:lnTo>
                    <a:pt x="7467600" y="4513580"/>
                  </a:lnTo>
                  <a:lnTo>
                    <a:pt x="7467600" y="340360"/>
                  </a:lnTo>
                  <a:cubicBezTo>
                    <a:pt x="7467600" y="152400"/>
                    <a:pt x="7315200" y="0"/>
                    <a:pt x="7127240" y="0"/>
                  </a:cubicBezTo>
                  <a:close/>
                  <a:moveTo>
                    <a:pt x="7142480" y="4188460"/>
                  </a:moveTo>
                  <a:lnTo>
                    <a:pt x="314961" y="4188460"/>
                  </a:lnTo>
                  <a:lnTo>
                    <a:pt x="314961" y="353060"/>
                  </a:lnTo>
                  <a:lnTo>
                    <a:pt x="7142480" y="353060"/>
                  </a:lnTo>
                  <a:lnTo>
                    <a:pt x="7142480" y="41884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4514850"/>
              <a:ext cx="7467600" cy="695960"/>
            </a:xfrm>
            <a:custGeom>
              <a:avLst/>
              <a:gdLst/>
              <a:ahLst/>
              <a:cxnLst/>
              <a:rect l="l" t="t" r="r" b="b"/>
              <a:pathLst>
                <a:path w="7467600" h="695960">
                  <a:moveTo>
                    <a:pt x="0" y="355600"/>
                  </a:moveTo>
                  <a:cubicBezTo>
                    <a:pt x="0" y="543560"/>
                    <a:pt x="152400" y="695960"/>
                    <a:pt x="340360" y="695960"/>
                  </a:cubicBezTo>
                  <a:lnTo>
                    <a:pt x="7127240" y="695960"/>
                  </a:lnTo>
                  <a:cubicBezTo>
                    <a:pt x="7315200" y="695960"/>
                    <a:pt x="7467600" y="543560"/>
                    <a:pt x="7467600" y="355600"/>
                  </a:cubicBezTo>
                  <a:lnTo>
                    <a:pt x="7467600" y="0"/>
                  </a:lnTo>
                  <a:lnTo>
                    <a:pt x="0" y="0"/>
                  </a:lnTo>
                  <a:lnTo>
                    <a:pt x="0" y="35560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2434265" y="5210810"/>
              <a:ext cx="2596530" cy="786130"/>
            </a:xfrm>
            <a:custGeom>
              <a:avLst/>
              <a:gdLst/>
              <a:ahLst/>
              <a:cxnLst/>
              <a:rect l="l" t="t" r="r" b="b"/>
              <a:pathLst>
                <a:path w="2596530" h="786130">
                  <a:moveTo>
                    <a:pt x="1253815" y="0"/>
                  </a:moveTo>
                  <a:lnTo>
                    <a:pt x="448635" y="0"/>
                  </a:lnTo>
                  <a:cubicBezTo>
                    <a:pt x="448635" y="0"/>
                    <a:pt x="424505" y="370840"/>
                    <a:pt x="399105" y="525780"/>
                  </a:cubicBezTo>
                  <a:cubicBezTo>
                    <a:pt x="354655" y="791210"/>
                    <a:pt x="82875" y="706120"/>
                    <a:pt x="5405" y="762000"/>
                  </a:cubicBezTo>
                  <a:cubicBezTo>
                    <a:pt x="-4755" y="769620"/>
                    <a:pt x="325" y="786130"/>
                    <a:pt x="13025" y="786130"/>
                  </a:cubicBezTo>
                  <a:lnTo>
                    <a:pt x="2583505" y="786130"/>
                  </a:lnTo>
                  <a:cubicBezTo>
                    <a:pt x="2596205" y="786130"/>
                    <a:pt x="2601285" y="769620"/>
                    <a:pt x="2591125" y="762000"/>
                  </a:cubicBezTo>
                  <a:cubicBezTo>
                    <a:pt x="2513655" y="706120"/>
                    <a:pt x="2241875" y="791210"/>
                    <a:pt x="2197425" y="525780"/>
                  </a:cubicBezTo>
                  <a:cubicBezTo>
                    <a:pt x="2172025" y="370840"/>
                    <a:pt x="2147895" y="0"/>
                    <a:pt x="2147895" y="0"/>
                  </a:cubicBezTo>
                  <a:lnTo>
                    <a:pt x="1253815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14960" y="353060"/>
              <a:ext cx="6827520" cy="3835400"/>
            </a:xfrm>
            <a:custGeom>
              <a:avLst/>
              <a:gdLst/>
              <a:ahLst/>
              <a:cxnLst/>
              <a:rect l="l" t="t" r="r" b="b"/>
              <a:pathLst>
                <a:path w="6827520" h="3835400">
                  <a:moveTo>
                    <a:pt x="0" y="0"/>
                  </a:moveTo>
                  <a:lnTo>
                    <a:pt x="6827520" y="0"/>
                  </a:lnTo>
                  <a:lnTo>
                    <a:pt x="6827520" y="3835400"/>
                  </a:lnTo>
                  <a:lnTo>
                    <a:pt x="0" y="3835400"/>
                  </a:lnTo>
                  <a:close/>
                </a:path>
              </a:pathLst>
            </a:custGeom>
            <a:blipFill>
              <a:blip r:embed="rId4"/>
              <a:stretch>
                <a:fillRect b="-22829"/>
              </a:stretch>
            </a:blip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14" name="AutoShape 14"/>
          <p:cNvSpPr/>
          <p:nvPr/>
        </p:nvSpPr>
        <p:spPr>
          <a:xfrm>
            <a:off x="10054256" y="2666270"/>
            <a:ext cx="8709994" cy="0"/>
          </a:xfrm>
          <a:prstGeom prst="line">
            <a:avLst/>
          </a:prstGeom>
          <a:ln w="2857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15" name="TextBox 15"/>
          <p:cNvSpPr txBox="1"/>
          <p:nvPr/>
        </p:nvSpPr>
        <p:spPr>
          <a:xfrm>
            <a:off x="2314089" y="1371600"/>
            <a:ext cx="7444313" cy="867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2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PROBLÉM S I²C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054256" y="1100442"/>
            <a:ext cx="4838824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00"/>
              </a:lnSpc>
            </a:pPr>
            <a:r>
              <a:rPr lang="en-US" sz="5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SDA/SCL ≈ 0,5 V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2306209" y="325573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-10800000">
            <a:off x="11496334" y="-2996042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4936169" y="343116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-847920" y="7662518"/>
            <a:ext cx="6259084" cy="5993073"/>
          </a:xfrm>
          <a:custGeom>
            <a:avLst/>
            <a:gdLst/>
            <a:ahLst/>
            <a:cxnLst/>
            <a:rect l="l" t="t" r="r" b="b"/>
            <a:pathLst>
              <a:path w="6259084" h="5993073">
                <a:moveTo>
                  <a:pt x="0" y="0"/>
                </a:moveTo>
                <a:lnTo>
                  <a:pt x="6259083" y="0"/>
                </a:lnTo>
                <a:lnTo>
                  <a:pt x="6259083" y="5993073"/>
                </a:lnTo>
                <a:lnTo>
                  <a:pt x="0" y="59930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6" name="Group 6"/>
          <p:cNvGrpSpPr/>
          <p:nvPr/>
        </p:nvGrpSpPr>
        <p:grpSpPr>
          <a:xfrm>
            <a:off x="8836723" y="1028700"/>
            <a:ext cx="10613327" cy="8181535"/>
            <a:chOff x="0" y="0"/>
            <a:chExt cx="2795280" cy="215480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795280" cy="2154808"/>
            </a:xfrm>
            <a:custGeom>
              <a:avLst/>
              <a:gdLst/>
              <a:ahLst/>
              <a:cxnLst/>
              <a:rect l="l" t="t" r="r" b="b"/>
              <a:pathLst>
                <a:path w="2795280" h="2154808">
                  <a:moveTo>
                    <a:pt x="18236" y="0"/>
                  </a:moveTo>
                  <a:lnTo>
                    <a:pt x="2777043" y="0"/>
                  </a:lnTo>
                  <a:cubicBezTo>
                    <a:pt x="2787115" y="0"/>
                    <a:pt x="2795280" y="8165"/>
                    <a:pt x="2795280" y="18236"/>
                  </a:cubicBezTo>
                  <a:lnTo>
                    <a:pt x="2795280" y="2136571"/>
                  </a:lnTo>
                  <a:cubicBezTo>
                    <a:pt x="2795280" y="2146643"/>
                    <a:pt x="2787115" y="2154808"/>
                    <a:pt x="2777043" y="2154808"/>
                  </a:cubicBezTo>
                  <a:lnTo>
                    <a:pt x="18236" y="2154808"/>
                  </a:lnTo>
                  <a:cubicBezTo>
                    <a:pt x="8165" y="2154808"/>
                    <a:pt x="0" y="2146643"/>
                    <a:pt x="0" y="2136571"/>
                  </a:cubicBezTo>
                  <a:lnTo>
                    <a:pt x="0" y="18236"/>
                  </a:lnTo>
                  <a:cubicBezTo>
                    <a:pt x="0" y="8165"/>
                    <a:pt x="8165" y="0"/>
                    <a:pt x="1823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2795280" cy="2202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9" name="AutoShape 9"/>
          <p:cNvSpPr/>
          <p:nvPr/>
        </p:nvSpPr>
        <p:spPr>
          <a:xfrm>
            <a:off x="10316242" y="5119467"/>
            <a:ext cx="6987540" cy="0"/>
          </a:xfrm>
          <a:prstGeom prst="line">
            <a:avLst/>
          </a:prstGeom>
          <a:ln w="19050" cap="flat">
            <a:solidFill>
              <a:srgbClr val="CCCCC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10" name="AutoShape 10"/>
          <p:cNvSpPr/>
          <p:nvPr/>
        </p:nvSpPr>
        <p:spPr>
          <a:xfrm flipH="1">
            <a:off x="13787771" y="1873347"/>
            <a:ext cx="0" cy="6502322"/>
          </a:xfrm>
          <a:prstGeom prst="line">
            <a:avLst/>
          </a:prstGeom>
          <a:ln w="19050" cap="flat">
            <a:solidFill>
              <a:srgbClr val="CCCCC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 rot="-5400000">
            <a:off x="3196312" y="2212597"/>
            <a:ext cx="4429702" cy="8764927"/>
            <a:chOff x="0" y="0"/>
            <a:chExt cx="2620010" cy="5184140"/>
          </a:xfrm>
        </p:grpSpPr>
        <p:sp>
          <p:nvSpPr>
            <p:cNvPr id="12" name="Freeform 12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 rot="5400000">
              <a:off x="-1127754" y="1469384"/>
              <a:ext cx="4876800" cy="2250453"/>
            </a:xfrm>
            <a:custGeom>
              <a:avLst/>
              <a:gdLst/>
              <a:ahLst/>
              <a:cxnLst/>
              <a:rect l="l" t="t" r="r" b="b"/>
              <a:pathLst>
                <a:path w="4876800" h="2250453">
                  <a:moveTo>
                    <a:pt x="1" y="209562"/>
                  </a:moveTo>
                  <a:lnTo>
                    <a:pt x="1" y="481342"/>
                  </a:lnTo>
                  <a:lnTo>
                    <a:pt x="57151" y="481342"/>
                  </a:lnTo>
                  <a:cubicBezTo>
                    <a:pt x="121921" y="481342"/>
                    <a:pt x="175261" y="534682"/>
                    <a:pt x="175261" y="599452"/>
                  </a:cubicBezTo>
                  <a:lnTo>
                    <a:pt x="175261" y="1648472"/>
                  </a:lnTo>
                  <a:cubicBezTo>
                    <a:pt x="175261" y="1713242"/>
                    <a:pt x="121921" y="1766582"/>
                    <a:pt x="57151" y="1766582"/>
                  </a:cubicBezTo>
                  <a:lnTo>
                    <a:pt x="1" y="1766582"/>
                  </a:lnTo>
                  <a:lnTo>
                    <a:pt x="1" y="2040902"/>
                  </a:lnTo>
                  <a:cubicBezTo>
                    <a:pt x="1" y="2156472"/>
                    <a:pt x="93981" y="2250452"/>
                    <a:pt x="209551" y="2250452"/>
                  </a:cubicBezTo>
                  <a:lnTo>
                    <a:pt x="4667250" y="2250452"/>
                  </a:lnTo>
                  <a:cubicBezTo>
                    <a:pt x="4782821" y="2250452"/>
                    <a:pt x="4876800" y="2156472"/>
                    <a:pt x="4876800" y="2040902"/>
                  </a:cubicBezTo>
                  <a:lnTo>
                    <a:pt x="4876800" y="209562"/>
                  </a:lnTo>
                  <a:cubicBezTo>
                    <a:pt x="4876800" y="93992"/>
                    <a:pt x="4782821" y="12"/>
                    <a:pt x="4667250" y="12"/>
                  </a:cubicBezTo>
                  <a:lnTo>
                    <a:pt x="209550" y="12"/>
                  </a:lnTo>
                  <a:cubicBezTo>
                    <a:pt x="93980" y="-1258"/>
                    <a:pt x="0" y="92722"/>
                    <a:pt x="0" y="209562"/>
                  </a:cubicBezTo>
                  <a:close/>
                </a:path>
              </a:pathLst>
            </a:custGeom>
            <a:blipFill>
              <a:blip r:embed="rId4"/>
              <a:stretch>
                <a:fillRect l="-743" t="-69574" r="-2156" b="-47128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31005" y="1606657"/>
            <a:ext cx="7810328" cy="79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28"/>
              </a:lnSpc>
              <a:spcBef>
                <a:spcPct val="0"/>
              </a:spcBef>
            </a:pPr>
            <a:r>
              <a:rPr lang="en-US" sz="72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PL</a:t>
            </a:r>
            <a:r>
              <a:rPr lang="en-US" sz="7200" u="none" strike="noStrike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AYGROUND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31005" y="2650148"/>
            <a:ext cx="5324099" cy="1186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50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</a:t>
            </a:r>
            <a:r>
              <a:rPr lang="en-US" sz="2100" u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estovací prostředí vytvořené pro pokračování vývoje bez dokončeného hardwaru.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51E04A6-4048-883F-0A39-46821537B206}"/>
              </a:ext>
            </a:extLst>
          </p:cNvPr>
          <p:cNvGrpSpPr/>
          <p:nvPr/>
        </p:nvGrpSpPr>
        <p:grpSpPr>
          <a:xfrm>
            <a:off x="10316242" y="-2705100"/>
            <a:ext cx="2897530" cy="2289829"/>
            <a:chOff x="10316242" y="1994855"/>
            <a:chExt cx="2897530" cy="228982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B81FAED-3E88-D645-4CFA-93AABCAE9193}"/>
                </a:ext>
              </a:extLst>
            </p:cNvPr>
            <p:cNvSpPr txBox="1"/>
            <p:nvPr/>
          </p:nvSpPr>
          <p:spPr>
            <a:xfrm>
              <a:off x="10316242" y="3374013"/>
              <a:ext cx="2897530" cy="9106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irtuální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reprezentace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hráčů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jejich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pohybu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herním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prostředí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25" name="TextBox 27">
              <a:extLst>
                <a:ext uri="{FF2B5EF4-FFF2-40B4-BE49-F238E27FC236}">
                  <a16:creationId xmlns:a16="http://schemas.microsoft.com/office/drawing/2014/main" id="{4609942B-6EBE-2E4B-A0D0-89EDED9896E3}"/>
                </a:ext>
              </a:extLst>
            </p:cNvPr>
            <p:cNvSpPr txBox="1"/>
            <p:nvPr/>
          </p:nvSpPr>
          <p:spPr>
            <a:xfrm>
              <a:off x="10447116" y="1994855"/>
              <a:ext cx="26357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Simulace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hráčů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2306209" y="325573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-10800000">
            <a:off x="11496334" y="-2996042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4936169" y="343116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-847920" y="7662518"/>
            <a:ext cx="6259084" cy="5993073"/>
          </a:xfrm>
          <a:custGeom>
            <a:avLst/>
            <a:gdLst/>
            <a:ahLst/>
            <a:cxnLst/>
            <a:rect l="l" t="t" r="r" b="b"/>
            <a:pathLst>
              <a:path w="6259084" h="5993073">
                <a:moveTo>
                  <a:pt x="0" y="0"/>
                </a:moveTo>
                <a:lnTo>
                  <a:pt x="6259083" y="0"/>
                </a:lnTo>
                <a:lnTo>
                  <a:pt x="6259083" y="5993073"/>
                </a:lnTo>
                <a:lnTo>
                  <a:pt x="0" y="59930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6" name="Group 6"/>
          <p:cNvGrpSpPr/>
          <p:nvPr/>
        </p:nvGrpSpPr>
        <p:grpSpPr>
          <a:xfrm>
            <a:off x="8836723" y="1028700"/>
            <a:ext cx="10613327" cy="8181535"/>
            <a:chOff x="0" y="0"/>
            <a:chExt cx="2795280" cy="215480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795280" cy="2154808"/>
            </a:xfrm>
            <a:custGeom>
              <a:avLst/>
              <a:gdLst/>
              <a:ahLst/>
              <a:cxnLst/>
              <a:rect l="l" t="t" r="r" b="b"/>
              <a:pathLst>
                <a:path w="2795280" h="2154808">
                  <a:moveTo>
                    <a:pt x="18236" y="0"/>
                  </a:moveTo>
                  <a:lnTo>
                    <a:pt x="2777043" y="0"/>
                  </a:lnTo>
                  <a:cubicBezTo>
                    <a:pt x="2787115" y="0"/>
                    <a:pt x="2795280" y="8165"/>
                    <a:pt x="2795280" y="18236"/>
                  </a:cubicBezTo>
                  <a:lnTo>
                    <a:pt x="2795280" y="2136571"/>
                  </a:lnTo>
                  <a:cubicBezTo>
                    <a:pt x="2795280" y="2146643"/>
                    <a:pt x="2787115" y="2154808"/>
                    <a:pt x="2777043" y="2154808"/>
                  </a:cubicBezTo>
                  <a:lnTo>
                    <a:pt x="18236" y="2154808"/>
                  </a:lnTo>
                  <a:cubicBezTo>
                    <a:pt x="8165" y="2154808"/>
                    <a:pt x="0" y="2146643"/>
                    <a:pt x="0" y="2136571"/>
                  </a:cubicBezTo>
                  <a:lnTo>
                    <a:pt x="0" y="18236"/>
                  </a:lnTo>
                  <a:cubicBezTo>
                    <a:pt x="0" y="8165"/>
                    <a:pt x="8165" y="0"/>
                    <a:pt x="1823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2795280" cy="2202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9" name="AutoShape 9"/>
          <p:cNvSpPr/>
          <p:nvPr/>
        </p:nvSpPr>
        <p:spPr>
          <a:xfrm>
            <a:off x="10316242" y="5119467"/>
            <a:ext cx="6987540" cy="0"/>
          </a:xfrm>
          <a:prstGeom prst="line">
            <a:avLst/>
          </a:prstGeom>
          <a:ln w="19050" cap="flat">
            <a:solidFill>
              <a:srgbClr val="CCCCC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10" name="AutoShape 10"/>
          <p:cNvSpPr/>
          <p:nvPr/>
        </p:nvSpPr>
        <p:spPr>
          <a:xfrm flipH="1">
            <a:off x="13787771" y="1873347"/>
            <a:ext cx="0" cy="6502322"/>
          </a:xfrm>
          <a:prstGeom prst="line">
            <a:avLst/>
          </a:prstGeom>
          <a:ln w="19050" cap="flat">
            <a:solidFill>
              <a:srgbClr val="CCCCC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 rot="-5400000">
            <a:off x="3196312" y="2212597"/>
            <a:ext cx="4429702" cy="8764927"/>
            <a:chOff x="0" y="0"/>
            <a:chExt cx="2620010" cy="5184140"/>
          </a:xfrm>
        </p:grpSpPr>
        <p:sp>
          <p:nvSpPr>
            <p:cNvPr id="12" name="Freeform 12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 rot="5400000">
              <a:off x="-1127754" y="1469384"/>
              <a:ext cx="4876800" cy="2250453"/>
            </a:xfrm>
            <a:custGeom>
              <a:avLst/>
              <a:gdLst/>
              <a:ahLst/>
              <a:cxnLst/>
              <a:rect l="l" t="t" r="r" b="b"/>
              <a:pathLst>
                <a:path w="4876800" h="2250453">
                  <a:moveTo>
                    <a:pt x="1" y="209562"/>
                  </a:moveTo>
                  <a:lnTo>
                    <a:pt x="1" y="481342"/>
                  </a:lnTo>
                  <a:lnTo>
                    <a:pt x="57151" y="481342"/>
                  </a:lnTo>
                  <a:cubicBezTo>
                    <a:pt x="121921" y="481342"/>
                    <a:pt x="175261" y="534682"/>
                    <a:pt x="175261" y="599452"/>
                  </a:cubicBezTo>
                  <a:lnTo>
                    <a:pt x="175261" y="1648472"/>
                  </a:lnTo>
                  <a:cubicBezTo>
                    <a:pt x="175261" y="1713242"/>
                    <a:pt x="121921" y="1766582"/>
                    <a:pt x="57151" y="1766582"/>
                  </a:cubicBezTo>
                  <a:lnTo>
                    <a:pt x="1" y="1766582"/>
                  </a:lnTo>
                  <a:lnTo>
                    <a:pt x="1" y="2040902"/>
                  </a:lnTo>
                  <a:cubicBezTo>
                    <a:pt x="1" y="2156472"/>
                    <a:pt x="93981" y="2250452"/>
                    <a:pt x="209551" y="2250452"/>
                  </a:cubicBezTo>
                  <a:lnTo>
                    <a:pt x="4667250" y="2250452"/>
                  </a:lnTo>
                  <a:cubicBezTo>
                    <a:pt x="4782821" y="2250452"/>
                    <a:pt x="4876800" y="2156472"/>
                    <a:pt x="4876800" y="2040902"/>
                  </a:cubicBezTo>
                  <a:lnTo>
                    <a:pt x="4876800" y="209562"/>
                  </a:lnTo>
                  <a:cubicBezTo>
                    <a:pt x="4876800" y="93992"/>
                    <a:pt x="4782821" y="12"/>
                    <a:pt x="4667250" y="12"/>
                  </a:cubicBezTo>
                  <a:lnTo>
                    <a:pt x="209550" y="12"/>
                  </a:lnTo>
                  <a:cubicBezTo>
                    <a:pt x="93980" y="-1258"/>
                    <a:pt x="0" y="92722"/>
                    <a:pt x="0" y="209562"/>
                  </a:cubicBezTo>
                  <a:close/>
                </a:path>
              </a:pathLst>
            </a:custGeom>
            <a:blipFill>
              <a:blip r:embed="rId4"/>
              <a:stretch>
                <a:fillRect l="-743" t="-69574" r="-2156" b="-47128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31005" y="1606657"/>
            <a:ext cx="7810328" cy="79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28"/>
              </a:lnSpc>
              <a:spcBef>
                <a:spcPct val="0"/>
              </a:spcBef>
            </a:pPr>
            <a:r>
              <a:rPr lang="en-US" sz="72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PL</a:t>
            </a:r>
            <a:r>
              <a:rPr lang="en-US" sz="7200" u="none" strike="noStrike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AYGROUND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31005" y="2650148"/>
            <a:ext cx="5324099" cy="1186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50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</a:t>
            </a:r>
            <a:r>
              <a:rPr lang="en-US" sz="2100" u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estovací prostředí vytvořené pro pokračování vývoje bez dokončeného hardwaru.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6BC9038-6D9D-A7E7-929F-0526E87D4C82}"/>
              </a:ext>
            </a:extLst>
          </p:cNvPr>
          <p:cNvGrpSpPr/>
          <p:nvPr/>
        </p:nvGrpSpPr>
        <p:grpSpPr>
          <a:xfrm>
            <a:off x="10316242" y="1994855"/>
            <a:ext cx="2897530" cy="2289829"/>
            <a:chOff x="10316242" y="1994855"/>
            <a:chExt cx="2897530" cy="2289829"/>
          </a:xfrm>
        </p:grpSpPr>
        <p:sp>
          <p:nvSpPr>
            <p:cNvPr id="32" name="TextBox 23">
              <a:extLst>
                <a:ext uri="{FF2B5EF4-FFF2-40B4-BE49-F238E27FC236}">
                  <a16:creationId xmlns:a16="http://schemas.microsoft.com/office/drawing/2014/main" id="{6A6E0FDD-BD14-2F56-DC98-F9FA02942016}"/>
                </a:ext>
              </a:extLst>
            </p:cNvPr>
            <p:cNvSpPr txBox="1"/>
            <p:nvPr/>
          </p:nvSpPr>
          <p:spPr>
            <a:xfrm>
              <a:off x="10316242" y="3374013"/>
              <a:ext cx="2897530" cy="9106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irtuální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reprezentace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hráčů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jejich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pohybu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herním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prostředí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33" name="TextBox 27">
              <a:extLst>
                <a:ext uri="{FF2B5EF4-FFF2-40B4-BE49-F238E27FC236}">
                  <a16:creationId xmlns:a16="http://schemas.microsoft.com/office/drawing/2014/main" id="{84DD08A5-4FCF-2283-54F3-6AE0D1829FA7}"/>
                </a:ext>
              </a:extLst>
            </p:cNvPr>
            <p:cNvSpPr txBox="1"/>
            <p:nvPr/>
          </p:nvSpPr>
          <p:spPr>
            <a:xfrm>
              <a:off x="10447116" y="1994855"/>
              <a:ext cx="26357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Simulace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hráčů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5EB2986-C765-B880-AC56-5748FC9B098B}"/>
              </a:ext>
            </a:extLst>
          </p:cNvPr>
          <p:cNvGrpSpPr/>
          <p:nvPr/>
        </p:nvGrpSpPr>
        <p:grpSpPr>
          <a:xfrm>
            <a:off x="20142830" y="1994855"/>
            <a:ext cx="2945770" cy="1985002"/>
            <a:chOff x="14337650" y="1994855"/>
            <a:chExt cx="2945770" cy="1985002"/>
          </a:xfrm>
        </p:grpSpPr>
        <p:sp>
          <p:nvSpPr>
            <p:cNvPr id="35" name="TextBox 24">
              <a:extLst>
                <a:ext uri="{FF2B5EF4-FFF2-40B4-BE49-F238E27FC236}">
                  <a16:creationId xmlns:a16="http://schemas.microsoft.com/office/drawing/2014/main" id="{5D2DF507-2629-EB51-A2E8-52FC9A37A530}"/>
                </a:ext>
              </a:extLst>
            </p:cNvPr>
            <p:cNvSpPr txBox="1"/>
            <p:nvPr/>
          </p:nvSpPr>
          <p:spPr>
            <a:xfrm>
              <a:off x="14361770" y="3374013"/>
              <a:ext cx="2897530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Ověř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ování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detekce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zásahů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logiky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36" name="TextBox 28">
              <a:extLst>
                <a:ext uri="{FF2B5EF4-FFF2-40B4-BE49-F238E27FC236}">
                  <a16:creationId xmlns:a16="http://schemas.microsoft.com/office/drawing/2014/main" id="{3F33D957-4BE4-151D-CAF8-A5E5170A6891}"/>
                </a:ext>
              </a:extLst>
            </p:cNvPr>
            <p:cNvSpPr txBox="1"/>
            <p:nvPr/>
          </p:nvSpPr>
          <p:spPr>
            <a:xfrm>
              <a:off x="14337650" y="1994855"/>
              <a:ext cx="2945770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Testování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zásahů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2306209" y="325573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-10800000">
            <a:off x="11496334" y="-2996042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4936169" y="343116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-847920" y="7662518"/>
            <a:ext cx="6259084" cy="5993073"/>
          </a:xfrm>
          <a:custGeom>
            <a:avLst/>
            <a:gdLst/>
            <a:ahLst/>
            <a:cxnLst/>
            <a:rect l="l" t="t" r="r" b="b"/>
            <a:pathLst>
              <a:path w="6259084" h="5993073">
                <a:moveTo>
                  <a:pt x="0" y="0"/>
                </a:moveTo>
                <a:lnTo>
                  <a:pt x="6259083" y="0"/>
                </a:lnTo>
                <a:lnTo>
                  <a:pt x="6259083" y="5993073"/>
                </a:lnTo>
                <a:lnTo>
                  <a:pt x="0" y="59930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6" name="Group 6"/>
          <p:cNvGrpSpPr/>
          <p:nvPr/>
        </p:nvGrpSpPr>
        <p:grpSpPr>
          <a:xfrm>
            <a:off x="8836723" y="1028700"/>
            <a:ext cx="10613327" cy="8181535"/>
            <a:chOff x="0" y="0"/>
            <a:chExt cx="2795280" cy="215480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795280" cy="2154808"/>
            </a:xfrm>
            <a:custGeom>
              <a:avLst/>
              <a:gdLst/>
              <a:ahLst/>
              <a:cxnLst/>
              <a:rect l="l" t="t" r="r" b="b"/>
              <a:pathLst>
                <a:path w="2795280" h="2154808">
                  <a:moveTo>
                    <a:pt x="18236" y="0"/>
                  </a:moveTo>
                  <a:lnTo>
                    <a:pt x="2777043" y="0"/>
                  </a:lnTo>
                  <a:cubicBezTo>
                    <a:pt x="2787115" y="0"/>
                    <a:pt x="2795280" y="8165"/>
                    <a:pt x="2795280" y="18236"/>
                  </a:cubicBezTo>
                  <a:lnTo>
                    <a:pt x="2795280" y="2136571"/>
                  </a:lnTo>
                  <a:cubicBezTo>
                    <a:pt x="2795280" y="2146643"/>
                    <a:pt x="2787115" y="2154808"/>
                    <a:pt x="2777043" y="2154808"/>
                  </a:cubicBezTo>
                  <a:lnTo>
                    <a:pt x="18236" y="2154808"/>
                  </a:lnTo>
                  <a:cubicBezTo>
                    <a:pt x="8165" y="2154808"/>
                    <a:pt x="0" y="2146643"/>
                    <a:pt x="0" y="2136571"/>
                  </a:cubicBezTo>
                  <a:lnTo>
                    <a:pt x="0" y="18236"/>
                  </a:lnTo>
                  <a:cubicBezTo>
                    <a:pt x="0" y="8165"/>
                    <a:pt x="8165" y="0"/>
                    <a:pt x="1823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2795280" cy="2202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9" name="AutoShape 9"/>
          <p:cNvSpPr/>
          <p:nvPr/>
        </p:nvSpPr>
        <p:spPr>
          <a:xfrm>
            <a:off x="10316242" y="5119467"/>
            <a:ext cx="6987540" cy="0"/>
          </a:xfrm>
          <a:prstGeom prst="line">
            <a:avLst/>
          </a:prstGeom>
          <a:ln w="19050" cap="flat">
            <a:solidFill>
              <a:srgbClr val="CCCCC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10" name="AutoShape 10"/>
          <p:cNvSpPr/>
          <p:nvPr/>
        </p:nvSpPr>
        <p:spPr>
          <a:xfrm flipH="1">
            <a:off x="13787771" y="1873347"/>
            <a:ext cx="0" cy="6502322"/>
          </a:xfrm>
          <a:prstGeom prst="line">
            <a:avLst/>
          </a:prstGeom>
          <a:ln w="19050" cap="flat">
            <a:solidFill>
              <a:srgbClr val="CCCCC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 rot="-5400000">
            <a:off x="3196312" y="2212597"/>
            <a:ext cx="4429702" cy="8764927"/>
            <a:chOff x="0" y="0"/>
            <a:chExt cx="2620010" cy="5184140"/>
          </a:xfrm>
        </p:grpSpPr>
        <p:sp>
          <p:nvSpPr>
            <p:cNvPr id="12" name="Freeform 12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 rot="5400000">
              <a:off x="-1127754" y="1469384"/>
              <a:ext cx="4876800" cy="2250453"/>
            </a:xfrm>
            <a:custGeom>
              <a:avLst/>
              <a:gdLst/>
              <a:ahLst/>
              <a:cxnLst/>
              <a:rect l="l" t="t" r="r" b="b"/>
              <a:pathLst>
                <a:path w="4876800" h="2250453">
                  <a:moveTo>
                    <a:pt x="1" y="209562"/>
                  </a:moveTo>
                  <a:lnTo>
                    <a:pt x="1" y="481342"/>
                  </a:lnTo>
                  <a:lnTo>
                    <a:pt x="57151" y="481342"/>
                  </a:lnTo>
                  <a:cubicBezTo>
                    <a:pt x="121921" y="481342"/>
                    <a:pt x="175261" y="534682"/>
                    <a:pt x="175261" y="599452"/>
                  </a:cubicBezTo>
                  <a:lnTo>
                    <a:pt x="175261" y="1648472"/>
                  </a:lnTo>
                  <a:cubicBezTo>
                    <a:pt x="175261" y="1713242"/>
                    <a:pt x="121921" y="1766582"/>
                    <a:pt x="57151" y="1766582"/>
                  </a:cubicBezTo>
                  <a:lnTo>
                    <a:pt x="1" y="1766582"/>
                  </a:lnTo>
                  <a:lnTo>
                    <a:pt x="1" y="2040902"/>
                  </a:lnTo>
                  <a:cubicBezTo>
                    <a:pt x="1" y="2156472"/>
                    <a:pt x="93981" y="2250452"/>
                    <a:pt x="209551" y="2250452"/>
                  </a:cubicBezTo>
                  <a:lnTo>
                    <a:pt x="4667250" y="2250452"/>
                  </a:lnTo>
                  <a:cubicBezTo>
                    <a:pt x="4782821" y="2250452"/>
                    <a:pt x="4876800" y="2156472"/>
                    <a:pt x="4876800" y="2040902"/>
                  </a:cubicBezTo>
                  <a:lnTo>
                    <a:pt x="4876800" y="209562"/>
                  </a:lnTo>
                  <a:cubicBezTo>
                    <a:pt x="4876800" y="93992"/>
                    <a:pt x="4782821" y="12"/>
                    <a:pt x="4667250" y="12"/>
                  </a:cubicBezTo>
                  <a:lnTo>
                    <a:pt x="209550" y="12"/>
                  </a:lnTo>
                  <a:cubicBezTo>
                    <a:pt x="93980" y="-1258"/>
                    <a:pt x="0" y="92722"/>
                    <a:pt x="0" y="209562"/>
                  </a:cubicBezTo>
                  <a:close/>
                </a:path>
              </a:pathLst>
            </a:custGeom>
            <a:blipFill>
              <a:blip r:embed="rId4"/>
              <a:stretch>
                <a:fillRect l="-743" t="-69574" r="-2156" b="-47128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31005" y="1606657"/>
            <a:ext cx="7810328" cy="79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28"/>
              </a:lnSpc>
              <a:spcBef>
                <a:spcPct val="0"/>
              </a:spcBef>
            </a:pPr>
            <a:r>
              <a:rPr lang="en-US" sz="72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PL</a:t>
            </a:r>
            <a:r>
              <a:rPr lang="en-US" sz="7200" u="none" strike="noStrike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AYGROUND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31005" y="2650148"/>
            <a:ext cx="5324099" cy="1186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50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</a:t>
            </a:r>
            <a:r>
              <a:rPr lang="en-US" sz="2100" u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estovací prostředí vytvořené pro pokračování vývoje bez dokončeného hardwaru.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604884D-0491-2E12-D4B4-DE4ECA8997FA}"/>
              </a:ext>
            </a:extLst>
          </p:cNvPr>
          <p:cNvGrpSpPr/>
          <p:nvPr/>
        </p:nvGrpSpPr>
        <p:grpSpPr>
          <a:xfrm>
            <a:off x="10316242" y="1994855"/>
            <a:ext cx="2897530" cy="2289829"/>
            <a:chOff x="10316242" y="1994855"/>
            <a:chExt cx="2897530" cy="2289829"/>
          </a:xfrm>
        </p:grpSpPr>
        <p:sp>
          <p:nvSpPr>
            <p:cNvPr id="32" name="TextBox 23">
              <a:extLst>
                <a:ext uri="{FF2B5EF4-FFF2-40B4-BE49-F238E27FC236}">
                  <a16:creationId xmlns:a16="http://schemas.microsoft.com/office/drawing/2014/main" id="{B2DAE6F0-116C-3D04-7629-85B6A6B21886}"/>
                </a:ext>
              </a:extLst>
            </p:cNvPr>
            <p:cNvSpPr txBox="1"/>
            <p:nvPr/>
          </p:nvSpPr>
          <p:spPr>
            <a:xfrm>
              <a:off x="10316242" y="3374013"/>
              <a:ext cx="2897530" cy="9106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irtuální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reprezentace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hráčů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jejich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pohybu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herním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prostředí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33" name="TextBox 27">
              <a:extLst>
                <a:ext uri="{FF2B5EF4-FFF2-40B4-BE49-F238E27FC236}">
                  <a16:creationId xmlns:a16="http://schemas.microsoft.com/office/drawing/2014/main" id="{77B2E29F-171D-0A1F-9621-02437B3FA12F}"/>
                </a:ext>
              </a:extLst>
            </p:cNvPr>
            <p:cNvSpPr txBox="1"/>
            <p:nvPr/>
          </p:nvSpPr>
          <p:spPr>
            <a:xfrm>
              <a:off x="10447116" y="1994855"/>
              <a:ext cx="26357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Simulace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hráčů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80FA05A-5FF9-B2FD-7F43-B77AA67F98E3}"/>
              </a:ext>
            </a:extLst>
          </p:cNvPr>
          <p:cNvGrpSpPr/>
          <p:nvPr/>
        </p:nvGrpSpPr>
        <p:grpSpPr>
          <a:xfrm>
            <a:off x="14337650" y="1994855"/>
            <a:ext cx="2945770" cy="1985002"/>
            <a:chOff x="14337650" y="1994855"/>
            <a:chExt cx="2945770" cy="1985002"/>
          </a:xfrm>
        </p:grpSpPr>
        <p:sp>
          <p:nvSpPr>
            <p:cNvPr id="35" name="TextBox 24">
              <a:extLst>
                <a:ext uri="{FF2B5EF4-FFF2-40B4-BE49-F238E27FC236}">
                  <a16:creationId xmlns:a16="http://schemas.microsoft.com/office/drawing/2014/main" id="{1B974331-6869-EC49-4BCA-456EEBE320F1}"/>
                </a:ext>
              </a:extLst>
            </p:cNvPr>
            <p:cNvSpPr txBox="1"/>
            <p:nvPr/>
          </p:nvSpPr>
          <p:spPr>
            <a:xfrm>
              <a:off x="14361770" y="3374013"/>
              <a:ext cx="2897530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Ověř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ování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detekce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zásahů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logiky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36" name="TextBox 28">
              <a:extLst>
                <a:ext uri="{FF2B5EF4-FFF2-40B4-BE49-F238E27FC236}">
                  <a16:creationId xmlns:a16="http://schemas.microsoft.com/office/drawing/2014/main" id="{14C1692C-D106-C7F0-1DE6-4065AF11A590}"/>
                </a:ext>
              </a:extLst>
            </p:cNvPr>
            <p:cNvSpPr txBox="1"/>
            <p:nvPr/>
          </p:nvSpPr>
          <p:spPr>
            <a:xfrm>
              <a:off x="14337650" y="1994855"/>
              <a:ext cx="2945770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Testování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zásahů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37B1AF-4C5F-207D-D802-18632B1AA0ED}"/>
              </a:ext>
            </a:extLst>
          </p:cNvPr>
          <p:cNvGrpSpPr/>
          <p:nvPr/>
        </p:nvGrpSpPr>
        <p:grpSpPr>
          <a:xfrm>
            <a:off x="10316242" y="12100559"/>
            <a:ext cx="2897530" cy="1958341"/>
            <a:chOff x="10316242" y="5488364"/>
            <a:chExt cx="2897530" cy="1958341"/>
          </a:xfrm>
        </p:grpSpPr>
        <p:sp>
          <p:nvSpPr>
            <p:cNvPr id="38" name="TextBox 25">
              <a:extLst>
                <a:ext uri="{FF2B5EF4-FFF2-40B4-BE49-F238E27FC236}">
                  <a16:creationId xmlns:a16="http://schemas.microsoft.com/office/drawing/2014/main" id="{94A8C4F7-CCD7-ACFB-AEA7-29B47BBE1EE0}"/>
                </a:ext>
              </a:extLst>
            </p:cNvPr>
            <p:cNvSpPr txBox="1"/>
            <p:nvPr/>
          </p:nvSpPr>
          <p:spPr>
            <a:xfrm>
              <a:off x="10316242" y="6840861"/>
              <a:ext cx="2897530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Náv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rh a testování základních principů hry.</a:t>
              </a:r>
            </a:p>
          </p:txBody>
        </p:sp>
        <p:sp>
          <p:nvSpPr>
            <p:cNvPr id="39" name="TextBox 29">
              <a:extLst>
                <a:ext uri="{FF2B5EF4-FFF2-40B4-BE49-F238E27FC236}">
                  <a16:creationId xmlns:a16="http://schemas.microsoft.com/office/drawing/2014/main" id="{12AAE73F-C526-B765-5974-CEE08FEE0969}"/>
                </a:ext>
              </a:extLst>
            </p:cNvPr>
            <p:cNvSpPr txBox="1"/>
            <p:nvPr/>
          </p:nvSpPr>
          <p:spPr>
            <a:xfrm>
              <a:off x="10637764" y="5488364"/>
              <a:ext cx="2445133" cy="11066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420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Vývoj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herních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mechanik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2306209" y="325573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-10800000">
            <a:off x="11496334" y="-2996042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4936169" y="343116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-847920" y="7662518"/>
            <a:ext cx="6259084" cy="5993073"/>
          </a:xfrm>
          <a:custGeom>
            <a:avLst/>
            <a:gdLst/>
            <a:ahLst/>
            <a:cxnLst/>
            <a:rect l="l" t="t" r="r" b="b"/>
            <a:pathLst>
              <a:path w="6259084" h="5993073">
                <a:moveTo>
                  <a:pt x="0" y="0"/>
                </a:moveTo>
                <a:lnTo>
                  <a:pt x="6259083" y="0"/>
                </a:lnTo>
                <a:lnTo>
                  <a:pt x="6259083" y="5993073"/>
                </a:lnTo>
                <a:lnTo>
                  <a:pt x="0" y="59930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6" name="Group 6"/>
          <p:cNvGrpSpPr/>
          <p:nvPr/>
        </p:nvGrpSpPr>
        <p:grpSpPr>
          <a:xfrm>
            <a:off x="8836723" y="1028700"/>
            <a:ext cx="10613327" cy="8181535"/>
            <a:chOff x="0" y="0"/>
            <a:chExt cx="2795280" cy="215480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795280" cy="2154808"/>
            </a:xfrm>
            <a:custGeom>
              <a:avLst/>
              <a:gdLst/>
              <a:ahLst/>
              <a:cxnLst/>
              <a:rect l="l" t="t" r="r" b="b"/>
              <a:pathLst>
                <a:path w="2795280" h="2154808">
                  <a:moveTo>
                    <a:pt x="18236" y="0"/>
                  </a:moveTo>
                  <a:lnTo>
                    <a:pt x="2777043" y="0"/>
                  </a:lnTo>
                  <a:cubicBezTo>
                    <a:pt x="2787115" y="0"/>
                    <a:pt x="2795280" y="8165"/>
                    <a:pt x="2795280" y="18236"/>
                  </a:cubicBezTo>
                  <a:lnTo>
                    <a:pt x="2795280" y="2136571"/>
                  </a:lnTo>
                  <a:cubicBezTo>
                    <a:pt x="2795280" y="2146643"/>
                    <a:pt x="2787115" y="2154808"/>
                    <a:pt x="2777043" y="2154808"/>
                  </a:cubicBezTo>
                  <a:lnTo>
                    <a:pt x="18236" y="2154808"/>
                  </a:lnTo>
                  <a:cubicBezTo>
                    <a:pt x="8165" y="2154808"/>
                    <a:pt x="0" y="2146643"/>
                    <a:pt x="0" y="2136571"/>
                  </a:cubicBezTo>
                  <a:lnTo>
                    <a:pt x="0" y="18236"/>
                  </a:lnTo>
                  <a:cubicBezTo>
                    <a:pt x="0" y="8165"/>
                    <a:pt x="8165" y="0"/>
                    <a:pt x="1823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2795280" cy="2202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9" name="AutoShape 9"/>
          <p:cNvSpPr/>
          <p:nvPr/>
        </p:nvSpPr>
        <p:spPr>
          <a:xfrm>
            <a:off x="10316242" y="5119467"/>
            <a:ext cx="6987540" cy="0"/>
          </a:xfrm>
          <a:prstGeom prst="line">
            <a:avLst/>
          </a:prstGeom>
          <a:ln w="19050" cap="flat">
            <a:solidFill>
              <a:srgbClr val="CCCCC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10" name="AutoShape 10"/>
          <p:cNvSpPr/>
          <p:nvPr/>
        </p:nvSpPr>
        <p:spPr>
          <a:xfrm flipH="1">
            <a:off x="13787771" y="1873347"/>
            <a:ext cx="0" cy="6502322"/>
          </a:xfrm>
          <a:prstGeom prst="line">
            <a:avLst/>
          </a:prstGeom>
          <a:ln w="19050" cap="flat">
            <a:solidFill>
              <a:srgbClr val="CCCCC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 rot="-5400000">
            <a:off x="3196312" y="2212597"/>
            <a:ext cx="4429702" cy="8764927"/>
            <a:chOff x="0" y="0"/>
            <a:chExt cx="2620010" cy="5184140"/>
          </a:xfrm>
        </p:grpSpPr>
        <p:sp>
          <p:nvSpPr>
            <p:cNvPr id="12" name="Freeform 12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 rot="5400000">
              <a:off x="-1127754" y="1469384"/>
              <a:ext cx="4876800" cy="2250453"/>
            </a:xfrm>
            <a:custGeom>
              <a:avLst/>
              <a:gdLst/>
              <a:ahLst/>
              <a:cxnLst/>
              <a:rect l="l" t="t" r="r" b="b"/>
              <a:pathLst>
                <a:path w="4876800" h="2250453">
                  <a:moveTo>
                    <a:pt x="1" y="209562"/>
                  </a:moveTo>
                  <a:lnTo>
                    <a:pt x="1" y="481342"/>
                  </a:lnTo>
                  <a:lnTo>
                    <a:pt x="57151" y="481342"/>
                  </a:lnTo>
                  <a:cubicBezTo>
                    <a:pt x="121921" y="481342"/>
                    <a:pt x="175261" y="534682"/>
                    <a:pt x="175261" y="599452"/>
                  </a:cubicBezTo>
                  <a:lnTo>
                    <a:pt x="175261" y="1648472"/>
                  </a:lnTo>
                  <a:cubicBezTo>
                    <a:pt x="175261" y="1713242"/>
                    <a:pt x="121921" y="1766582"/>
                    <a:pt x="57151" y="1766582"/>
                  </a:cubicBezTo>
                  <a:lnTo>
                    <a:pt x="1" y="1766582"/>
                  </a:lnTo>
                  <a:lnTo>
                    <a:pt x="1" y="2040902"/>
                  </a:lnTo>
                  <a:cubicBezTo>
                    <a:pt x="1" y="2156472"/>
                    <a:pt x="93981" y="2250452"/>
                    <a:pt x="209551" y="2250452"/>
                  </a:cubicBezTo>
                  <a:lnTo>
                    <a:pt x="4667250" y="2250452"/>
                  </a:lnTo>
                  <a:cubicBezTo>
                    <a:pt x="4782821" y="2250452"/>
                    <a:pt x="4876800" y="2156472"/>
                    <a:pt x="4876800" y="2040902"/>
                  </a:cubicBezTo>
                  <a:lnTo>
                    <a:pt x="4876800" y="209562"/>
                  </a:lnTo>
                  <a:cubicBezTo>
                    <a:pt x="4876800" y="93992"/>
                    <a:pt x="4782821" y="12"/>
                    <a:pt x="4667250" y="12"/>
                  </a:cubicBezTo>
                  <a:lnTo>
                    <a:pt x="209550" y="12"/>
                  </a:lnTo>
                  <a:cubicBezTo>
                    <a:pt x="93980" y="-1258"/>
                    <a:pt x="0" y="92722"/>
                    <a:pt x="0" y="209562"/>
                  </a:cubicBezTo>
                  <a:close/>
                </a:path>
              </a:pathLst>
            </a:custGeom>
            <a:blipFill>
              <a:blip r:embed="rId4"/>
              <a:stretch>
                <a:fillRect l="-743" t="-69574" r="-2156" b="-47128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31005" y="1606657"/>
            <a:ext cx="7810328" cy="79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28"/>
              </a:lnSpc>
              <a:spcBef>
                <a:spcPct val="0"/>
              </a:spcBef>
            </a:pPr>
            <a:r>
              <a:rPr lang="en-US" sz="72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PL</a:t>
            </a:r>
            <a:r>
              <a:rPr lang="en-US" sz="7200" u="none" strike="noStrike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AYGROUND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31005" y="2650148"/>
            <a:ext cx="5324099" cy="1186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50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</a:t>
            </a:r>
            <a:r>
              <a:rPr lang="en-US" sz="2100" u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estovací prostředí vytvořené pro pokračování vývoje bez dokončeného hardwaru.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21047B4-AAA2-E488-6E80-E09A481F896C}"/>
              </a:ext>
            </a:extLst>
          </p:cNvPr>
          <p:cNvGrpSpPr/>
          <p:nvPr/>
        </p:nvGrpSpPr>
        <p:grpSpPr>
          <a:xfrm>
            <a:off x="10316242" y="1994855"/>
            <a:ext cx="2897530" cy="2289829"/>
            <a:chOff x="10316242" y="1994855"/>
            <a:chExt cx="2897530" cy="2289829"/>
          </a:xfrm>
        </p:grpSpPr>
        <p:sp>
          <p:nvSpPr>
            <p:cNvPr id="32" name="TextBox 23">
              <a:extLst>
                <a:ext uri="{FF2B5EF4-FFF2-40B4-BE49-F238E27FC236}">
                  <a16:creationId xmlns:a16="http://schemas.microsoft.com/office/drawing/2014/main" id="{4F00EC23-6A00-FEB8-74D3-D34B1CA60816}"/>
                </a:ext>
              </a:extLst>
            </p:cNvPr>
            <p:cNvSpPr txBox="1"/>
            <p:nvPr/>
          </p:nvSpPr>
          <p:spPr>
            <a:xfrm>
              <a:off x="10316242" y="3374013"/>
              <a:ext cx="2897530" cy="9106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irtuální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reprezentace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hráčů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jejich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pohybu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herním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prostředí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33" name="TextBox 27">
              <a:extLst>
                <a:ext uri="{FF2B5EF4-FFF2-40B4-BE49-F238E27FC236}">
                  <a16:creationId xmlns:a16="http://schemas.microsoft.com/office/drawing/2014/main" id="{76FDAD69-E3CE-E321-B9FD-EAAE70B3D76A}"/>
                </a:ext>
              </a:extLst>
            </p:cNvPr>
            <p:cNvSpPr txBox="1"/>
            <p:nvPr/>
          </p:nvSpPr>
          <p:spPr>
            <a:xfrm>
              <a:off x="10447116" y="1994855"/>
              <a:ext cx="26357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Simulace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hráčů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9A4FA5B-2E64-77A3-3D8D-CB40D3EB36E0}"/>
              </a:ext>
            </a:extLst>
          </p:cNvPr>
          <p:cNvGrpSpPr/>
          <p:nvPr/>
        </p:nvGrpSpPr>
        <p:grpSpPr>
          <a:xfrm>
            <a:off x="14337650" y="1994855"/>
            <a:ext cx="2945770" cy="1985002"/>
            <a:chOff x="14337650" y="1994855"/>
            <a:chExt cx="2945770" cy="1985002"/>
          </a:xfrm>
        </p:grpSpPr>
        <p:sp>
          <p:nvSpPr>
            <p:cNvPr id="35" name="TextBox 24">
              <a:extLst>
                <a:ext uri="{FF2B5EF4-FFF2-40B4-BE49-F238E27FC236}">
                  <a16:creationId xmlns:a16="http://schemas.microsoft.com/office/drawing/2014/main" id="{F4BEA0D6-4CE0-EB45-E25D-115D227596AC}"/>
                </a:ext>
              </a:extLst>
            </p:cNvPr>
            <p:cNvSpPr txBox="1"/>
            <p:nvPr/>
          </p:nvSpPr>
          <p:spPr>
            <a:xfrm>
              <a:off x="14361770" y="3374013"/>
              <a:ext cx="2897530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Ověř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ování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detekce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zásahů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logiky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36" name="TextBox 28">
              <a:extLst>
                <a:ext uri="{FF2B5EF4-FFF2-40B4-BE49-F238E27FC236}">
                  <a16:creationId xmlns:a16="http://schemas.microsoft.com/office/drawing/2014/main" id="{EF10DDEF-C7B3-FCD7-C040-3C75E685FC97}"/>
                </a:ext>
              </a:extLst>
            </p:cNvPr>
            <p:cNvSpPr txBox="1"/>
            <p:nvPr/>
          </p:nvSpPr>
          <p:spPr>
            <a:xfrm>
              <a:off x="14337650" y="1994855"/>
              <a:ext cx="2945770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Testování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zásahů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9616D9B-E0E4-6625-7584-1247F26880EF}"/>
              </a:ext>
            </a:extLst>
          </p:cNvPr>
          <p:cNvGrpSpPr/>
          <p:nvPr/>
        </p:nvGrpSpPr>
        <p:grpSpPr>
          <a:xfrm>
            <a:off x="10316242" y="5488364"/>
            <a:ext cx="2897530" cy="1958341"/>
            <a:chOff x="10316242" y="5488364"/>
            <a:chExt cx="2897530" cy="1958341"/>
          </a:xfrm>
        </p:grpSpPr>
        <p:sp>
          <p:nvSpPr>
            <p:cNvPr id="38" name="TextBox 25">
              <a:extLst>
                <a:ext uri="{FF2B5EF4-FFF2-40B4-BE49-F238E27FC236}">
                  <a16:creationId xmlns:a16="http://schemas.microsoft.com/office/drawing/2014/main" id="{E3F544FE-71E2-7E39-2522-EEB5ACC2566D}"/>
                </a:ext>
              </a:extLst>
            </p:cNvPr>
            <p:cNvSpPr txBox="1"/>
            <p:nvPr/>
          </p:nvSpPr>
          <p:spPr>
            <a:xfrm>
              <a:off x="10316242" y="6840861"/>
              <a:ext cx="2897530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Náv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rh a testování základních principů hry.</a:t>
              </a:r>
            </a:p>
          </p:txBody>
        </p:sp>
        <p:sp>
          <p:nvSpPr>
            <p:cNvPr id="39" name="TextBox 29">
              <a:extLst>
                <a:ext uri="{FF2B5EF4-FFF2-40B4-BE49-F238E27FC236}">
                  <a16:creationId xmlns:a16="http://schemas.microsoft.com/office/drawing/2014/main" id="{773C67C7-7BC0-EBFC-CAC8-47DA785E9496}"/>
                </a:ext>
              </a:extLst>
            </p:cNvPr>
            <p:cNvSpPr txBox="1"/>
            <p:nvPr/>
          </p:nvSpPr>
          <p:spPr>
            <a:xfrm>
              <a:off x="10637764" y="5488364"/>
              <a:ext cx="2445133" cy="11066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420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Vývoj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herních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mechanik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3DAB4B5-BADF-4E2D-00D2-99F0A2CC779C}"/>
              </a:ext>
            </a:extLst>
          </p:cNvPr>
          <p:cNvGrpSpPr/>
          <p:nvPr/>
        </p:nvGrpSpPr>
        <p:grpSpPr>
          <a:xfrm>
            <a:off x="20267270" y="5488364"/>
            <a:ext cx="2897530" cy="1958341"/>
            <a:chOff x="14361770" y="5488364"/>
            <a:chExt cx="2897530" cy="1958341"/>
          </a:xfrm>
        </p:grpSpPr>
        <p:sp>
          <p:nvSpPr>
            <p:cNvPr id="41" name="TextBox 26">
              <a:extLst>
                <a:ext uri="{FF2B5EF4-FFF2-40B4-BE49-F238E27FC236}">
                  <a16:creationId xmlns:a16="http://schemas.microsoft.com/office/drawing/2014/main" id="{8C4A5886-EF98-9974-888E-7BE9BDCD70E6}"/>
                </a:ext>
              </a:extLst>
            </p:cNvPr>
            <p:cNvSpPr txBox="1"/>
            <p:nvPr/>
          </p:nvSpPr>
          <p:spPr>
            <a:xfrm>
              <a:off x="14361770" y="6840861"/>
              <a:ext cx="2897530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Tvo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rba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ladění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efektů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pro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jednotlivá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kouzla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42" name="TextBox 30">
              <a:extLst>
                <a:ext uri="{FF2B5EF4-FFF2-40B4-BE49-F238E27FC236}">
                  <a16:creationId xmlns:a16="http://schemas.microsoft.com/office/drawing/2014/main" id="{12CB12E5-EA35-7A40-6254-AD218DC3D248}"/>
                </a:ext>
              </a:extLst>
            </p:cNvPr>
            <p:cNvSpPr txBox="1"/>
            <p:nvPr/>
          </p:nvSpPr>
          <p:spPr>
            <a:xfrm>
              <a:off x="14567271" y="5488364"/>
              <a:ext cx="2486528" cy="11066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20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Vizuální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efekty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kouzel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2306209" y="325573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-10800000">
            <a:off x="11496334" y="-2996042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4936169" y="3431163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-847920" y="7662518"/>
            <a:ext cx="6259084" cy="5993073"/>
          </a:xfrm>
          <a:custGeom>
            <a:avLst/>
            <a:gdLst/>
            <a:ahLst/>
            <a:cxnLst/>
            <a:rect l="l" t="t" r="r" b="b"/>
            <a:pathLst>
              <a:path w="6259084" h="5993073">
                <a:moveTo>
                  <a:pt x="0" y="0"/>
                </a:moveTo>
                <a:lnTo>
                  <a:pt x="6259083" y="0"/>
                </a:lnTo>
                <a:lnTo>
                  <a:pt x="6259083" y="5993073"/>
                </a:lnTo>
                <a:lnTo>
                  <a:pt x="0" y="59930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6" name="Group 6"/>
          <p:cNvGrpSpPr/>
          <p:nvPr/>
        </p:nvGrpSpPr>
        <p:grpSpPr>
          <a:xfrm>
            <a:off x="8836723" y="1028700"/>
            <a:ext cx="10613327" cy="8181535"/>
            <a:chOff x="0" y="0"/>
            <a:chExt cx="2795280" cy="215480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795280" cy="2154808"/>
            </a:xfrm>
            <a:custGeom>
              <a:avLst/>
              <a:gdLst/>
              <a:ahLst/>
              <a:cxnLst/>
              <a:rect l="l" t="t" r="r" b="b"/>
              <a:pathLst>
                <a:path w="2795280" h="2154808">
                  <a:moveTo>
                    <a:pt x="18236" y="0"/>
                  </a:moveTo>
                  <a:lnTo>
                    <a:pt x="2777043" y="0"/>
                  </a:lnTo>
                  <a:cubicBezTo>
                    <a:pt x="2787115" y="0"/>
                    <a:pt x="2795280" y="8165"/>
                    <a:pt x="2795280" y="18236"/>
                  </a:cubicBezTo>
                  <a:lnTo>
                    <a:pt x="2795280" y="2136571"/>
                  </a:lnTo>
                  <a:cubicBezTo>
                    <a:pt x="2795280" y="2146643"/>
                    <a:pt x="2787115" y="2154808"/>
                    <a:pt x="2777043" y="2154808"/>
                  </a:cubicBezTo>
                  <a:lnTo>
                    <a:pt x="18236" y="2154808"/>
                  </a:lnTo>
                  <a:cubicBezTo>
                    <a:pt x="8165" y="2154808"/>
                    <a:pt x="0" y="2146643"/>
                    <a:pt x="0" y="2136571"/>
                  </a:cubicBezTo>
                  <a:lnTo>
                    <a:pt x="0" y="18236"/>
                  </a:lnTo>
                  <a:cubicBezTo>
                    <a:pt x="0" y="8165"/>
                    <a:pt x="8165" y="0"/>
                    <a:pt x="1823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2795280" cy="2202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9" name="AutoShape 9"/>
          <p:cNvSpPr/>
          <p:nvPr/>
        </p:nvSpPr>
        <p:spPr>
          <a:xfrm>
            <a:off x="10316242" y="5119467"/>
            <a:ext cx="6987540" cy="0"/>
          </a:xfrm>
          <a:prstGeom prst="line">
            <a:avLst/>
          </a:prstGeom>
          <a:ln w="19050" cap="flat">
            <a:solidFill>
              <a:srgbClr val="CCCCC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10" name="AutoShape 10"/>
          <p:cNvSpPr/>
          <p:nvPr/>
        </p:nvSpPr>
        <p:spPr>
          <a:xfrm flipH="1">
            <a:off x="13787771" y="1873347"/>
            <a:ext cx="0" cy="6502322"/>
          </a:xfrm>
          <a:prstGeom prst="line">
            <a:avLst/>
          </a:prstGeom>
          <a:ln w="19050" cap="flat">
            <a:solidFill>
              <a:srgbClr val="CCCCC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 rot="-5400000">
            <a:off x="3196312" y="2212597"/>
            <a:ext cx="4429702" cy="8764927"/>
            <a:chOff x="0" y="0"/>
            <a:chExt cx="2620010" cy="5184140"/>
          </a:xfrm>
        </p:grpSpPr>
        <p:sp>
          <p:nvSpPr>
            <p:cNvPr id="12" name="Freeform 12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 rot="5400000">
              <a:off x="-1127754" y="1469384"/>
              <a:ext cx="4876800" cy="2250453"/>
            </a:xfrm>
            <a:custGeom>
              <a:avLst/>
              <a:gdLst/>
              <a:ahLst/>
              <a:cxnLst/>
              <a:rect l="l" t="t" r="r" b="b"/>
              <a:pathLst>
                <a:path w="4876800" h="2250453">
                  <a:moveTo>
                    <a:pt x="1" y="209562"/>
                  </a:moveTo>
                  <a:lnTo>
                    <a:pt x="1" y="481342"/>
                  </a:lnTo>
                  <a:lnTo>
                    <a:pt x="57151" y="481342"/>
                  </a:lnTo>
                  <a:cubicBezTo>
                    <a:pt x="121921" y="481342"/>
                    <a:pt x="175261" y="534682"/>
                    <a:pt x="175261" y="599452"/>
                  </a:cubicBezTo>
                  <a:lnTo>
                    <a:pt x="175261" y="1648472"/>
                  </a:lnTo>
                  <a:cubicBezTo>
                    <a:pt x="175261" y="1713242"/>
                    <a:pt x="121921" y="1766582"/>
                    <a:pt x="57151" y="1766582"/>
                  </a:cubicBezTo>
                  <a:lnTo>
                    <a:pt x="1" y="1766582"/>
                  </a:lnTo>
                  <a:lnTo>
                    <a:pt x="1" y="2040902"/>
                  </a:lnTo>
                  <a:cubicBezTo>
                    <a:pt x="1" y="2156472"/>
                    <a:pt x="93981" y="2250452"/>
                    <a:pt x="209551" y="2250452"/>
                  </a:cubicBezTo>
                  <a:lnTo>
                    <a:pt x="4667250" y="2250452"/>
                  </a:lnTo>
                  <a:cubicBezTo>
                    <a:pt x="4782821" y="2250452"/>
                    <a:pt x="4876800" y="2156472"/>
                    <a:pt x="4876800" y="2040902"/>
                  </a:cubicBezTo>
                  <a:lnTo>
                    <a:pt x="4876800" y="209562"/>
                  </a:lnTo>
                  <a:cubicBezTo>
                    <a:pt x="4876800" y="93992"/>
                    <a:pt x="4782821" y="12"/>
                    <a:pt x="4667250" y="12"/>
                  </a:cubicBezTo>
                  <a:lnTo>
                    <a:pt x="209550" y="12"/>
                  </a:lnTo>
                  <a:cubicBezTo>
                    <a:pt x="93980" y="-1258"/>
                    <a:pt x="0" y="92722"/>
                    <a:pt x="0" y="209562"/>
                  </a:cubicBezTo>
                  <a:close/>
                </a:path>
              </a:pathLst>
            </a:custGeom>
            <a:blipFill>
              <a:blip r:embed="rId4"/>
              <a:stretch>
                <a:fillRect l="-743" t="-69574" r="-2156" b="-47128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31005" y="1606657"/>
            <a:ext cx="7810328" cy="79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28"/>
              </a:lnSpc>
              <a:spcBef>
                <a:spcPct val="0"/>
              </a:spcBef>
            </a:pPr>
            <a:r>
              <a:rPr lang="en-US" sz="72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PL</a:t>
            </a:r>
            <a:r>
              <a:rPr lang="en-US" sz="7200" u="none" strike="noStrike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AYGROUND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31005" y="2650148"/>
            <a:ext cx="5324099" cy="1186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50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</a:t>
            </a:r>
            <a:r>
              <a:rPr lang="en-US" sz="2100" u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estovací prostředí vytvořené pro pokračování vývoje bez dokončeného hardwaru.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D051F64-AE56-E7E3-0507-3C918D326FCC}"/>
              </a:ext>
            </a:extLst>
          </p:cNvPr>
          <p:cNvGrpSpPr/>
          <p:nvPr/>
        </p:nvGrpSpPr>
        <p:grpSpPr>
          <a:xfrm>
            <a:off x="10316242" y="1994855"/>
            <a:ext cx="2897530" cy="2289829"/>
            <a:chOff x="10316242" y="1994855"/>
            <a:chExt cx="2897530" cy="2289829"/>
          </a:xfrm>
        </p:grpSpPr>
        <p:sp>
          <p:nvSpPr>
            <p:cNvPr id="23" name="TextBox 23"/>
            <p:cNvSpPr txBox="1"/>
            <p:nvPr/>
          </p:nvSpPr>
          <p:spPr>
            <a:xfrm>
              <a:off x="10316242" y="3374013"/>
              <a:ext cx="2897530" cy="9106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irtuální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reprezentace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hráčů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jejich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pohybu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herním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prostředí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447116" y="1994855"/>
              <a:ext cx="26357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Simulace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hráčů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5995AFA-ADED-EA5B-3E55-3C5C950BB885}"/>
              </a:ext>
            </a:extLst>
          </p:cNvPr>
          <p:cNvGrpSpPr/>
          <p:nvPr/>
        </p:nvGrpSpPr>
        <p:grpSpPr>
          <a:xfrm>
            <a:off x="14337650" y="1994855"/>
            <a:ext cx="2945770" cy="1985002"/>
            <a:chOff x="14337650" y="1994855"/>
            <a:chExt cx="2945770" cy="1985002"/>
          </a:xfrm>
        </p:grpSpPr>
        <p:sp>
          <p:nvSpPr>
            <p:cNvPr id="24" name="TextBox 24"/>
            <p:cNvSpPr txBox="1"/>
            <p:nvPr/>
          </p:nvSpPr>
          <p:spPr>
            <a:xfrm>
              <a:off x="14361770" y="3374013"/>
              <a:ext cx="2897530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Ověř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ování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detekce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zásahů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logiky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4337650" y="1994855"/>
              <a:ext cx="2945770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Testování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zásahů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E591BA3-D4A6-8706-8F46-E448AE5D01CB}"/>
              </a:ext>
            </a:extLst>
          </p:cNvPr>
          <p:cNvGrpSpPr/>
          <p:nvPr/>
        </p:nvGrpSpPr>
        <p:grpSpPr>
          <a:xfrm>
            <a:off x="10316242" y="5488364"/>
            <a:ext cx="2897530" cy="1958341"/>
            <a:chOff x="10316242" y="5488364"/>
            <a:chExt cx="2897530" cy="1958341"/>
          </a:xfrm>
        </p:grpSpPr>
        <p:sp>
          <p:nvSpPr>
            <p:cNvPr id="25" name="TextBox 25"/>
            <p:cNvSpPr txBox="1"/>
            <p:nvPr/>
          </p:nvSpPr>
          <p:spPr>
            <a:xfrm>
              <a:off x="10316242" y="6840861"/>
              <a:ext cx="2897530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Náv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rh a testování základních principů hry.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37764" y="5488364"/>
              <a:ext cx="2445133" cy="11066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420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Vývoj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herních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mechanik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17EAB3F-AF36-2A18-2FA9-AD7D8766689E}"/>
              </a:ext>
            </a:extLst>
          </p:cNvPr>
          <p:cNvGrpSpPr/>
          <p:nvPr/>
        </p:nvGrpSpPr>
        <p:grpSpPr>
          <a:xfrm>
            <a:off x="14361770" y="5488364"/>
            <a:ext cx="2897530" cy="1958341"/>
            <a:chOff x="14361770" y="5488364"/>
            <a:chExt cx="2897530" cy="1958341"/>
          </a:xfrm>
        </p:grpSpPr>
        <p:sp>
          <p:nvSpPr>
            <p:cNvPr id="26" name="TextBox 26"/>
            <p:cNvSpPr txBox="1"/>
            <p:nvPr/>
          </p:nvSpPr>
          <p:spPr>
            <a:xfrm>
              <a:off x="14361770" y="6840861"/>
              <a:ext cx="2897530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Tvo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rba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ladění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efektů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pro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jednotlivá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u="none" strike="noStrike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kouzla</a:t>
              </a:r>
              <a:r>
                <a:rPr lang="en-US" sz="1600" u="none" strike="noStrike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4567271" y="5488364"/>
              <a:ext cx="2486528" cy="11066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200"/>
                </a:lnSpc>
              </a:pP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Vizuální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efekty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kouzel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823865" y="-3512945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8100000">
            <a:off x="6703302" y="-2336969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6" y="0"/>
                </a:lnTo>
                <a:lnTo>
                  <a:pt x="4881396" y="4673938"/>
                </a:lnTo>
                <a:lnTo>
                  <a:pt x="0" y="46739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1397259" y="3382367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2402598" y="1682223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>
            <a:off x="13175162" y="3877328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6" y="0"/>
                </a:lnTo>
                <a:lnTo>
                  <a:pt x="8168276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7" name="Group 7"/>
          <p:cNvGrpSpPr/>
          <p:nvPr/>
        </p:nvGrpSpPr>
        <p:grpSpPr>
          <a:xfrm>
            <a:off x="1296076" y="5095875"/>
            <a:ext cx="12838348" cy="3232459"/>
            <a:chOff x="0" y="0"/>
            <a:chExt cx="3381293" cy="85134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81293" cy="851347"/>
            </a:xfrm>
            <a:custGeom>
              <a:avLst/>
              <a:gdLst/>
              <a:ahLst/>
              <a:cxnLst/>
              <a:rect l="l" t="t" r="r" b="b"/>
              <a:pathLst>
                <a:path w="3381293" h="851347">
                  <a:moveTo>
                    <a:pt x="15076" y="0"/>
                  </a:moveTo>
                  <a:lnTo>
                    <a:pt x="3366217" y="0"/>
                  </a:lnTo>
                  <a:cubicBezTo>
                    <a:pt x="3374544" y="0"/>
                    <a:pt x="3381293" y="6750"/>
                    <a:pt x="3381293" y="15076"/>
                  </a:cubicBezTo>
                  <a:lnTo>
                    <a:pt x="3381293" y="836271"/>
                  </a:lnTo>
                  <a:cubicBezTo>
                    <a:pt x="3381293" y="840270"/>
                    <a:pt x="3379705" y="844104"/>
                    <a:pt x="3376878" y="846932"/>
                  </a:cubicBezTo>
                  <a:cubicBezTo>
                    <a:pt x="3374050" y="849759"/>
                    <a:pt x="3370216" y="851347"/>
                    <a:pt x="3366217" y="851347"/>
                  </a:cubicBezTo>
                  <a:lnTo>
                    <a:pt x="15076" y="851347"/>
                  </a:lnTo>
                  <a:cubicBezTo>
                    <a:pt x="6750" y="851347"/>
                    <a:pt x="0" y="844597"/>
                    <a:pt x="0" y="836271"/>
                  </a:cubicBezTo>
                  <a:lnTo>
                    <a:pt x="0" y="15076"/>
                  </a:lnTo>
                  <a:cubicBezTo>
                    <a:pt x="0" y="11077"/>
                    <a:pt x="1588" y="7243"/>
                    <a:pt x="4416" y="4416"/>
                  </a:cubicBezTo>
                  <a:cubicBezTo>
                    <a:pt x="7243" y="1588"/>
                    <a:pt x="11077" y="0"/>
                    <a:pt x="1507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3381293" cy="8989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96076" y="2025123"/>
            <a:ext cx="7173738" cy="1610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2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AKTUÁLNÍ STAV PROJEKTU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8874170" y="449131"/>
            <a:ext cx="8883366" cy="5095391"/>
            <a:chOff x="0" y="0"/>
            <a:chExt cx="7981950" cy="4578350"/>
          </a:xfrm>
        </p:grpSpPr>
        <p:sp>
          <p:nvSpPr>
            <p:cNvPr id="12" name="Freeform 12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962660" y="276860"/>
              <a:ext cx="6055360" cy="3789680"/>
            </a:xfrm>
            <a:custGeom>
              <a:avLst/>
              <a:gdLst/>
              <a:ahLst/>
              <a:cxnLst/>
              <a:rect l="l" t="t" r="r" b="b"/>
              <a:pathLst>
                <a:path w="6055360" h="378968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4"/>
              <a:stretch>
                <a:fillRect t="-27595" b="-27595"/>
              </a:stretch>
            </a:blipFill>
          </p:spPr>
          <p:txBody>
            <a:bodyPr/>
            <a:lstStyle/>
            <a:p>
              <a:endParaRPr lang="cs-CZ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F6D3B66-5C3E-AF4B-D776-A9DC2C846335}"/>
              </a:ext>
            </a:extLst>
          </p:cNvPr>
          <p:cNvGrpSpPr/>
          <p:nvPr/>
        </p:nvGrpSpPr>
        <p:grpSpPr>
          <a:xfrm>
            <a:off x="-3962400" y="5682972"/>
            <a:ext cx="3120902" cy="1814195"/>
            <a:chOff x="2190847" y="5682972"/>
            <a:chExt cx="3120902" cy="1814195"/>
          </a:xfrm>
        </p:grpSpPr>
        <p:sp>
          <p:nvSpPr>
            <p:cNvPr id="27" name="TextBox 21">
              <a:extLst>
                <a:ext uri="{FF2B5EF4-FFF2-40B4-BE49-F238E27FC236}">
                  <a16:creationId xmlns:a16="http://schemas.microsoft.com/office/drawing/2014/main" id="{92FEFF3C-07BD-6028-6A7E-C934E727BE1F}"/>
                </a:ext>
              </a:extLst>
            </p:cNvPr>
            <p:cNvSpPr txBox="1"/>
            <p:nvPr/>
          </p:nvSpPr>
          <p:spPr>
            <a:xfrm>
              <a:off x="2190847" y="6891323"/>
              <a:ext cx="312090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věřená funkčnost základních hardwarových částí systému.</a:t>
              </a:r>
            </a:p>
          </p:txBody>
        </p:sp>
        <p:sp>
          <p:nvSpPr>
            <p:cNvPr id="28" name="TextBox 22">
              <a:extLst>
                <a:ext uri="{FF2B5EF4-FFF2-40B4-BE49-F238E27FC236}">
                  <a16:creationId xmlns:a16="http://schemas.microsoft.com/office/drawing/2014/main" id="{53D96525-4F3B-2709-52A9-82010C59F6A3}"/>
                </a:ext>
              </a:extLst>
            </p:cNvPr>
            <p:cNvSpPr txBox="1"/>
            <p:nvPr/>
          </p:nvSpPr>
          <p:spPr>
            <a:xfrm>
              <a:off x="2190847" y="5682972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</a:t>
              </a:r>
            </a:p>
          </p:txBody>
        </p:sp>
        <p:sp>
          <p:nvSpPr>
            <p:cNvPr id="29" name="TextBox 23">
              <a:extLst>
                <a:ext uri="{FF2B5EF4-FFF2-40B4-BE49-F238E27FC236}">
                  <a16:creationId xmlns:a16="http://schemas.microsoft.com/office/drawing/2014/main" id="{60D7592D-5418-3C22-3DAF-ACE0C867E727}"/>
                </a:ext>
              </a:extLst>
            </p:cNvPr>
            <p:cNvSpPr txBox="1"/>
            <p:nvPr/>
          </p:nvSpPr>
          <p:spPr>
            <a:xfrm>
              <a:off x="2190847" y="6357314"/>
              <a:ext cx="2773006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Funkční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prototyp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823865" y="-3512945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8100000">
            <a:off x="6703302" y="-2336969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6" y="0"/>
                </a:lnTo>
                <a:lnTo>
                  <a:pt x="4881396" y="4673938"/>
                </a:lnTo>
                <a:lnTo>
                  <a:pt x="0" y="46739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1397259" y="3382367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2402598" y="1682223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>
            <a:off x="13175162" y="3877328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6" y="0"/>
                </a:lnTo>
                <a:lnTo>
                  <a:pt x="8168276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7" name="Group 7"/>
          <p:cNvGrpSpPr/>
          <p:nvPr/>
        </p:nvGrpSpPr>
        <p:grpSpPr>
          <a:xfrm>
            <a:off x="1296076" y="5095875"/>
            <a:ext cx="12838348" cy="3232459"/>
            <a:chOff x="0" y="0"/>
            <a:chExt cx="3381293" cy="85134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81293" cy="851347"/>
            </a:xfrm>
            <a:custGeom>
              <a:avLst/>
              <a:gdLst/>
              <a:ahLst/>
              <a:cxnLst/>
              <a:rect l="l" t="t" r="r" b="b"/>
              <a:pathLst>
                <a:path w="3381293" h="851347">
                  <a:moveTo>
                    <a:pt x="15076" y="0"/>
                  </a:moveTo>
                  <a:lnTo>
                    <a:pt x="3366217" y="0"/>
                  </a:lnTo>
                  <a:cubicBezTo>
                    <a:pt x="3374544" y="0"/>
                    <a:pt x="3381293" y="6750"/>
                    <a:pt x="3381293" y="15076"/>
                  </a:cubicBezTo>
                  <a:lnTo>
                    <a:pt x="3381293" y="836271"/>
                  </a:lnTo>
                  <a:cubicBezTo>
                    <a:pt x="3381293" y="840270"/>
                    <a:pt x="3379705" y="844104"/>
                    <a:pt x="3376878" y="846932"/>
                  </a:cubicBezTo>
                  <a:cubicBezTo>
                    <a:pt x="3374050" y="849759"/>
                    <a:pt x="3370216" y="851347"/>
                    <a:pt x="3366217" y="851347"/>
                  </a:cubicBezTo>
                  <a:lnTo>
                    <a:pt x="15076" y="851347"/>
                  </a:lnTo>
                  <a:cubicBezTo>
                    <a:pt x="6750" y="851347"/>
                    <a:pt x="0" y="844597"/>
                    <a:pt x="0" y="836271"/>
                  </a:cubicBezTo>
                  <a:lnTo>
                    <a:pt x="0" y="15076"/>
                  </a:lnTo>
                  <a:cubicBezTo>
                    <a:pt x="0" y="11077"/>
                    <a:pt x="1588" y="7243"/>
                    <a:pt x="4416" y="4416"/>
                  </a:cubicBezTo>
                  <a:cubicBezTo>
                    <a:pt x="7243" y="1588"/>
                    <a:pt x="11077" y="0"/>
                    <a:pt x="1507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3381293" cy="8989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96076" y="2025123"/>
            <a:ext cx="7173738" cy="1610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2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AKTUÁLNÍ STAV PROJEKTU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8874170" y="449131"/>
            <a:ext cx="8883366" cy="5095391"/>
            <a:chOff x="0" y="0"/>
            <a:chExt cx="7981950" cy="4578350"/>
          </a:xfrm>
        </p:grpSpPr>
        <p:sp>
          <p:nvSpPr>
            <p:cNvPr id="12" name="Freeform 12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962660" y="276860"/>
              <a:ext cx="6055360" cy="3789680"/>
            </a:xfrm>
            <a:custGeom>
              <a:avLst/>
              <a:gdLst/>
              <a:ahLst/>
              <a:cxnLst/>
              <a:rect l="l" t="t" r="r" b="b"/>
              <a:pathLst>
                <a:path w="6055360" h="378968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4"/>
              <a:stretch>
                <a:fillRect t="-27595" b="-27595"/>
              </a:stretch>
            </a:blipFill>
          </p:spPr>
          <p:txBody>
            <a:bodyPr/>
            <a:lstStyle/>
            <a:p>
              <a:endParaRPr lang="cs-CZ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EEAC1AA-DCB9-D8DD-8DD9-C7B310E3CB5E}"/>
              </a:ext>
            </a:extLst>
          </p:cNvPr>
          <p:cNvGrpSpPr/>
          <p:nvPr/>
        </p:nvGrpSpPr>
        <p:grpSpPr>
          <a:xfrm>
            <a:off x="2190847" y="5682972"/>
            <a:ext cx="3120902" cy="1814195"/>
            <a:chOff x="2190847" y="5682972"/>
            <a:chExt cx="3120902" cy="1814195"/>
          </a:xfrm>
        </p:grpSpPr>
        <p:sp>
          <p:nvSpPr>
            <p:cNvPr id="27" name="TextBox 21">
              <a:extLst>
                <a:ext uri="{FF2B5EF4-FFF2-40B4-BE49-F238E27FC236}">
                  <a16:creationId xmlns:a16="http://schemas.microsoft.com/office/drawing/2014/main" id="{199A6676-9A11-8BE8-8234-D2B6E2D2841E}"/>
                </a:ext>
              </a:extLst>
            </p:cNvPr>
            <p:cNvSpPr txBox="1"/>
            <p:nvPr/>
          </p:nvSpPr>
          <p:spPr>
            <a:xfrm>
              <a:off x="2190847" y="6891323"/>
              <a:ext cx="312090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věřená funkčnost základních hardwarových částí systému.</a:t>
              </a:r>
            </a:p>
          </p:txBody>
        </p:sp>
        <p:sp>
          <p:nvSpPr>
            <p:cNvPr id="28" name="TextBox 22">
              <a:extLst>
                <a:ext uri="{FF2B5EF4-FFF2-40B4-BE49-F238E27FC236}">
                  <a16:creationId xmlns:a16="http://schemas.microsoft.com/office/drawing/2014/main" id="{2BA4C5C3-FFA2-EA60-43E8-9DD6949698E6}"/>
                </a:ext>
              </a:extLst>
            </p:cNvPr>
            <p:cNvSpPr txBox="1"/>
            <p:nvPr/>
          </p:nvSpPr>
          <p:spPr>
            <a:xfrm>
              <a:off x="2190847" y="5682972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</a:t>
              </a:r>
            </a:p>
          </p:txBody>
        </p:sp>
        <p:sp>
          <p:nvSpPr>
            <p:cNvPr id="29" name="TextBox 23">
              <a:extLst>
                <a:ext uri="{FF2B5EF4-FFF2-40B4-BE49-F238E27FC236}">
                  <a16:creationId xmlns:a16="http://schemas.microsoft.com/office/drawing/2014/main" id="{56B1ED6F-6EF0-AE98-963F-E6E2C9C49679}"/>
                </a:ext>
              </a:extLst>
            </p:cNvPr>
            <p:cNvSpPr txBox="1"/>
            <p:nvPr/>
          </p:nvSpPr>
          <p:spPr>
            <a:xfrm>
              <a:off x="2190847" y="6357314"/>
              <a:ext cx="2773006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Funkční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prototyp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E612A1A-5200-704F-5045-02CADE4FF2D9}"/>
              </a:ext>
            </a:extLst>
          </p:cNvPr>
          <p:cNvGrpSpPr/>
          <p:nvPr/>
        </p:nvGrpSpPr>
        <p:grpSpPr>
          <a:xfrm>
            <a:off x="6192899" y="11558905"/>
            <a:ext cx="3120902" cy="1814195"/>
            <a:chOff x="6192899" y="5682972"/>
            <a:chExt cx="3120902" cy="1814195"/>
          </a:xfrm>
        </p:grpSpPr>
        <p:sp>
          <p:nvSpPr>
            <p:cNvPr id="31" name="TextBox 19">
              <a:extLst>
                <a:ext uri="{FF2B5EF4-FFF2-40B4-BE49-F238E27FC236}">
                  <a16:creationId xmlns:a16="http://schemas.microsoft.com/office/drawing/2014/main" id="{2D1F9066-E550-AED9-3913-BA5185519067}"/>
                </a:ext>
              </a:extLst>
            </p:cNvPr>
            <p:cNvSpPr txBox="1"/>
            <p:nvPr/>
          </p:nvSpPr>
          <p:spPr>
            <a:xfrm>
              <a:off x="6192899" y="6891323"/>
              <a:ext cx="312090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Přip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ravené kotvy pro budoucí lokalizaci hráčů.</a:t>
              </a:r>
            </a:p>
          </p:txBody>
        </p:sp>
        <p:sp>
          <p:nvSpPr>
            <p:cNvPr id="32" name="TextBox 20">
              <a:extLst>
                <a:ext uri="{FF2B5EF4-FFF2-40B4-BE49-F238E27FC236}">
                  <a16:creationId xmlns:a16="http://schemas.microsoft.com/office/drawing/2014/main" id="{12967E9B-FB98-C1C5-0E8D-ED40FD2BD048}"/>
                </a:ext>
              </a:extLst>
            </p:cNvPr>
            <p:cNvSpPr txBox="1"/>
            <p:nvPr/>
          </p:nvSpPr>
          <p:spPr>
            <a:xfrm>
              <a:off x="6192899" y="5682972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</a:t>
              </a:r>
            </a:p>
          </p:txBody>
        </p:sp>
        <p:sp>
          <p:nvSpPr>
            <p:cNvPr id="33" name="TextBox 24">
              <a:extLst>
                <a:ext uri="{FF2B5EF4-FFF2-40B4-BE49-F238E27FC236}">
                  <a16:creationId xmlns:a16="http://schemas.microsoft.com/office/drawing/2014/main" id="{CA19ECC1-90F3-E9B3-C4F1-7CD1A2064904}"/>
                </a:ext>
              </a:extLst>
            </p:cNvPr>
            <p:cNvSpPr txBox="1"/>
            <p:nvPr/>
          </p:nvSpPr>
          <p:spPr>
            <a:xfrm>
              <a:off x="6192899" y="6357314"/>
              <a:ext cx="3120902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UWB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infrastruktura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823865" y="-3512945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8100000">
            <a:off x="6703302" y="-2336969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6" y="0"/>
                </a:lnTo>
                <a:lnTo>
                  <a:pt x="4881396" y="4673938"/>
                </a:lnTo>
                <a:lnTo>
                  <a:pt x="0" y="46739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1397259" y="3382367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2402598" y="1682223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>
            <a:off x="13175162" y="3877328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6" y="0"/>
                </a:lnTo>
                <a:lnTo>
                  <a:pt x="8168276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7" name="Group 7"/>
          <p:cNvGrpSpPr/>
          <p:nvPr/>
        </p:nvGrpSpPr>
        <p:grpSpPr>
          <a:xfrm>
            <a:off x="1296076" y="5095875"/>
            <a:ext cx="12838348" cy="3232459"/>
            <a:chOff x="0" y="0"/>
            <a:chExt cx="3381293" cy="85134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81293" cy="851347"/>
            </a:xfrm>
            <a:custGeom>
              <a:avLst/>
              <a:gdLst/>
              <a:ahLst/>
              <a:cxnLst/>
              <a:rect l="l" t="t" r="r" b="b"/>
              <a:pathLst>
                <a:path w="3381293" h="851347">
                  <a:moveTo>
                    <a:pt x="15076" y="0"/>
                  </a:moveTo>
                  <a:lnTo>
                    <a:pt x="3366217" y="0"/>
                  </a:lnTo>
                  <a:cubicBezTo>
                    <a:pt x="3374544" y="0"/>
                    <a:pt x="3381293" y="6750"/>
                    <a:pt x="3381293" y="15076"/>
                  </a:cubicBezTo>
                  <a:lnTo>
                    <a:pt x="3381293" y="836271"/>
                  </a:lnTo>
                  <a:cubicBezTo>
                    <a:pt x="3381293" y="840270"/>
                    <a:pt x="3379705" y="844104"/>
                    <a:pt x="3376878" y="846932"/>
                  </a:cubicBezTo>
                  <a:cubicBezTo>
                    <a:pt x="3374050" y="849759"/>
                    <a:pt x="3370216" y="851347"/>
                    <a:pt x="3366217" y="851347"/>
                  </a:cubicBezTo>
                  <a:lnTo>
                    <a:pt x="15076" y="851347"/>
                  </a:lnTo>
                  <a:cubicBezTo>
                    <a:pt x="6750" y="851347"/>
                    <a:pt x="0" y="844597"/>
                    <a:pt x="0" y="836271"/>
                  </a:cubicBezTo>
                  <a:lnTo>
                    <a:pt x="0" y="15076"/>
                  </a:lnTo>
                  <a:cubicBezTo>
                    <a:pt x="0" y="11077"/>
                    <a:pt x="1588" y="7243"/>
                    <a:pt x="4416" y="4416"/>
                  </a:cubicBezTo>
                  <a:cubicBezTo>
                    <a:pt x="7243" y="1588"/>
                    <a:pt x="11077" y="0"/>
                    <a:pt x="1507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3381293" cy="8989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96076" y="2025123"/>
            <a:ext cx="7173738" cy="1610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2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AKTUÁLNÍ STAV PROJEKTU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8874170" y="449131"/>
            <a:ext cx="8883366" cy="5095391"/>
            <a:chOff x="0" y="0"/>
            <a:chExt cx="7981950" cy="4578350"/>
          </a:xfrm>
        </p:grpSpPr>
        <p:sp>
          <p:nvSpPr>
            <p:cNvPr id="12" name="Freeform 12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962660" y="276860"/>
              <a:ext cx="6055360" cy="3789680"/>
            </a:xfrm>
            <a:custGeom>
              <a:avLst/>
              <a:gdLst/>
              <a:ahLst/>
              <a:cxnLst/>
              <a:rect l="l" t="t" r="r" b="b"/>
              <a:pathLst>
                <a:path w="6055360" h="378968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4"/>
              <a:stretch>
                <a:fillRect t="-27595" b="-27595"/>
              </a:stretch>
            </a:blipFill>
          </p:spPr>
          <p:txBody>
            <a:bodyPr/>
            <a:lstStyle/>
            <a:p>
              <a:endParaRPr lang="cs-CZ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D43891A-D8EA-0769-06D0-AB873C9E0445}"/>
              </a:ext>
            </a:extLst>
          </p:cNvPr>
          <p:cNvGrpSpPr/>
          <p:nvPr/>
        </p:nvGrpSpPr>
        <p:grpSpPr>
          <a:xfrm>
            <a:off x="2190847" y="5682972"/>
            <a:ext cx="3120902" cy="1814195"/>
            <a:chOff x="2190847" y="5682972"/>
            <a:chExt cx="3120902" cy="1814195"/>
          </a:xfrm>
        </p:grpSpPr>
        <p:sp>
          <p:nvSpPr>
            <p:cNvPr id="27" name="TextBox 21">
              <a:extLst>
                <a:ext uri="{FF2B5EF4-FFF2-40B4-BE49-F238E27FC236}">
                  <a16:creationId xmlns:a16="http://schemas.microsoft.com/office/drawing/2014/main" id="{2A4AF774-154D-80E9-F1CD-9399C71466EA}"/>
                </a:ext>
              </a:extLst>
            </p:cNvPr>
            <p:cNvSpPr txBox="1"/>
            <p:nvPr/>
          </p:nvSpPr>
          <p:spPr>
            <a:xfrm>
              <a:off x="2190847" y="6891323"/>
              <a:ext cx="312090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věřená funkčnost základních hardwarových částí systému.</a:t>
              </a:r>
            </a:p>
          </p:txBody>
        </p:sp>
        <p:sp>
          <p:nvSpPr>
            <p:cNvPr id="28" name="TextBox 22">
              <a:extLst>
                <a:ext uri="{FF2B5EF4-FFF2-40B4-BE49-F238E27FC236}">
                  <a16:creationId xmlns:a16="http://schemas.microsoft.com/office/drawing/2014/main" id="{63A84FC2-28A4-3496-A49E-2B79DEF9897C}"/>
                </a:ext>
              </a:extLst>
            </p:cNvPr>
            <p:cNvSpPr txBox="1"/>
            <p:nvPr/>
          </p:nvSpPr>
          <p:spPr>
            <a:xfrm>
              <a:off x="2190847" y="5682972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</a:t>
              </a:r>
            </a:p>
          </p:txBody>
        </p:sp>
        <p:sp>
          <p:nvSpPr>
            <p:cNvPr id="29" name="TextBox 23">
              <a:extLst>
                <a:ext uri="{FF2B5EF4-FFF2-40B4-BE49-F238E27FC236}">
                  <a16:creationId xmlns:a16="http://schemas.microsoft.com/office/drawing/2014/main" id="{DE848D25-47EA-8BB1-1977-B6608D57ADD6}"/>
                </a:ext>
              </a:extLst>
            </p:cNvPr>
            <p:cNvSpPr txBox="1"/>
            <p:nvPr/>
          </p:nvSpPr>
          <p:spPr>
            <a:xfrm>
              <a:off x="2190847" y="6357314"/>
              <a:ext cx="2773006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Funkční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prototyp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78C356-D5B1-DAF4-24E0-B55102BAC713}"/>
              </a:ext>
            </a:extLst>
          </p:cNvPr>
          <p:cNvGrpSpPr/>
          <p:nvPr/>
        </p:nvGrpSpPr>
        <p:grpSpPr>
          <a:xfrm>
            <a:off x="6192899" y="5682972"/>
            <a:ext cx="3120902" cy="1814195"/>
            <a:chOff x="6192899" y="5682972"/>
            <a:chExt cx="3120902" cy="1814195"/>
          </a:xfrm>
        </p:grpSpPr>
        <p:sp>
          <p:nvSpPr>
            <p:cNvPr id="31" name="TextBox 19">
              <a:extLst>
                <a:ext uri="{FF2B5EF4-FFF2-40B4-BE49-F238E27FC236}">
                  <a16:creationId xmlns:a16="http://schemas.microsoft.com/office/drawing/2014/main" id="{56F51395-1BA7-5F9C-3AEC-3EA3D62195EE}"/>
                </a:ext>
              </a:extLst>
            </p:cNvPr>
            <p:cNvSpPr txBox="1"/>
            <p:nvPr/>
          </p:nvSpPr>
          <p:spPr>
            <a:xfrm>
              <a:off x="6192899" y="6891323"/>
              <a:ext cx="312090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Přip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ravené kotvy pro budoucí lokalizaci hráčů.</a:t>
              </a:r>
            </a:p>
          </p:txBody>
        </p:sp>
        <p:sp>
          <p:nvSpPr>
            <p:cNvPr id="32" name="TextBox 20">
              <a:extLst>
                <a:ext uri="{FF2B5EF4-FFF2-40B4-BE49-F238E27FC236}">
                  <a16:creationId xmlns:a16="http://schemas.microsoft.com/office/drawing/2014/main" id="{2F5B9DDC-4831-C9D2-2B6B-2A3DA429159D}"/>
                </a:ext>
              </a:extLst>
            </p:cNvPr>
            <p:cNvSpPr txBox="1"/>
            <p:nvPr/>
          </p:nvSpPr>
          <p:spPr>
            <a:xfrm>
              <a:off x="6192899" y="5682972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</a:t>
              </a:r>
            </a:p>
          </p:txBody>
        </p:sp>
        <p:sp>
          <p:nvSpPr>
            <p:cNvPr id="33" name="TextBox 24">
              <a:extLst>
                <a:ext uri="{FF2B5EF4-FFF2-40B4-BE49-F238E27FC236}">
                  <a16:creationId xmlns:a16="http://schemas.microsoft.com/office/drawing/2014/main" id="{5D354AE9-4502-B225-AC15-41C73DFE9BE2}"/>
                </a:ext>
              </a:extLst>
            </p:cNvPr>
            <p:cNvSpPr txBox="1"/>
            <p:nvPr/>
          </p:nvSpPr>
          <p:spPr>
            <a:xfrm>
              <a:off x="6192899" y="6357314"/>
              <a:ext cx="3120902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UWB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infrastruktura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702E00A-3890-77FF-AB5E-4B5C4E455AD2}"/>
              </a:ext>
            </a:extLst>
          </p:cNvPr>
          <p:cNvGrpSpPr/>
          <p:nvPr/>
        </p:nvGrpSpPr>
        <p:grpSpPr>
          <a:xfrm>
            <a:off x="19281898" y="5682972"/>
            <a:ext cx="3120902" cy="1814195"/>
            <a:chOff x="10194951" y="5682972"/>
            <a:chExt cx="3120902" cy="1814195"/>
          </a:xfrm>
        </p:grpSpPr>
        <p:sp>
          <p:nvSpPr>
            <p:cNvPr id="35" name="TextBox 17">
              <a:extLst>
                <a:ext uri="{FF2B5EF4-FFF2-40B4-BE49-F238E27FC236}">
                  <a16:creationId xmlns:a16="http://schemas.microsoft.com/office/drawing/2014/main" id="{EE00781F-E21F-B892-F7D2-ADCBB68F4ED1}"/>
                </a:ext>
              </a:extLst>
            </p:cNvPr>
            <p:cNvSpPr txBox="1"/>
            <p:nvPr/>
          </p:nvSpPr>
          <p:spPr>
            <a:xfrm>
              <a:off x="10194951" y="6891323"/>
              <a:ext cx="312090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Prostředí pro testování a další vývoj herních mechanik.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6BE9634A-C6C5-9D7C-8ED6-CABC86DA6EC2}"/>
                </a:ext>
              </a:extLst>
            </p:cNvPr>
            <p:cNvSpPr txBox="1"/>
            <p:nvPr/>
          </p:nvSpPr>
          <p:spPr>
            <a:xfrm>
              <a:off x="10194951" y="5682972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03</a:t>
              </a:r>
            </a:p>
          </p:txBody>
        </p:sp>
        <p:sp>
          <p:nvSpPr>
            <p:cNvPr id="37" name="TextBox 25">
              <a:extLst>
                <a:ext uri="{FF2B5EF4-FFF2-40B4-BE49-F238E27FC236}">
                  <a16:creationId xmlns:a16="http://schemas.microsoft.com/office/drawing/2014/main" id="{16E30CC8-B2BC-E862-3450-28A0A0EF048F}"/>
                </a:ext>
              </a:extLst>
            </p:cNvPr>
            <p:cNvSpPr txBox="1"/>
            <p:nvPr/>
          </p:nvSpPr>
          <p:spPr>
            <a:xfrm>
              <a:off x="10194951" y="6357314"/>
              <a:ext cx="224700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PLAYGROUND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823865" y="-3512945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8100000">
            <a:off x="6703302" y="-2336969"/>
            <a:ext cx="4881397" cy="4673937"/>
          </a:xfrm>
          <a:custGeom>
            <a:avLst/>
            <a:gdLst/>
            <a:ahLst/>
            <a:cxnLst/>
            <a:rect l="l" t="t" r="r" b="b"/>
            <a:pathLst>
              <a:path w="4881397" h="4673937">
                <a:moveTo>
                  <a:pt x="0" y="0"/>
                </a:moveTo>
                <a:lnTo>
                  <a:pt x="4881396" y="0"/>
                </a:lnTo>
                <a:lnTo>
                  <a:pt x="4881396" y="4673938"/>
                </a:lnTo>
                <a:lnTo>
                  <a:pt x="0" y="46739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>
            <a:off x="11397259" y="3382367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>
            <a:off x="-2402598" y="1682223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7" y="0"/>
                </a:lnTo>
                <a:lnTo>
                  <a:pt x="8168277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>
            <a:off x="13175162" y="3877328"/>
            <a:ext cx="8168277" cy="7576077"/>
          </a:xfrm>
          <a:custGeom>
            <a:avLst/>
            <a:gdLst/>
            <a:ahLst/>
            <a:cxnLst/>
            <a:rect l="l" t="t" r="r" b="b"/>
            <a:pathLst>
              <a:path w="8168277" h="7576077">
                <a:moveTo>
                  <a:pt x="0" y="0"/>
                </a:moveTo>
                <a:lnTo>
                  <a:pt x="8168276" y="0"/>
                </a:lnTo>
                <a:lnTo>
                  <a:pt x="8168276" y="7576077"/>
                </a:lnTo>
                <a:lnTo>
                  <a:pt x="0" y="75760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7" name="Group 7"/>
          <p:cNvGrpSpPr/>
          <p:nvPr/>
        </p:nvGrpSpPr>
        <p:grpSpPr>
          <a:xfrm>
            <a:off x="1296076" y="5095875"/>
            <a:ext cx="12838348" cy="3232459"/>
            <a:chOff x="0" y="0"/>
            <a:chExt cx="3381293" cy="85134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81293" cy="851347"/>
            </a:xfrm>
            <a:custGeom>
              <a:avLst/>
              <a:gdLst/>
              <a:ahLst/>
              <a:cxnLst/>
              <a:rect l="l" t="t" r="r" b="b"/>
              <a:pathLst>
                <a:path w="3381293" h="851347">
                  <a:moveTo>
                    <a:pt x="15076" y="0"/>
                  </a:moveTo>
                  <a:lnTo>
                    <a:pt x="3366217" y="0"/>
                  </a:lnTo>
                  <a:cubicBezTo>
                    <a:pt x="3374544" y="0"/>
                    <a:pt x="3381293" y="6750"/>
                    <a:pt x="3381293" y="15076"/>
                  </a:cubicBezTo>
                  <a:lnTo>
                    <a:pt x="3381293" y="836271"/>
                  </a:lnTo>
                  <a:cubicBezTo>
                    <a:pt x="3381293" y="840270"/>
                    <a:pt x="3379705" y="844104"/>
                    <a:pt x="3376878" y="846932"/>
                  </a:cubicBezTo>
                  <a:cubicBezTo>
                    <a:pt x="3374050" y="849759"/>
                    <a:pt x="3370216" y="851347"/>
                    <a:pt x="3366217" y="851347"/>
                  </a:cubicBezTo>
                  <a:lnTo>
                    <a:pt x="15076" y="851347"/>
                  </a:lnTo>
                  <a:cubicBezTo>
                    <a:pt x="6750" y="851347"/>
                    <a:pt x="0" y="844597"/>
                    <a:pt x="0" y="836271"/>
                  </a:cubicBezTo>
                  <a:lnTo>
                    <a:pt x="0" y="15076"/>
                  </a:lnTo>
                  <a:cubicBezTo>
                    <a:pt x="0" y="11077"/>
                    <a:pt x="1588" y="7243"/>
                    <a:pt x="4416" y="4416"/>
                  </a:cubicBezTo>
                  <a:cubicBezTo>
                    <a:pt x="7243" y="1588"/>
                    <a:pt x="11077" y="0"/>
                    <a:pt x="1507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3381293" cy="8989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96076" y="2025123"/>
            <a:ext cx="7173738" cy="1610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2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AKTUÁLNÍ STAV PROJEKTU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8874170" y="449131"/>
            <a:ext cx="8883366" cy="5095391"/>
            <a:chOff x="0" y="0"/>
            <a:chExt cx="7981950" cy="4578350"/>
          </a:xfrm>
        </p:grpSpPr>
        <p:sp>
          <p:nvSpPr>
            <p:cNvPr id="12" name="Freeform 12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962660" y="276860"/>
              <a:ext cx="6055360" cy="3789680"/>
            </a:xfrm>
            <a:custGeom>
              <a:avLst/>
              <a:gdLst/>
              <a:ahLst/>
              <a:cxnLst/>
              <a:rect l="l" t="t" r="r" b="b"/>
              <a:pathLst>
                <a:path w="6055360" h="378968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4"/>
              <a:stretch>
                <a:fillRect t="-27595" b="-27595"/>
              </a:stretch>
            </a:blipFill>
          </p:spPr>
          <p:txBody>
            <a:bodyPr/>
            <a:lstStyle/>
            <a:p>
              <a:endParaRPr lang="cs-CZ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BB1E71E-289F-7320-4793-5E224ADA53BC}"/>
              </a:ext>
            </a:extLst>
          </p:cNvPr>
          <p:cNvGrpSpPr/>
          <p:nvPr/>
        </p:nvGrpSpPr>
        <p:grpSpPr>
          <a:xfrm>
            <a:off x="2190847" y="5682972"/>
            <a:ext cx="3120902" cy="1814195"/>
            <a:chOff x="2190847" y="5682972"/>
            <a:chExt cx="3120902" cy="1814195"/>
          </a:xfrm>
        </p:grpSpPr>
        <p:sp>
          <p:nvSpPr>
            <p:cNvPr id="21" name="TextBox 21"/>
            <p:cNvSpPr txBox="1"/>
            <p:nvPr/>
          </p:nvSpPr>
          <p:spPr>
            <a:xfrm>
              <a:off x="2190847" y="6891323"/>
              <a:ext cx="312090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věřená funkčnost základních hardwarových částí systému.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90847" y="5682972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190847" y="6357314"/>
              <a:ext cx="2773006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Funkční</a:t>
              </a: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prototyp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4FE5DFF-B8A3-56A4-3EB1-F1D3A26EAD20}"/>
              </a:ext>
            </a:extLst>
          </p:cNvPr>
          <p:cNvGrpSpPr/>
          <p:nvPr/>
        </p:nvGrpSpPr>
        <p:grpSpPr>
          <a:xfrm>
            <a:off x="6192899" y="5682972"/>
            <a:ext cx="3120902" cy="1814195"/>
            <a:chOff x="6192899" y="5682972"/>
            <a:chExt cx="3120902" cy="1814195"/>
          </a:xfrm>
        </p:grpSpPr>
        <p:sp>
          <p:nvSpPr>
            <p:cNvPr id="19" name="TextBox 19"/>
            <p:cNvSpPr txBox="1"/>
            <p:nvPr/>
          </p:nvSpPr>
          <p:spPr>
            <a:xfrm>
              <a:off x="6192899" y="6891323"/>
              <a:ext cx="312090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Přip</a:t>
              </a:r>
              <a:r>
                <a:rPr lang="en-US" sz="1600" u="none" strike="noStrike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ravené kotvy pro budoucí lokalizaci hráčů.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92899" y="5682972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192899" y="6357314"/>
              <a:ext cx="3120902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UWB </a:t>
              </a:r>
              <a:r>
                <a:rPr lang="en-US" sz="2599" b="1" dirty="0" err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infrastruktura</a:t>
              </a:r>
              <a:endParaRPr lang="en-US" sz="2599" b="1" dirty="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B8AD1AB-6C19-BE50-D177-7FC3C7561345}"/>
              </a:ext>
            </a:extLst>
          </p:cNvPr>
          <p:cNvGrpSpPr/>
          <p:nvPr/>
        </p:nvGrpSpPr>
        <p:grpSpPr>
          <a:xfrm>
            <a:off x="10194951" y="5682972"/>
            <a:ext cx="3120902" cy="1814195"/>
            <a:chOff x="10194951" y="5682972"/>
            <a:chExt cx="3120902" cy="1814195"/>
          </a:xfrm>
        </p:grpSpPr>
        <p:sp>
          <p:nvSpPr>
            <p:cNvPr id="17" name="TextBox 17"/>
            <p:cNvSpPr txBox="1"/>
            <p:nvPr/>
          </p:nvSpPr>
          <p:spPr>
            <a:xfrm>
              <a:off x="10194951" y="6891323"/>
              <a:ext cx="3120902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60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Prostředí pro testování a další vývoj herních mechanik.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194951" y="5682972"/>
              <a:ext cx="1106482" cy="721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194951" y="6357314"/>
              <a:ext cx="2247003" cy="438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 dirty="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PLAYGROUND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3969638" y="4666830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-10800000">
            <a:off x="11134744" y="-2575651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-3966503" y="-3368396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6" y="0"/>
                </a:lnTo>
                <a:lnTo>
                  <a:pt x="9990406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-957630" y="5022528"/>
            <a:ext cx="7736552" cy="7407749"/>
          </a:xfrm>
          <a:custGeom>
            <a:avLst/>
            <a:gdLst/>
            <a:ahLst/>
            <a:cxnLst/>
            <a:rect l="l" t="t" r="r" b="b"/>
            <a:pathLst>
              <a:path w="7736552" h="7407749">
                <a:moveTo>
                  <a:pt x="0" y="0"/>
                </a:moveTo>
                <a:lnTo>
                  <a:pt x="7736552" y="0"/>
                </a:lnTo>
                <a:lnTo>
                  <a:pt x="7736552" y="7407749"/>
                </a:lnTo>
                <a:lnTo>
                  <a:pt x="0" y="74077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 rot="-5400000">
            <a:off x="6605895" y="-120972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8" name="AutoShape 28"/>
          <p:cNvSpPr/>
          <p:nvPr/>
        </p:nvSpPr>
        <p:spPr>
          <a:xfrm>
            <a:off x="-693513" y="3979541"/>
            <a:ext cx="10503182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32" name="TextBox 32"/>
          <p:cNvSpPr txBox="1"/>
          <p:nvPr/>
        </p:nvSpPr>
        <p:spPr>
          <a:xfrm>
            <a:off x="1805524" y="1813714"/>
            <a:ext cx="8923216" cy="770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180"/>
              </a:lnSpc>
              <a:spcBef>
                <a:spcPct val="0"/>
              </a:spcBef>
            </a:pPr>
            <a:r>
              <a:rPr lang="en-US" sz="7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BUDOUCÍ</a:t>
            </a:r>
            <a:r>
              <a:rPr lang="en-US" sz="7000" u="none" strike="noStrike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 VÝVOJ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BE39B6C-55E8-AE75-20C8-DA60C003B3A0}"/>
              </a:ext>
            </a:extLst>
          </p:cNvPr>
          <p:cNvGrpSpPr/>
          <p:nvPr/>
        </p:nvGrpSpPr>
        <p:grpSpPr>
          <a:xfrm>
            <a:off x="1271247" y="11010900"/>
            <a:ext cx="3278799" cy="4277145"/>
            <a:chOff x="1271247" y="4666830"/>
            <a:chExt cx="3278799" cy="4277145"/>
          </a:xfrm>
        </p:grpSpPr>
        <p:grpSp>
          <p:nvGrpSpPr>
            <p:cNvPr id="37" name="Group 19">
              <a:extLst>
                <a:ext uri="{FF2B5EF4-FFF2-40B4-BE49-F238E27FC236}">
                  <a16:creationId xmlns:a16="http://schemas.microsoft.com/office/drawing/2014/main" id="{3B1E80DF-4484-4CF8-62CE-9138311D5B8A}"/>
                </a:ext>
              </a:extLst>
            </p:cNvPr>
            <p:cNvGrpSpPr/>
            <p:nvPr/>
          </p:nvGrpSpPr>
          <p:grpSpPr>
            <a:xfrm>
              <a:off x="1271247" y="4666830"/>
              <a:ext cx="3278799" cy="4277145"/>
              <a:chOff x="0" y="0"/>
              <a:chExt cx="999092" cy="1303301"/>
            </a:xfrm>
          </p:grpSpPr>
          <p:sp>
            <p:nvSpPr>
              <p:cNvPr id="40" name="Freeform 20">
                <a:extLst>
                  <a:ext uri="{FF2B5EF4-FFF2-40B4-BE49-F238E27FC236}">
                    <a16:creationId xmlns:a16="http://schemas.microsoft.com/office/drawing/2014/main" id="{19AC4C41-29A3-E89F-0724-4AFCB7DABD9B}"/>
                  </a:ext>
                </a:extLst>
              </p:cNvPr>
              <p:cNvSpPr/>
              <p:nvPr/>
            </p:nvSpPr>
            <p:spPr>
              <a:xfrm>
                <a:off x="0" y="0"/>
                <a:ext cx="999092" cy="1303301"/>
              </a:xfrm>
              <a:custGeom>
                <a:avLst/>
                <a:gdLst/>
                <a:ahLst/>
                <a:cxnLst/>
                <a:rect l="l" t="t" r="r" b="b"/>
                <a:pathLst>
                  <a:path w="999092" h="1303301">
                    <a:moveTo>
                      <a:pt x="59030" y="0"/>
                    </a:moveTo>
                    <a:lnTo>
                      <a:pt x="940062" y="0"/>
                    </a:lnTo>
                    <a:cubicBezTo>
                      <a:pt x="955717" y="0"/>
                      <a:pt x="970732" y="6219"/>
                      <a:pt x="981802" y="17290"/>
                    </a:cubicBezTo>
                    <a:cubicBezTo>
                      <a:pt x="992873" y="28360"/>
                      <a:pt x="999092" y="43374"/>
                      <a:pt x="999092" y="59030"/>
                    </a:cubicBezTo>
                    <a:lnTo>
                      <a:pt x="999092" y="1244271"/>
                    </a:lnTo>
                    <a:cubicBezTo>
                      <a:pt x="999092" y="1276872"/>
                      <a:pt x="972663" y="1303301"/>
                      <a:pt x="940062" y="1303301"/>
                    </a:cubicBezTo>
                    <a:lnTo>
                      <a:pt x="59030" y="1303301"/>
                    </a:lnTo>
                    <a:cubicBezTo>
                      <a:pt x="26429" y="1303301"/>
                      <a:pt x="0" y="1276872"/>
                      <a:pt x="0" y="1244271"/>
                    </a:cubicBezTo>
                    <a:lnTo>
                      <a:pt x="0" y="59030"/>
                    </a:lnTo>
                    <a:cubicBezTo>
                      <a:pt x="0" y="26429"/>
                      <a:pt x="26429" y="0"/>
                      <a:pt x="5903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1" name="TextBox 21">
                <a:extLst>
                  <a:ext uri="{FF2B5EF4-FFF2-40B4-BE49-F238E27FC236}">
                    <a16:creationId xmlns:a16="http://schemas.microsoft.com/office/drawing/2014/main" id="{FA297CEB-081E-7D2A-4C21-CB9AF8F159B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99092" cy="13509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8" name="TextBox 31">
              <a:extLst>
                <a:ext uri="{FF2B5EF4-FFF2-40B4-BE49-F238E27FC236}">
                  <a16:creationId xmlns:a16="http://schemas.microsoft.com/office/drawing/2014/main" id="{39FF521E-44EB-0CF7-9630-1C19E18EE5ED}"/>
                </a:ext>
              </a:extLst>
            </p:cNvPr>
            <p:cNvSpPr txBox="1"/>
            <p:nvPr/>
          </p:nvSpPr>
          <p:spPr>
            <a:xfrm>
              <a:off x="1758327" y="6954981"/>
              <a:ext cx="2304639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Osazení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oživení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nové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verze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hůlky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9" name="TextBox 33">
              <a:extLst>
                <a:ext uri="{FF2B5EF4-FFF2-40B4-BE49-F238E27FC236}">
                  <a16:creationId xmlns:a16="http://schemas.microsoft.com/office/drawing/2014/main" id="{A6DB41BC-1033-3A43-CE7B-28B212D5719B}"/>
                </a:ext>
              </a:extLst>
            </p:cNvPr>
            <p:cNvSpPr txBox="1"/>
            <p:nvPr/>
          </p:nvSpPr>
          <p:spPr>
            <a:xfrm>
              <a:off x="1724788" y="5289228"/>
              <a:ext cx="2371717" cy="1464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Dokončení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PCB</a:t>
              </a:r>
            </a:p>
          </p:txBody>
        </p:sp>
      </p:grpSp>
      <p:grpSp>
        <p:nvGrpSpPr>
          <p:cNvPr id="42" name="Group 7">
            <a:extLst>
              <a:ext uri="{FF2B5EF4-FFF2-40B4-BE49-F238E27FC236}">
                <a16:creationId xmlns:a16="http://schemas.microsoft.com/office/drawing/2014/main" id="{2E2F010D-DA01-FB7C-97FA-F2F9089F326C}"/>
              </a:ext>
            </a:extLst>
          </p:cNvPr>
          <p:cNvGrpSpPr>
            <a:grpSpLocks noChangeAspect="1"/>
          </p:cNvGrpSpPr>
          <p:nvPr/>
        </p:nvGrpSpPr>
        <p:grpSpPr>
          <a:xfrm>
            <a:off x="11183983" y="786757"/>
            <a:ext cx="6113417" cy="8471543"/>
            <a:chOff x="0" y="0"/>
            <a:chExt cx="4734560" cy="6560820"/>
          </a:xfrm>
        </p:grpSpPr>
        <p:sp>
          <p:nvSpPr>
            <p:cNvPr id="43" name="Freeform 8">
              <a:extLst>
                <a:ext uri="{FF2B5EF4-FFF2-40B4-BE49-F238E27FC236}">
                  <a16:creationId xmlns:a16="http://schemas.microsoft.com/office/drawing/2014/main" id="{44E0FD48-0BF1-AB69-5367-B6A433F49202}"/>
                </a:ext>
              </a:extLst>
            </p:cNvPr>
            <p:cNvSpPr/>
            <p:nvPr/>
          </p:nvSpPr>
          <p:spPr>
            <a:xfrm>
              <a:off x="36830" y="50800"/>
              <a:ext cx="4645660" cy="6473190"/>
            </a:xfrm>
            <a:custGeom>
              <a:avLst/>
              <a:gdLst/>
              <a:ahLst/>
              <a:cxnLst/>
              <a:rect l="l" t="t" r="r" b="b"/>
              <a:pathLst>
                <a:path w="4645660" h="6473190">
                  <a:moveTo>
                    <a:pt x="4368800" y="0"/>
                  </a:moveTo>
                  <a:lnTo>
                    <a:pt x="276860" y="0"/>
                  </a:lnTo>
                  <a:cubicBezTo>
                    <a:pt x="124460" y="0"/>
                    <a:pt x="0" y="123190"/>
                    <a:pt x="0" y="276860"/>
                  </a:cubicBezTo>
                  <a:lnTo>
                    <a:pt x="0" y="6196330"/>
                  </a:lnTo>
                  <a:cubicBezTo>
                    <a:pt x="0" y="6350000"/>
                    <a:pt x="124460" y="6473190"/>
                    <a:pt x="276860" y="6473190"/>
                  </a:cubicBezTo>
                  <a:lnTo>
                    <a:pt x="4368800" y="6473190"/>
                  </a:lnTo>
                  <a:cubicBezTo>
                    <a:pt x="4522470" y="6473190"/>
                    <a:pt x="4645660" y="6348730"/>
                    <a:pt x="4645660" y="6196330"/>
                  </a:cubicBezTo>
                  <a:lnTo>
                    <a:pt x="4645660" y="276860"/>
                  </a:lnTo>
                  <a:cubicBezTo>
                    <a:pt x="4645660" y="123190"/>
                    <a:pt x="4522470" y="0"/>
                    <a:pt x="4368800" y="0"/>
                  </a:cubicBezTo>
                  <a:close/>
                  <a:moveTo>
                    <a:pt x="4425950" y="6156960"/>
                  </a:moveTo>
                  <a:cubicBezTo>
                    <a:pt x="4425950" y="6212840"/>
                    <a:pt x="4380230" y="6258560"/>
                    <a:pt x="4324350" y="6258560"/>
                  </a:cubicBezTo>
                  <a:lnTo>
                    <a:pt x="321310" y="6258560"/>
                  </a:lnTo>
                  <a:cubicBezTo>
                    <a:pt x="265430" y="6258560"/>
                    <a:pt x="219710" y="6212840"/>
                    <a:pt x="219710" y="6156960"/>
                  </a:cubicBezTo>
                  <a:lnTo>
                    <a:pt x="219710" y="316230"/>
                  </a:lnTo>
                  <a:cubicBezTo>
                    <a:pt x="219710" y="260350"/>
                    <a:pt x="265430" y="214630"/>
                    <a:pt x="321310" y="214630"/>
                  </a:cubicBezTo>
                  <a:lnTo>
                    <a:pt x="4325620" y="214630"/>
                  </a:lnTo>
                  <a:cubicBezTo>
                    <a:pt x="4381500" y="214630"/>
                    <a:pt x="4427220" y="260350"/>
                    <a:pt x="4427220" y="316230"/>
                  </a:cubicBezTo>
                  <a:lnTo>
                    <a:pt x="4427220" y="61569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44" name="Freeform 9">
              <a:extLst>
                <a:ext uri="{FF2B5EF4-FFF2-40B4-BE49-F238E27FC236}">
                  <a16:creationId xmlns:a16="http://schemas.microsoft.com/office/drawing/2014/main" id="{63AE1522-BDAE-61C1-1DCA-BC5F06B01F1A}"/>
                </a:ext>
              </a:extLst>
            </p:cNvPr>
            <p:cNvSpPr/>
            <p:nvPr/>
          </p:nvSpPr>
          <p:spPr>
            <a:xfrm>
              <a:off x="0" y="16511"/>
              <a:ext cx="4716780" cy="6544310"/>
            </a:xfrm>
            <a:custGeom>
              <a:avLst/>
              <a:gdLst/>
              <a:ahLst/>
              <a:cxnLst/>
              <a:rect l="l" t="t" r="r" b="b"/>
              <a:pathLst>
                <a:path w="4716780" h="6544310">
                  <a:moveTo>
                    <a:pt x="4395470" y="36829"/>
                  </a:moveTo>
                  <a:cubicBezTo>
                    <a:pt x="4552950" y="36829"/>
                    <a:pt x="4681220" y="165099"/>
                    <a:pt x="4681220" y="322579"/>
                  </a:cubicBezTo>
                  <a:lnTo>
                    <a:pt x="4681220" y="6222999"/>
                  </a:lnTo>
                  <a:cubicBezTo>
                    <a:pt x="4681220" y="6380479"/>
                    <a:pt x="4552950" y="6508750"/>
                    <a:pt x="4395470" y="6508750"/>
                  </a:cubicBezTo>
                  <a:lnTo>
                    <a:pt x="321310" y="6508750"/>
                  </a:lnTo>
                  <a:cubicBezTo>
                    <a:pt x="163830" y="6508750"/>
                    <a:pt x="35560" y="6380480"/>
                    <a:pt x="35560" y="6223000"/>
                  </a:cubicBezTo>
                  <a:lnTo>
                    <a:pt x="35560" y="322580"/>
                  </a:lnTo>
                  <a:cubicBezTo>
                    <a:pt x="35560" y="165100"/>
                    <a:pt x="163830" y="36830"/>
                    <a:pt x="321310" y="36830"/>
                  </a:cubicBezTo>
                  <a:lnTo>
                    <a:pt x="4395470" y="36830"/>
                  </a:lnTo>
                  <a:moveTo>
                    <a:pt x="4395470" y="0"/>
                  </a:moveTo>
                  <a:lnTo>
                    <a:pt x="321310" y="0"/>
                  </a:lnTo>
                  <a:cubicBezTo>
                    <a:pt x="143510" y="0"/>
                    <a:pt x="0" y="144780"/>
                    <a:pt x="0" y="322580"/>
                  </a:cubicBezTo>
                  <a:lnTo>
                    <a:pt x="0" y="6223000"/>
                  </a:lnTo>
                  <a:cubicBezTo>
                    <a:pt x="0" y="6400800"/>
                    <a:pt x="143510" y="6544309"/>
                    <a:pt x="321310" y="6544309"/>
                  </a:cubicBezTo>
                  <a:lnTo>
                    <a:pt x="4395470" y="6544309"/>
                  </a:lnTo>
                  <a:cubicBezTo>
                    <a:pt x="4573270" y="6544309"/>
                    <a:pt x="4716780" y="6400800"/>
                    <a:pt x="4716780" y="6223000"/>
                  </a:cubicBezTo>
                  <a:lnTo>
                    <a:pt x="4716780" y="322580"/>
                  </a:lnTo>
                  <a:cubicBezTo>
                    <a:pt x="4716780" y="144780"/>
                    <a:pt x="4573270" y="0"/>
                    <a:pt x="439547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45" name="Freeform 10">
              <a:extLst>
                <a:ext uri="{FF2B5EF4-FFF2-40B4-BE49-F238E27FC236}">
                  <a16:creationId xmlns:a16="http://schemas.microsoft.com/office/drawing/2014/main" id="{A48BFF6E-D994-8B08-A5F2-361EFA662D03}"/>
                </a:ext>
              </a:extLst>
            </p:cNvPr>
            <p:cNvSpPr/>
            <p:nvPr/>
          </p:nvSpPr>
          <p:spPr>
            <a:xfrm>
              <a:off x="256540" y="265430"/>
              <a:ext cx="4207510" cy="6043930"/>
            </a:xfrm>
            <a:custGeom>
              <a:avLst/>
              <a:gdLst/>
              <a:ahLst/>
              <a:cxnLst/>
              <a:rect l="l" t="t" r="r" b="b"/>
              <a:pathLst>
                <a:path w="4207510" h="6043930">
                  <a:moveTo>
                    <a:pt x="4206240" y="5942330"/>
                  </a:moveTo>
                  <a:cubicBezTo>
                    <a:pt x="4206240" y="5998210"/>
                    <a:pt x="4160520" y="6043930"/>
                    <a:pt x="4104640" y="6043930"/>
                  </a:cubicBezTo>
                  <a:lnTo>
                    <a:pt x="101600" y="6043930"/>
                  </a:lnTo>
                  <a:cubicBezTo>
                    <a:pt x="45720" y="6043930"/>
                    <a:pt x="0" y="5998210"/>
                    <a:pt x="0" y="5942330"/>
                  </a:cubicBezTo>
                  <a:lnTo>
                    <a:pt x="0" y="101600"/>
                  </a:lnTo>
                  <a:cubicBezTo>
                    <a:pt x="0" y="45720"/>
                    <a:pt x="45720" y="0"/>
                    <a:pt x="101600" y="0"/>
                  </a:cubicBezTo>
                  <a:lnTo>
                    <a:pt x="4105910" y="0"/>
                  </a:lnTo>
                  <a:cubicBezTo>
                    <a:pt x="4161790" y="0"/>
                    <a:pt x="4207510" y="45720"/>
                    <a:pt x="4207510" y="101600"/>
                  </a:cubicBezTo>
                  <a:lnTo>
                    <a:pt x="4207510" y="5942330"/>
                  </a:lnTo>
                  <a:close/>
                </a:path>
              </a:pathLst>
            </a:custGeom>
            <a:blipFill>
              <a:blip r:embed="rId4"/>
              <a:stretch>
                <a:fillRect r="-87161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46" name="Freeform 11">
              <a:extLst>
                <a:ext uri="{FF2B5EF4-FFF2-40B4-BE49-F238E27FC236}">
                  <a16:creationId xmlns:a16="http://schemas.microsoft.com/office/drawing/2014/main" id="{FB267C23-2883-7F31-EF54-5EF4C8DD3F82}"/>
                </a:ext>
              </a:extLst>
            </p:cNvPr>
            <p:cNvSpPr/>
            <p:nvPr/>
          </p:nvSpPr>
          <p:spPr>
            <a:xfrm>
              <a:off x="1953089" y="120650"/>
              <a:ext cx="76541" cy="76201"/>
            </a:xfrm>
            <a:custGeom>
              <a:avLst/>
              <a:gdLst/>
              <a:ahLst/>
              <a:cxnLst/>
              <a:rect l="l" t="t" r="r" b="b"/>
              <a:pathLst>
                <a:path w="76541" h="76201">
                  <a:moveTo>
                    <a:pt x="38271" y="0"/>
                  </a:moveTo>
                  <a:cubicBezTo>
                    <a:pt x="24619" y="-61"/>
                    <a:pt x="11977" y="7187"/>
                    <a:pt x="5133" y="19001"/>
                  </a:cubicBezTo>
                  <a:cubicBezTo>
                    <a:pt x="-1711" y="30814"/>
                    <a:pt x="-1711" y="45386"/>
                    <a:pt x="5133" y="57199"/>
                  </a:cubicBezTo>
                  <a:cubicBezTo>
                    <a:pt x="11977" y="69013"/>
                    <a:pt x="24619" y="76261"/>
                    <a:pt x="38271" y="76200"/>
                  </a:cubicBezTo>
                  <a:cubicBezTo>
                    <a:pt x="51923" y="76261"/>
                    <a:pt x="64565" y="69013"/>
                    <a:pt x="71409" y="57199"/>
                  </a:cubicBezTo>
                  <a:cubicBezTo>
                    <a:pt x="78253" y="45386"/>
                    <a:pt x="78253" y="30814"/>
                    <a:pt x="71409" y="19001"/>
                  </a:cubicBezTo>
                  <a:cubicBezTo>
                    <a:pt x="64565" y="7187"/>
                    <a:pt x="51923" y="-61"/>
                    <a:pt x="38271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47" name="Freeform 12">
              <a:extLst>
                <a:ext uri="{FF2B5EF4-FFF2-40B4-BE49-F238E27FC236}">
                  <a16:creationId xmlns:a16="http://schemas.microsoft.com/office/drawing/2014/main" id="{76C1D819-382F-4C0A-1AEA-622637834A3F}"/>
                </a:ext>
              </a:extLst>
            </p:cNvPr>
            <p:cNvSpPr/>
            <p:nvPr/>
          </p:nvSpPr>
          <p:spPr>
            <a:xfrm>
              <a:off x="2121925" y="104139"/>
              <a:ext cx="109709" cy="109221"/>
            </a:xfrm>
            <a:custGeom>
              <a:avLst/>
              <a:gdLst/>
              <a:ahLst/>
              <a:cxnLst/>
              <a:rect l="l" t="t" r="r" b="b"/>
              <a:pathLst>
                <a:path w="109709" h="109221">
                  <a:moveTo>
                    <a:pt x="54855" y="1"/>
                  </a:moveTo>
                  <a:cubicBezTo>
                    <a:pt x="35287" y="-87"/>
                    <a:pt x="17167" y="10303"/>
                    <a:pt x="7357" y="27235"/>
                  </a:cubicBezTo>
                  <a:cubicBezTo>
                    <a:pt x="-2452" y="44168"/>
                    <a:pt x="-2452" y="65054"/>
                    <a:pt x="7357" y="81987"/>
                  </a:cubicBezTo>
                  <a:cubicBezTo>
                    <a:pt x="17167" y="98919"/>
                    <a:pt x="35287" y="109309"/>
                    <a:pt x="54855" y="109221"/>
                  </a:cubicBezTo>
                  <a:cubicBezTo>
                    <a:pt x="74423" y="109309"/>
                    <a:pt x="92543" y="98919"/>
                    <a:pt x="102352" y="81987"/>
                  </a:cubicBezTo>
                  <a:cubicBezTo>
                    <a:pt x="112162" y="65054"/>
                    <a:pt x="112162" y="44168"/>
                    <a:pt x="102352" y="27235"/>
                  </a:cubicBezTo>
                  <a:cubicBezTo>
                    <a:pt x="92543" y="10303"/>
                    <a:pt x="74423" y="-87"/>
                    <a:pt x="54855" y="1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48" name="Freeform 13">
              <a:extLst>
                <a:ext uri="{FF2B5EF4-FFF2-40B4-BE49-F238E27FC236}">
                  <a16:creationId xmlns:a16="http://schemas.microsoft.com/office/drawing/2014/main" id="{DB761795-E5BC-C568-292B-1CB41F01F40B}"/>
                </a:ext>
              </a:extLst>
            </p:cNvPr>
            <p:cNvSpPr/>
            <p:nvPr/>
          </p:nvSpPr>
          <p:spPr>
            <a:xfrm>
              <a:off x="2330313" y="128270"/>
              <a:ext cx="61233" cy="60961"/>
            </a:xfrm>
            <a:custGeom>
              <a:avLst/>
              <a:gdLst/>
              <a:ahLst/>
              <a:cxnLst/>
              <a:rect l="l" t="t" r="r" b="b"/>
              <a:pathLst>
                <a:path w="61233" h="60961">
                  <a:moveTo>
                    <a:pt x="30617" y="0"/>
                  </a:moveTo>
                  <a:cubicBezTo>
                    <a:pt x="19695" y="-49"/>
                    <a:pt x="9582" y="5750"/>
                    <a:pt x="4107" y="15201"/>
                  </a:cubicBezTo>
                  <a:cubicBezTo>
                    <a:pt x="-1369" y="24651"/>
                    <a:pt x="-1369" y="36309"/>
                    <a:pt x="4107" y="45759"/>
                  </a:cubicBezTo>
                  <a:cubicBezTo>
                    <a:pt x="9582" y="55210"/>
                    <a:pt x="19695" y="61009"/>
                    <a:pt x="30617" y="60960"/>
                  </a:cubicBezTo>
                  <a:cubicBezTo>
                    <a:pt x="41539" y="61009"/>
                    <a:pt x="51652" y="55210"/>
                    <a:pt x="57127" y="45759"/>
                  </a:cubicBezTo>
                  <a:cubicBezTo>
                    <a:pt x="62602" y="36309"/>
                    <a:pt x="62602" y="24651"/>
                    <a:pt x="57127" y="15201"/>
                  </a:cubicBezTo>
                  <a:cubicBezTo>
                    <a:pt x="51652" y="5750"/>
                    <a:pt x="41539" y="-49"/>
                    <a:pt x="30617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49" name="Freeform 14">
              <a:extLst>
                <a:ext uri="{FF2B5EF4-FFF2-40B4-BE49-F238E27FC236}">
                  <a16:creationId xmlns:a16="http://schemas.microsoft.com/office/drawing/2014/main" id="{51CABBEA-060B-990C-D49E-0999CD998C95}"/>
                </a:ext>
              </a:extLst>
            </p:cNvPr>
            <p:cNvSpPr/>
            <p:nvPr/>
          </p:nvSpPr>
          <p:spPr>
            <a:xfrm>
              <a:off x="2346897" y="144780"/>
              <a:ext cx="28065" cy="27940"/>
            </a:xfrm>
            <a:custGeom>
              <a:avLst/>
              <a:gdLst/>
              <a:ahLst/>
              <a:cxnLst/>
              <a:rect l="l" t="t" r="r" b="b"/>
              <a:pathLst>
                <a:path w="28065" h="27940">
                  <a:moveTo>
                    <a:pt x="14033" y="0"/>
                  </a:moveTo>
                  <a:cubicBezTo>
                    <a:pt x="9027" y="-22"/>
                    <a:pt x="4392" y="2635"/>
                    <a:pt x="1882" y="6967"/>
                  </a:cubicBezTo>
                  <a:cubicBezTo>
                    <a:pt x="-627" y="11298"/>
                    <a:pt x="-627" y="16642"/>
                    <a:pt x="1882" y="20973"/>
                  </a:cubicBezTo>
                  <a:cubicBezTo>
                    <a:pt x="4392" y="25305"/>
                    <a:pt x="9027" y="27962"/>
                    <a:pt x="14033" y="27940"/>
                  </a:cubicBezTo>
                  <a:cubicBezTo>
                    <a:pt x="19039" y="27962"/>
                    <a:pt x="23674" y="25305"/>
                    <a:pt x="26184" y="20973"/>
                  </a:cubicBezTo>
                  <a:cubicBezTo>
                    <a:pt x="28693" y="16642"/>
                    <a:pt x="28693" y="11298"/>
                    <a:pt x="26184" y="6967"/>
                  </a:cubicBezTo>
                  <a:cubicBezTo>
                    <a:pt x="23674" y="2635"/>
                    <a:pt x="19039" y="-22"/>
                    <a:pt x="14033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0" name="Freeform 15">
              <a:extLst>
                <a:ext uri="{FF2B5EF4-FFF2-40B4-BE49-F238E27FC236}">
                  <a16:creationId xmlns:a16="http://schemas.microsoft.com/office/drawing/2014/main" id="{A3BE2BB3-E712-65D7-EB16-8AC18DFD6FE3}"/>
                </a:ext>
              </a:extLst>
            </p:cNvPr>
            <p:cNvSpPr/>
            <p:nvPr/>
          </p:nvSpPr>
          <p:spPr>
            <a:xfrm>
              <a:off x="2344386" y="144780"/>
              <a:ext cx="15308" cy="15240"/>
            </a:xfrm>
            <a:custGeom>
              <a:avLst/>
              <a:gdLst/>
              <a:ahLst/>
              <a:cxnLst/>
              <a:rect l="l" t="t" r="r" b="b"/>
              <a:pathLst>
                <a:path w="15308" h="15240">
                  <a:moveTo>
                    <a:pt x="7654" y="0"/>
                  </a:moveTo>
                  <a:cubicBezTo>
                    <a:pt x="4924" y="-12"/>
                    <a:pt x="2395" y="1437"/>
                    <a:pt x="1026" y="3800"/>
                  </a:cubicBezTo>
                  <a:cubicBezTo>
                    <a:pt x="-342" y="6163"/>
                    <a:pt x="-342" y="9077"/>
                    <a:pt x="1026" y="11440"/>
                  </a:cubicBezTo>
                  <a:cubicBezTo>
                    <a:pt x="2395" y="13803"/>
                    <a:pt x="4924" y="15252"/>
                    <a:pt x="7654" y="15240"/>
                  </a:cubicBezTo>
                  <a:cubicBezTo>
                    <a:pt x="10384" y="15252"/>
                    <a:pt x="12913" y="13803"/>
                    <a:pt x="14281" y="11440"/>
                  </a:cubicBezTo>
                  <a:cubicBezTo>
                    <a:pt x="15650" y="9077"/>
                    <a:pt x="15650" y="6163"/>
                    <a:pt x="14281" y="3800"/>
                  </a:cubicBezTo>
                  <a:cubicBezTo>
                    <a:pt x="12913" y="1437"/>
                    <a:pt x="10384" y="-12"/>
                    <a:pt x="7654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1" name="Freeform 16">
              <a:extLst>
                <a:ext uri="{FF2B5EF4-FFF2-40B4-BE49-F238E27FC236}">
                  <a16:creationId xmlns:a16="http://schemas.microsoft.com/office/drawing/2014/main" id="{B460A92A-2B29-34D3-F0D6-422C214AF964}"/>
                </a:ext>
              </a:extLst>
            </p:cNvPr>
            <p:cNvSpPr/>
            <p:nvPr/>
          </p:nvSpPr>
          <p:spPr>
            <a:xfrm>
              <a:off x="4716780" y="53467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2" name="Freeform 17">
              <a:extLst>
                <a:ext uri="{FF2B5EF4-FFF2-40B4-BE49-F238E27FC236}">
                  <a16:creationId xmlns:a16="http://schemas.microsoft.com/office/drawing/2014/main" id="{2B3F0AB2-B9F8-AAF3-5B9F-CF83F9CA40FE}"/>
                </a:ext>
              </a:extLst>
            </p:cNvPr>
            <p:cNvSpPr/>
            <p:nvPr/>
          </p:nvSpPr>
          <p:spPr>
            <a:xfrm>
              <a:off x="4716780" y="86106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3" name="Freeform 18">
              <a:extLst>
                <a:ext uri="{FF2B5EF4-FFF2-40B4-BE49-F238E27FC236}">
                  <a16:creationId xmlns:a16="http://schemas.microsoft.com/office/drawing/2014/main" id="{510C1F38-59F6-E2F4-5B80-B85912DCF9CE}"/>
                </a:ext>
              </a:extLst>
            </p:cNvPr>
            <p:cNvSpPr/>
            <p:nvPr/>
          </p:nvSpPr>
          <p:spPr>
            <a:xfrm>
              <a:off x="4064000" y="-113"/>
              <a:ext cx="320040" cy="16623"/>
            </a:xfrm>
            <a:custGeom>
              <a:avLst/>
              <a:gdLst/>
              <a:ahLst/>
              <a:cxnLst/>
              <a:rect l="l" t="t" r="r" b="b"/>
              <a:pathLst>
                <a:path w="320040" h="16623">
                  <a:moveTo>
                    <a:pt x="0" y="16623"/>
                  </a:moveTo>
                  <a:lnTo>
                    <a:pt x="320040" y="16623"/>
                  </a:lnTo>
                  <a:cubicBezTo>
                    <a:pt x="320040" y="-2427"/>
                    <a:pt x="304800" y="113"/>
                    <a:pt x="285750" y="113"/>
                  </a:cubicBezTo>
                  <a:lnTo>
                    <a:pt x="34290" y="113"/>
                  </a:lnTo>
                  <a:cubicBezTo>
                    <a:pt x="15240" y="113"/>
                    <a:pt x="0" y="-2427"/>
                    <a:pt x="0" y="16623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3969638" y="4666830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 rot="-10800000">
            <a:off x="11134744" y="-2575651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-3966503" y="-3368396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6" y="0"/>
                </a:lnTo>
                <a:lnTo>
                  <a:pt x="9990406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-957630" y="5022528"/>
            <a:ext cx="7736552" cy="7407749"/>
          </a:xfrm>
          <a:custGeom>
            <a:avLst/>
            <a:gdLst/>
            <a:ahLst/>
            <a:cxnLst/>
            <a:rect l="l" t="t" r="r" b="b"/>
            <a:pathLst>
              <a:path w="7736552" h="7407749">
                <a:moveTo>
                  <a:pt x="0" y="0"/>
                </a:moveTo>
                <a:lnTo>
                  <a:pt x="7736552" y="0"/>
                </a:lnTo>
                <a:lnTo>
                  <a:pt x="7736552" y="7407749"/>
                </a:lnTo>
                <a:lnTo>
                  <a:pt x="0" y="74077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 rot="-5400000">
            <a:off x="6605895" y="-120972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8" name="AutoShape 28"/>
          <p:cNvSpPr/>
          <p:nvPr/>
        </p:nvSpPr>
        <p:spPr>
          <a:xfrm>
            <a:off x="-693513" y="3979541"/>
            <a:ext cx="10503182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32" name="TextBox 32"/>
          <p:cNvSpPr txBox="1"/>
          <p:nvPr/>
        </p:nvSpPr>
        <p:spPr>
          <a:xfrm>
            <a:off x="1805524" y="1813714"/>
            <a:ext cx="8923216" cy="770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180"/>
              </a:lnSpc>
              <a:spcBef>
                <a:spcPct val="0"/>
              </a:spcBef>
            </a:pPr>
            <a:r>
              <a:rPr lang="en-US" sz="7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BUDOUCÍ</a:t>
            </a:r>
            <a:r>
              <a:rPr lang="en-US" sz="7000" u="none" strike="noStrike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 VÝVOJ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E1F4BFC-BCF8-F551-C840-47E2AD77BBB7}"/>
              </a:ext>
            </a:extLst>
          </p:cNvPr>
          <p:cNvGrpSpPr/>
          <p:nvPr/>
        </p:nvGrpSpPr>
        <p:grpSpPr>
          <a:xfrm>
            <a:off x="1271247" y="4666830"/>
            <a:ext cx="3278799" cy="4277145"/>
            <a:chOff x="1271247" y="4666830"/>
            <a:chExt cx="3278799" cy="4277145"/>
          </a:xfrm>
        </p:grpSpPr>
        <p:grpSp>
          <p:nvGrpSpPr>
            <p:cNvPr id="37" name="Group 19">
              <a:extLst>
                <a:ext uri="{FF2B5EF4-FFF2-40B4-BE49-F238E27FC236}">
                  <a16:creationId xmlns:a16="http://schemas.microsoft.com/office/drawing/2014/main" id="{782B2152-247E-36A2-F8CC-AF7A5327F685}"/>
                </a:ext>
              </a:extLst>
            </p:cNvPr>
            <p:cNvGrpSpPr/>
            <p:nvPr/>
          </p:nvGrpSpPr>
          <p:grpSpPr>
            <a:xfrm>
              <a:off x="1271247" y="4666830"/>
              <a:ext cx="3278799" cy="4277145"/>
              <a:chOff x="0" y="0"/>
              <a:chExt cx="999092" cy="1303301"/>
            </a:xfrm>
          </p:grpSpPr>
          <p:sp>
            <p:nvSpPr>
              <p:cNvPr id="40" name="Freeform 20">
                <a:extLst>
                  <a:ext uri="{FF2B5EF4-FFF2-40B4-BE49-F238E27FC236}">
                    <a16:creationId xmlns:a16="http://schemas.microsoft.com/office/drawing/2014/main" id="{404758F9-9BFB-F1D0-0BD6-AD39D178A366}"/>
                  </a:ext>
                </a:extLst>
              </p:cNvPr>
              <p:cNvSpPr/>
              <p:nvPr/>
            </p:nvSpPr>
            <p:spPr>
              <a:xfrm>
                <a:off x="0" y="0"/>
                <a:ext cx="999092" cy="1303301"/>
              </a:xfrm>
              <a:custGeom>
                <a:avLst/>
                <a:gdLst/>
                <a:ahLst/>
                <a:cxnLst/>
                <a:rect l="l" t="t" r="r" b="b"/>
                <a:pathLst>
                  <a:path w="999092" h="1303301">
                    <a:moveTo>
                      <a:pt x="59030" y="0"/>
                    </a:moveTo>
                    <a:lnTo>
                      <a:pt x="940062" y="0"/>
                    </a:lnTo>
                    <a:cubicBezTo>
                      <a:pt x="955717" y="0"/>
                      <a:pt x="970732" y="6219"/>
                      <a:pt x="981802" y="17290"/>
                    </a:cubicBezTo>
                    <a:cubicBezTo>
                      <a:pt x="992873" y="28360"/>
                      <a:pt x="999092" y="43374"/>
                      <a:pt x="999092" y="59030"/>
                    </a:cubicBezTo>
                    <a:lnTo>
                      <a:pt x="999092" y="1244271"/>
                    </a:lnTo>
                    <a:cubicBezTo>
                      <a:pt x="999092" y="1276872"/>
                      <a:pt x="972663" y="1303301"/>
                      <a:pt x="940062" y="1303301"/>
                    </a:cubicBezTo>
                    <a:lnTo>
                      <a:pt x="59030" y="1303301"/>
                    </a:lnTo>
                    <a:cubicBezTo>
                      <a:pt x="26429" y="1303301"/>
                      <a:pt x="0" y="1276872"/>
                      <a:pt x="0" y="1244271"/>
                    </a:cubicBezTo>
                    <a:lnTo>
                      <a:pt x="0" y="59030"/>
                    </a:lnTo>
                    <a:cubicBezTo>
                      <a:pt x="0" y="26429"/>
                      <a:pt x="26429" y="0"/>
                      <a:pt x="5903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1" name="TextBox 21">
                <a:extLst>
                  <a:ext uri="{FF2B5EF4-FFF2-40B4-BE49-F238E27FC236}">
                    <a16:creationId xmlns:a16="http://schemas.microsoft.com/office/drawing/2014/main" id="{C0B56AB4-95A7-8536-C0F7-BE987B05FCD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99092" cy="13509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8" name="TextBox 31">
              <a:extLst>
                <a:ext uri="{FF2B5EF4-FFF2-40B4-BE49-F238E27FC236}">
                  <a16:creationId xmlns:a16="http://schemas.microsoft.com/office/drawing/2014/main" id="{280C26E8-4E8A-45C6-8CB9-165ACB9002A5}"/>
                </a:ext>
              </a:extLst>
            </p:cNvPr>
            <p:cNvSpPr txBox="1"/>
            <p:nvPr/>
          </p:nvSpPr>
          <p:spPr>
            <a:xfrm>
              <a:off x="1758327" y="6954981"/>
              <a:ext cx="2304639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Osazení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oživení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nové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verze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hůlky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9" name="TextBox 33">
              <a:extLst>
                <a:ext uri="{FF2B5EF4-FFF2-40B4-BE49-F238E27FC236}">
                  <a16:creationId xmlns:a16="http://schemas.microsoft.com/office/drawing/2014/main" id="{8FDA8253-1C81-D83B-039B-9D36B49542AB}"/>
                </a:ext>
              </a:extLst>
            </p:cNvPr>
            <p:cNvSpPr txBox="1"/>
            <p:nvPr/>
          </p:nvSpPr>
          <p:spPr>
            <a:xfrm>
              <a:off x="1724788" y="5289228"/>
              <a:ext cx="2371717" cy="1464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Dokončení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PCB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3E13C2D-5054-AC96-EAAD-DE10CFE2D13C}"/>
              </a:ext>
            </a:extLst>
          </p:cNvPr>
          <p:cNvGrpSpPr/>
          <p:nvPr/>
        </p:nvGrpSpPr>
        <p:grpSpPr>
          <a:xfrm>
            <a:off x="4712561" y="10858500"/>
            <a:ext cx="3278799" cy="4277145"/>
            <a:chOff x="4712561" y="4666830"/>
            <a:chExt cx="3278799" cy="4277145"/>
          </a:xfrm>
        </p:grpSpPr>
        <p:grpSp>
          <p:nvGrpSpPr>
            <p:cNvPr id="43" name="Group 22">
              <a:extLst>
                <a:ext uri="{FF2B5EF4-FFF2-40B4-BE49-F238E27FC236}">
                  <a16:creationId xmlns:a16="http://schemas.microsoft.com/office/drawing/2014/main" id="{BDDC967F-C21C-11DA-189D-34777A7B9C69}"/>
                </a:ext>
              </a:extLst>
            </p:cNvPr>
            <p:cNvGrpSpPr/>
            <p:nvPr/>
          </p:nvGrpSpPr>
          <p:grpSpPr>
            <a:xfrm>
              <a:off x="4712561" y="4666830"/>
              <a:ext cx="3278799" cy="4277145"/>
              <a:chOff x="0" y="0"/>
              <a:chExt cx="999092" cy="1303301"/>
            </a:xfrm>
          </p:grpSpPr>
          <p:sp>
            <p:nvSpPr>
              <p:cNvPr id="46" name="Freeform 23">
                <a:extLst>
                  <a:ext uri="{FF2B5EF4-FFF2-40B4-BE49-F238E27FC236}">
                    <a16:creationId xmlns:a16="http://schemas.microsoft.com/office/drawing/2014/main" id="{EE50187B-1330-9B86-9F17-0DE589745943}"/>
                  </a:ext>
                </a:extLst>
              </p:cNvPr>
              <p:cNvSpPr/>
              <p:nvPr/>
            </p:nvSpPr>
            <p:spPr>
              <a:xfrm>
                <a:off x="0" y="0"/>
                <a:ext cx="999092" cy="1303301"/>
              </a:xfrm>
              <a:custGeom>
                <a:avLst/>
                <a:gdLst/>
                <a:ahLst/>
                <a:cxnLst/>
                <a:rect l="l" t="t" r="r" b="b"/>
                <a:pathLst>
                  <a:path w="999092" h="1303301">
                    <a:moveTo>
                      <a:pt x="59030" y="0"/>
                    </a:moveTo>
                    <a:lnTo>
                      <a:pt x="940062" y="0"/>
                    </a:lnTo>
                    <a:cubicBezTo>
                      <a:pt x="955717" y="0"/>
                      <a:pt x="970732" y="6219"/>
                      <a:pt x="981802" y="17290"/>
                    </a:cubicBezTo>
                    <a:cubicBezTo>
                      <a:pt x="992873" y="28360"/>
                      <a:pt x="999092" y="43374"/>
                      <a:pt x="999092" y="59030"/>
                    </a:cubicBezTo>
                    <a:lnTo>
                      <a:pt x="999092" y="1244271"/>
                    </a:lnTo>
                    <a:cubicBezTo>
                      <a:pt x="999092" y="1276872"/>
                      <a:pt x="972663" y="1303301"/>
                      <a:pt x="940062" y="1303301"/>
                    </a:cubicBezTo>
                    <a:lnTo>
                      <a:pt x="59030" y="1303301"/>
                    </a:lnTo>
                    <a:cubicBezTo>
                      <a:pt x="26429" y="1303301"/>
                      <a:pt x="0" y="1276872"/>
                      <a:pt x="0" y="1244271"/>
                    </a:cubicBezTo>
                    <a:lnTo>
                      <a:pt x="0" y="59030"/>
                    </a:lnTo>
                    <a:cubicBezTo>
                      <a:pt x="0" y="26429"/>
                      <a:pt x="26429" y="0"/>
                      <a:pt x="5903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7" name="TextBox 24">
                <a:extLst>
                  <a:ext uri="{FF2B5EF4-FFF2-40B4-BE49-F238E27FC236}">
                    <a16:creationId xmlns:a16="http://schemas.microsoft.com/office/drawing/2014/main" id="{EA682688-A2F5-2E77-8DC9-75BA7D03E91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99092" cy="13509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44" name="TextBox 30">
              <a:extLst>
                <a:ext uri="{FF2B5EF4-FFF2-40B4-BE49-F238E27FC236}">
                  <a16:creationId xmlns:a16="http://schemas.microsoft.com/office/drawing/2014/main" id="{BAE3F4C1-14A2-9107-6652-A92CC6067CFF}"/>
                </a:ext>
              </a:extLst>
            </p:cNvPr>
            <p:cNvSpPr txBox="1"/>
            <p:nvPr/>
          </p:nvSpPr>
          <p:spPr>
            <a:xfrm>
              <a:off x="5199641" y="6954981"/>
              <a:ext cx="2304639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Přesná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lokalizace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hráče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prostoru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45" name="TextBox 34">
              <a:extLst>
                <a:ext uri="{FF2B5EF4-FFF2-40B4-BE49-F238E27FC236}">
                  <a16:creationId xmlns:a16="http://schemas.microsoft.com/office/drawing/2014/main" id="{E89FF581-8A40-1707-03C9-19CA510549F9}"/>
                </a:ext>
              </a:extLst>
            </p:cNvPr>
            <p:cNvSpPr txBox="1"/>
            <p:nvPr/>
          </p:nvSpPr>
          <p:spPr>
            <a:xfrm>
              <a:off x="5234989" y="5289228"/>
              <a:ext cx="2233944" cy="1464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Integrace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UWB</a:t>
              </a:r>
            </a:p>
          </p:txBody>
        </p:sp>
      </p:grpSp>
      <p:grpSp>
        <p:nvGrpSpPr>
          <p:cNvPr id="48" name="Group 7">
            <a:extLst>
              <a:ext uri="{FF2B5EF4-FFF2-40B4-BE49-F238E27FC236}">
                <a16:creationId xmlns:a16="http://schemas.microsoft.com/office/drawing/2014/main" id="{BA02EC8A-1D65-0B10-FC04-938436A353A0}"/>
              </a:ext>
            </a:extLst>
          </p:cNvPr>
          <p:cNvGrpSpPr>
            <a:grpSpLocks noChangeAspect="1"/>
          </p:cNvGrpSpPr>
          <p:nvPr/>
        </p:nvGrpSpPr>
        <p:grpSpPr>
          <a:xfrm>
            <a:off x="11183983" y="786757"/>
            <a:ext cx="6113417" cy="8471543"/>
            <a:chOff x="0" y="0"/>
            <a:chExt cx="4734560" cy="6560820"/>
          </a:xfrm>
        </p:grpSpPr>
        <p:sp>
          <p:nvSpPr>
            <p:cNvPr id="49" name="Freeform 8">
              <a:extLst>
                <a:ext uri="{FF2B5EF4-FFF2-40B4-BE49-F238E27FC236}">
                  <a16:creationId xmlns:a16="http://schemas.microsoft.com/office/drawing/2014/main" id="{832F051A-EB13-4209-54C4-AECDAE770440}"/>
                </a:ext>
              </a:extLst>
            </p:cNvPr>
            <p:cNvSpPr/>
            <p:nvPr/>
          </p:nvSpPr>
          <p:spPr>
            <a:xfrm>
              <a:off x="36830" y="50800"/>
              <a:ext cx="4645660" cy="6473190"/>
            </a:xfrm>
            <a:custGeom>
              <a:avLst/>
              <a:gdLst/>
              <a:ahLst/>
              <a:cxnLst/>
              <a:rect l="l" t="t" r="r" b="b"/>
              <a:pathLst>
                <a:path w="4645660" h="6473190">
                  <a:moveTo>
                    <a:pt x="4368800" y="0"/>
                  </a:moveTo>
                  <a:lnTo>
                    <a:pt x="276860" y="0"/>
                  </a:lnTo>
                  <a:cubicBezTo>
                    <a:pt x="124460" y="0"/>
                    <a:pt x="0" y="123190"/>
                    <a:pt x="0" y="276860"/>
                  </a:cubicBezTo>
                  <a:lnTo>
                    <a:pt x="0" y="6196330"/>
                  </a:lnTo>
                  <a:cubicBezTo>
                    <a:pt x="0" y="6350000"/>
                    <a:pt x="124460" y="6473190"/>
                    <a:pt x="276860" y="6473190"/>
                  </a:cubicBezTo>
                  <a:lnTo>
                    <a:pt x="4368800" y="6473190"/>
                  </a:lnTo>
                  <a:cubicBezTo>
                    <a:pt x="4522470" y="6473190"/>
                    <a:pt x="4645660" y="6348730"/>
                    <a:pt x="4645660" y="6196330"/>
                  </a:cubicBezTo>
                  <a:lnTo>
                    <a:pt x="4645660" y="276860"/>
                  </a:lnTo>
                  <a:cubicBezTo>
                    <a:pt x="4645660" y="123190"/>
                    <a:pt x="4522470" y="0"/>
                    <a:pt x="4368800" y="0"/>
                  </a:cubicBezTo>
                  <a:close/>
                  <a:moveTo>
                    <a:pt x="4425950" y="6156960"/>
                  </a:moveTo>
                  <a:cubicBezTo>
                    <a:pt x="4425950" y="6212840"/>
                    <a:pt x="4380230" y="6258560"/>
                    <a:pt x="4324350" y="6258560"/>
                  </a:cubicBezTo>
                  <a:lnTo>
                    <a:pt x="321310" y="6258560"/>
                  </a:lnTo>
                  <a:cubicBezTo>
                    <a:pt x="265430" y="6258560"/>
                    <a:pt x="219710" y="6212840"/>
                    <a:pt x="219710" y="6156960"/>
                  </a:cubicBezTo>
                  <a:lnTo>
                    <a:pt x="219710" y="316230"/>
                  </a:lnTo>
                  <a:cubicBezTo>
                    <a:pt x="219710" y="260350"/>
                    <a:pt x="265430" y="214630"/>
                    <a:pt x="321310" y="214630"/>
                  </a:cubicBezTo>
                  <a:lnTo>
                    <a:pt x="4325620" y="214630"/>
                  </a:lnTo>
                  <a:cubicBezTo>
                    <a:pt x="4381500" y="214630"/>
                    <a:pt x="4427220" y="260350"/>
                    <a:pt x="4427220" y="316230"/>
                  </a:cubicBezTo>
                  <a:lnTo>
                    <a:pt x="4427220" y="61569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0" name="Freeform 9">
              <a:extLst>
                <a:ext uri="{FF2B5EF4-FFF2-40B4-BE49-F238E27FC236}">
                  <a16:creationId xmlns:a16="http://schemas.microsoft.com/office/drawing/2014/main" id="{44E235C4-434F-F4A7-B433-D1726486EBE4}"/>
                </a:ext>
              </a:extLst>
            </p:cNvPr>
            <p:cNvSpPr/>
            <p:nvPr/>
          </p:nvSpPr>
          <p:spPr>
            <a:xfrm>
              <a:off x="0" y="16511"/>
              <a:ext cx="4716780" cy="6544310"/>
            </a:xfrm>
            <a:custGeom>
              <a:avLst/>
              <a:gdLst/>
              <a:ahLst/>
              <a:cxnLst/>
              <a:rect l="l" t="t" r="r" b="b"/>
              <a:pathLst>
                <a:path w="4716780" h="6544310">
                  <a:moveTo>
                    <a:pt x="4395470" y="36829"/>
                  </a:moveTo>
                  <a:cubicBezTo>
                    <a:pt x="4552950" y="36829"/>
                    <a:pt x="4681220" y="165099"/>
                    <a:pt x="4681220" y="322579"/>
                  </a:cubicBezTo>
                  <a:lnTo>
                    <a:pt x="4681220" y="6222999"/>
                  </a:lnTo>
                  <a:cubicBezTo>
                    <a:pt x="4681220" y="6380479"/>
                    <a:pt x="4552950" y="6508750"/>
                    <a:pt x="4395470" y="6508750"/>
                  </a:cubicBezTo>
                  <a:lnTo>
                    <a:pt x="321310" y="6508750"/>
                  </a:lnTo>
                  <a:cubicBezTo>
                    <a:pt x="163830" y="6508750"/>
                    <a:pt x="35560" y="6380480"/>
                    <a:pt x="35560" y="6223000"/>
                  </a:cubicBezTo>
                  <a:lnTo>
                    <a:pt x="35560" y="322580"/>
                  </a:lnTo>
                  <a:cubicBezTo>
                    <a:pt x="35560" y="165100"/>
                    <a:pt x="163830" y="36830"/>
                    <a:pt x="321310" y="36830"/>
                  </a:cubicBezTo>
                  <a:lnTo>
                    <a:pt x="4395470" y="36830"/>
                  </a:lnTo>
                  <a:moveTo>
                    <a:pt x="4395470" y="0"/>
                  </a:moveTo>
                  <a:lnTo>
                    <a:pt x="321310" y="0"/>
                  </a:lnTo>
                  <a:cubicBezTo>
                    <a:pt x="143510" y="0"/>
                    <a:pt x="0" y="144780"/>
                    <a:pt x="0" y="322580"/>
                  </a:cubicBezTo>
                  <a:lnTo>
                    <a:pt x="0" y="6223000"/>
                  </a:lnTo>
                  <a:cubicBezTo>
                    <a:pt x="0" y="6400800"/>
                    <a:pt x="143510" y="6544309"/>
                    <a:pt x="321310" y="6544309"/>
                  </a:cubicBezTo>
                  <a:lnTo>
                    <a:pt x="4395470" y="6544309"/>
                  </a:lnTo>
                  <a:cubicBezTo>
                    <a:pt x="4573270" y="6544309"/>
                    <a:pt x="4716780" y="6400800"/>
                    <a:pt x="4716780" y="6223000"/>
                  </a:cubicBezTo>
                  <a:lnTo>
                    <a:pt x="4716780" y="322580"/>
                  </a:lnTo>
                  <a:cubicBezTo>
                    <a:pt x="4716780" y="144780"/>
                    <a:pt x="4573270" y="0"/>
                    <a:pt x="439547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1" name="Freeform 10">
              <a:extLst>
                <a:ext uri="{FF2B5EF4-FFF2-40B4-BE49-F238E27FC236}">
                  <a16:creationId xmlns:a16="http://schemas.microsoft.com/office/drawing/2014/main" id="{2A0BF71E-F628-F605-A5A8-F13BC88CF354}"/>
                </a:ext>
              </a:extLst>
            </p:cNvPr>
            <p:cNvSpPr/>
            <p:nvPr/>
          </p:nvSpPr>
          <p:spPr>
            <a:xfrm>
              <a:off x="256540" y="265430"/>
              <a:ext cx="4207510" cy="6043930"/>
            </a:xfrm>
            <a:custGeom>
              <a:avLst/>
              <a:gdLst/>
              <a:ahLst/>
              <a:cxnLst/>
              <a:rect l="l" t="t" r="r" b="b"/>
              <a:pathLst>
                <a:path w="4207510" h="6043930">
                  <a:moveTo>
                    <a:pt x="4206240" y="5942330"/>
                  </a:moveTo>
                  <a:cubicBezTo>
                    <a:pt x="4206240" y="5998210"/>
                    <a:pt x="4160520" y="6043930"/>
                    <a:pt x="4104640" y="6043930"/>
                  </a:cubicBezTo>
                  <a:lnTo>
                    <a:pt x="101600" y="6043930"/>
                  </a:lnTo>
                  <a:cubicBezTo>
                    <a:pt x="45720" y="6043930"/>
                    <a:pt x="0" y="5998210"/>
                    <a:pt x="0" y="5942330"/>
                  </a:cubicBezTo>
                  <a:lnTo>
                    <a:pt x="0" y="101600"/>
                  </a:lnTo>
                  <a:cubicBezTo>
                    <a:pt x="0" y="45720"/>
                    <a:pt x="45720" y="0"/>
                    <a:pt x="101600" y="0"/>
                  </a:cubicBezTo>
                  <a:lnTo>
                    <a:pt x="4105910" y="0"/>
                  </a:lnTo>
                  <a:cubicBezTo>
                    <a:pt x="4161790" y="0"/>
                    <a:pt x="4207510" y="45720"/>
                    <a:pt x="4207510" y="101600"/>
                  </a:cubicBezTo>
                  <a:lnTo>
                    <a:pt x="4207510" y="5942330"/>
                  </a:lnTo>
                  <a:close/>
                </a:path>
              </a:pathLst>
            </a:custGeom>
            <a:blipFill>
              <a:blip r:embed="rId4"/>
              <a:stretch>
                <a:fillRect r="-87161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52" name="Freeform 11">
              <a:extLst>
                <a:ext uri="{FF2B5EF4-FFF2-40B4-BE49-F238E27FC236}">
                  <a16:creationId xmlns:a16="http://schemas.microsoft.com/office/drawing/2014/main" id="{7DD8E62D-063B-F995-6727-A214E26C4E07}"/>
                </a:ext>
              </a:extLst>
            </p:cNvPr>
            <p:cNvSpPr/>
            <p:nvPr/>
          </p:nvSpPr>
          <p:spPr>
            <a:xfrm>
              <a:off x="1953089" y="120650"/>
              <a:ext cx="76541" cy="76201"/>
            </a:xfrm>
            <a:custGeom>
              <a:avLst/>
              <a:gdLst/>
              <a:ahLst/>
              <a:cxnLst/>
              <a:rect l="l" t="t" r="r" b="b"/>
              <a:pathLst>
                <a:path w="76541" h="76201">
                  <a:moveTo>
                    <a:pt x="38271" y="0"/>
                  </a:moveTo>
                  <a:cubicBezTo>
                    <a:pt x="24619" y="-61"/>
                    <a:pt x="11977" y="7187"/>
                    <a:pt x="5133" y="19001"/>
                  </a:cubicBezTo>
                  <a:cubicBezTo>
                    <a:pt x="-1711" y="30814"/>
                    <a:pt x="-1711" y="45386"/>
                    <a:pt x="5133" y="57199"/>
                  </a:cubicBezTo>
                  <a:cubicBezTo>
                    <a:pt x="11977" y="69013"/>
                    <a:pt x="24619" y="76261"/>
                    <a:pt x="38271" y="76200"/>
                  </a:cubicBezTo>
                  <a:cubicBezTo>
                    <a:pt x="51923" y="76261"/>
                    <a:pt x="64565" y="69013"/>
                    <a:pt x="71409" y="57199"/>
                  </a:cubicBezTo>
                  <a:cubicBezTo>
                    <a:pt x="78253" y="45386"/>
                    <a:pt x="78253" y="30814"/>
                    <a:pt x="71409" y="19001"/>
                  </a:cubicBezTo>
                  <a:cubicBezTo>
                    <a:pt x="64565" y="7187"/>
                    <a:pt x="51923" y="-61"/>
                    <a:pt x="38271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3" name="Freeform 12">
              <a:extLst>
                <a:ext uri="{FF2B5EF4-FFF2-40B4-BE49-F238E27FC236}">
                  <a16:creationId xmlns:a16="http://schemas.microsoft.com/office/drawing/2014/main" id="{B5E8D8A2-4E91-9350-153E-BEAD1755B089}"/>
                </a:ext>
              </a:extLst>
            </p:cNvPr>
            <p:cNvSpPr/>
            <p:nvPr/>
          </p:nvSpPr>
          <p:spPr>
            <a:xfrm>
              <a:off x="2121925" y="104139"/>
              <a:ext cx="109709" cy="109221"/>
            </a:xfrm>
            <a:custGeom>
              <a:avLst/>
              <a:gdLst/>
              <a:ahLst/>
              <a:cxnLst/>
              <a:rect l="l" t="t" r="r" b="b"/>
              <a:pathLst>
                <a:path w="109709" h="109221">
                  <a:moveTo>
                    <a:pt x="54855" y="1"/>
                  </a:moveTo>
                  <a:cubicBezTo>
                    <a:pt x="35287" y="-87"/>
                    <a:pt x="17167" y="10303"/>
                    <a:pt x="7357" y="27235"/>
                  </a:cubicBezTo>
                  <a:cubicBezTo>
                    <a:pt x="-2452" y="44168"/>
                    <a:pt x="-2452" y="65054"/>
                    <a:pt x="7357" y="81987"/>
                  </a:cubicBezTo>
                  <a:cubicBezTo>
                    <a:pt x="17167" y="98919"/>
                    <a:pt x="35287" y="109309"/>
                    <a:pt x="54855" y="109221"/>
                  </a:cubicBezTo>
                  <a:cubicBezTo>
                    <a:pt x="74423" y="109309"/>
                    <a:pt x="92543" y="98919"/>
                    <a:pt x="102352" y="81987"/>
                  </a:cubicBezTo>
                  <a:cubicBezTo>
                    <a:pt x="112162" y="65054"/>
                    <a:pt x="112162" y="44168"/>
                    <a:pt x="102352" y="27235"/>
                  </a:cubicBezTo>
                  <a:cubicBezTo>
                    <a:pt x="92543" y="10303"/>
                    <a:pt x="74423" y="-87"/>
                    <a:pt x="54855" y="1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4" name="Freeform 13">
              <a:extLst>
                <a:ext uri="{FF2B5EF4-FFF2-40B4-BE49-F238E27FC236}">
                  <a16:creationId xmlns:a16="http://schemas.microsoft.com/office/drawing/2014/main" id="{A4BD86BE-1DA0-F12F-BB1A-34E7B8FE0C4B}"/>
                </a:ext>
              </a:extLst>
            </p:cNvPr>
            <p:cNvSpPr/>
            <p:nvPr/>
          </p:nvSpPr>
          <p:spPr>
            <a:xfrm>
              <a:off x="2330313" y="128270"/>
              <a:ext cx="61233" cy="60961"/>
            </a:xfrm>
            <a:custGeom>
              <a:avLst/>
              <a:gdLst/>
              <a:ahLst/>
              <a:cxnLst/>
              <a:rect l="l" t="t" r="r" b="b"/>
              <a:pathLst>
                <a:path w="61233" h="60961">
                  <a:moveTo>
                    <a:pt x="30617" y="0"/>
                  </a:moveTo>
                  <a:cubicBezTo>
                    <a:pt x="19695" y="-49"/>
                    <a:pt x="9582" y="5750"/>
                    <a:pt x="4107" y="15201"/>
                  </a:cubicBezTo>
                  <a:cubicBezTo>
                    <a:pt x="-1369" y="24651"/>
                    <a:pt x="-1369" y="36309"/>
                    <a:pt x="4107" y="45759"/>
                  </a:cubicBezTo>
                  <a:cubicBezTo>
                    <a:pt x="9582" y="55210"/>
                    <a:pt x="19695" y="61009"/>
                    <a:pt x="30617" y="60960"/>
                  </a:cubicBezTo>
                  <a:cubicBezTo>
                    <a:pt x="41539" y="61009"/>
                    <a:pt x="51652" y="55210"/>
                    <a:pt x="57127" y="45759"/>
                  </a:cubicBezTo>
                  <a:cubicBezTo>
                    <a:pt x="62602" y="36309"/>
                    <a:pt x="62602" y="24651"/>
                    <a:pt x="57127" y="15201"/>
                  </a:cubicBezTo>
                  <a:cubicBezTo>
                    <a:pt x="51652" y="5750"/>
                    <a:pt x="41539" y="-49"/>
                    <a:pt x="30617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5" name="Freeform 14">
              <a:extLst>
                <a:ext uri="{FF2B5EF4-FFF2-40B4-BE49-F238E27FC236}">
                  <a16:creationId xmlns:a16="http://schemas.microsoft.com/office/drawing/2014/main" id="{A1F23451-2C88-03F1-8AD5-C0E15E4860A6}"/>
                </a:ext>
              </a:extLst>
            </p:cNvPr>
            <p:cNvSpPr/>
            <p:nvPr/>
          </p:nvSpPr>
          <p:spPr>
            <a:xfrm>
              <a:off x="2346897" y="144780"/>
              <a:ext cx="28065" cy="27940"/>
            </a:xfrm>
            <a:custGeom>
              <a:avLst/>
              <a:gdLst/>
              <a:ahLst/>
              <a:cxnLst/>
              <a:rect l="l" t="t" r="r" b="b"/>
              <a:pathLst>
                <a:path w="28065" h="27940">
                  <a:moveTo>
                    <a:pt x="14033" y="0"/>
                  </a:moveTo>
                  <a:cubicBezTo>
                    <a:pt x="9027" y="-22"/>
                    <a:pt x="4392" y="2635"/>
                    <a:pt x="1882" y="6967"/>
                  </a:cubicBezTo>
                  <a:cubicBezTo>
                    <a:pt x="-627" y="11298"/>
                    <a:pt x="-627" y="16642"/>
                    <a:pt x="1882" y="20973"/>
                  </a:cubicBezTo>
                  <a:cubicBezTo>
                    <a:pt x="4392" y="25305"/>
                    <a:pt x="9027" y="27962"/>
                    <a:pt x="14033" y="27940"/>
                  </a:cubicBezTo>
                  <a:cubicBezTo>
                    <a:pt x="19039" y="27962"/>
                    <a:pt x="23674" y="25305"/>
                    <a:pt x="26184" y="20973"/>
                  </a:cubicBezTo>
                  <a:cubicBezTo>
                    <a:pt x="28693" y="16642"/>
                    <a:pt x="28693" y="11298"/>
                    <a:pt x="26184" y="6967"/>
                  </a:cubicBezTo>
                  <a:cubicBezTo>
                    <a:pt x="23674" y="2635"/>
                    <a:pt x="19039" y="-22"/>
                    <a:pt x="14033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6" name="Freeform 15">
              <a:extLst>
                <a:ext uri="{FF2B5EF4-FFF2-40B4-BE49-F238E27FC236}">
                  <a16:creationId xmlns:a16="http://schemas.microsoft.com/office/drawing/2014/main" id="{908495B1-3401-926B-843B-F445E612EBB6}"/>
                </a:ext>
              </a:extLst>
            </p:cNvPr>
            <p:cNvSpPr/>
            <p:nvPr/>
          </p:nvSpPr>
          <p:spPr>
            <a:xfrm>
              <a:off x="2344386" y="144780"/>
              <a:ext cx="15308" cy="15240"/>
            </a:xfrm>
            <a:custGeom>
              <a:avLst/>
              <a:gdLst/>
              <a:ahLst/>
              <a:cxnLst/>
              <a:rect l="l" t="t" r="r" b="b"/>
              <a:pathLst>
                <a:path w="15308" h="15240">
                  <a:moveTo>
                    <a:pt x="7654" y="0"/>
                  </a:moveTo>
                  <a:cubicBezTo>
                    <a:pt x="4924" y="-12"/>
                    <a:pt x="2395" y="1437"/>
                    <a:pt x="1026" y="3800"/>
                  </a:cubicBezTo>
                  <a:cubicBezTo>
                    <a:pt x="-342" y="6163"/>
                    <a:pt x="-342" y="9077"/>
                    <a:pt x="1026" y="11440"/>
                  </a:cubicBezTo>
                  <a:cubicBezTo>
                    <a:pt x="2395" y="13803"/>
                    <a:pt x="4924" y="15252"/>
                    <a:pt x="7654" y="15240"/>
                  </a:cubicBezTo>
                  <a:cubicBezTo>
                    <a:pt x="10384" y="15252"/>
                    <a:pt x="12913" y="13803"/>
                    <a:pt x="14281" y="11440"/>
                  </a:cubicBezTo>
                  <a:cubicBezTo>
                    <a:pt x="15650" y="9077"/>
                    <a:pt x="15650" y="6163"/>
                    <a:pt x="14281" y="3800"/>
                  </a:cubicBezTo>
                  <a:cubicBezTo>
                    <a:pt x="12913" y="1437"/>
                    <a:pt x="10384" y="-12"/>
                    <a:pt x="7654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7" name="Freeform 16">
              <a:extLst>
                <a:ext uri="{FF2B5EF4-FFF2-40B4-BE49-F238E27FC236}">
                  <a16:creationId xmlns:a16="http://schemas.microsoft.com/office/drawing/2014/main" id="{A2BD8B0A-BEE8-8101-172F-6D0B45FDBD10}"/>
                </a:ext>
              </a:extLst>
            </p:cNvPr>
            <p:cNvSpPr/>
            <p:nvPr/>
          </p:nvSpPr>
          <p:spPr>
            <a:xfrm>
              <a:off x="4716780" y="53467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8" name="Freeform 17">
              <a:extLst>
                <a:ext uri="{FF2B5EF4-FFF2-40B4-BE49-F238E27FC236}">
                  <a16:creationId xmlns:a16="http://schemas.microsoft.com/office/drawing/2014/main" id="{60CD03B6-AC18-DFA8-DF67-69DBE765B161}"/>
                </a:ext>
              </a:extLst>
            </p:cNvPr>
            <p:cNvSpPr/>
            <p:nvPr/>
          </p:nvSpPr>
          <p:spPr>
            <a:xfrm>
              <a:off x="4716780" y="86106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59" name="Freeform 18">
              <a:extLst>
                <a:ext uri="{FF2B5EF4-FFF2-40B4-BE49-F238E27FC236}">
                  <a16:creationId xmlns:a16="http://schemas.microsoft.com/office/drawing/2014/main" id="{E8BFA238-990C-754B-EA10-DD79D4CD8DA3}"/>
                </a:ext>
              </a:extLst>
            </p:cNvPr>
            <p:cNvSpPr/>
            <p:nvPr/>
          </p:nvSpPr>
          <p:spPr>
            <a:xfrm>
              <a:off x="4064000" y="-113"/>
              <a:ext cx="320040" cy="16623"/>
            </a:xfrm>
            <a:custGeom>
              <a:avLst/>
              <a:gdLst/>
              <a:ahLst/>
              <a:cxnLst/>
              <a:rect l="l" t="t" r="r" b="b"/>
              <a:pathLst>
                <a:path w="320040" h="16623">
                  <a:moveTo>
                    <a:pt x="0" y="16623"/>
                  </a:moveTo>
                  <a:lnTo>
                    <a:pt x="320040" y="16623"/>
                  </a:lnTo>
                  <a:cubicBezTo>
                    <a:pt x="320040" y="-2427"/>
                    <a:pt x="304800" y="113"/>
                    <a:pt x="285750" y="113"/>
                  </a:cubicBezTo>
                  <a:lnTo>
                    <a:pt x="34290" y="113"/>
                  </a:lnTo>
                  <a:cubicBezTo>
                    <a:pt x="15240" y="113"/>
                    <a:pt x="0" y="-2427"/>
                    <a:pt x="0" y="16623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>
          <a:xfrm rot="-5400000">
            <a:off x="6605895" y="-120972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" name="Freeform 2"/>
          <p:cNvSpPr/>
          <p:nvPr/>
        </p:nvSpPr>
        <p:spPr>
          <a:xfrm rot="-10800000">
            <a:off x="3969638" y="4666830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A172FC9-4E4C-0500-3C42-816924D08E2A}"/>
              </a:ext>
            </a:extLst>
          </p:cNvPr>
          <p:cNvGrpSpPr/>
          <p:nvPr/>
        </p:nvGrpSpPr>
        <p:grpSpPr>
          <a:xfrm>
            <a:off x="8170270" y="10924755"/>
            <a:ext cx="3278799" cy="4277145"/>
            <a:chOff x="8170270" y="4666830"/>
            <a:chExt cx="3278799" cy="4277145"/>
          </a:xfrm>
        </p:grpSpPr>
        <p:grpSp>
          <p:nvGrpSpPr>
            <p:cNvPr id="55" name="Group 25">
              <a:extLst>
                <a:ext uri="{FF2B5EF4-FFF2-40B4-BE49-F238E27FC236}">
                  <a16:creationId xmlns:a16="http://schemas.microsoft.com/office/drawing/2014/main" id="{54BE037B-C033-A8E8-3C4B-8514BE0FBBDF}"/>
                </a:ext>
              </a:extLst>
            </p:cNvPr>
            <p:cNvGrpSpPr/>
            <p:nvPr/>
          </p:nvGrpSpPr>
          <p:grpSpPr>
            <a:xfrm>
              <a:off x="8170270" y="4666830"/>
              <a:ext cx="3278799" cy="4277145"/>
              <a:chOff x="0" y="0"/>
              <a:chExt cx="999092" cy="1303301"/>
            </a:xfrm>
          </p:grpSpPr>
          <p:sp>
            <p:nvSpPr>
              <p:cNvPr id="58" name="Freeform 26">
                <a:extLst>
                  <a:ext uri="{FF2B5EF4-FFF2-40B4-BE49-F238E27FC236}">
                    <a16:creationId xmlns:a16="http://schemas.microsoft.com/office/drawing/2014/main" id="{B8F699C1-7BBF-923D-5923-930F518FD209}"/>
                  </a:ext>
                </a:extLst>
              </p:cNvPr>
              <p:cNvSpPr/>
              <p:nvPr/>
            </p:nvSpPr>
            <p:spPr>
              <a:xfrm>
                <a:off x="0" y="0"/>
                <a:ext cx="999092" cy="1303301"/>
              </a:xfrm>
              <a:custGeom>
                <a:avLst/>
                <a:gdLst/>
                <a:ahLst/>
                <a:cxnLst/>
                <a:rect l="l" t="t" r="r" b="b"/>
                <a:pathLst>
                  <a:path w="999092" h="1303301">
                    <a:moveTo>
                      <a:pt x="59030" y="0"/>
                    </a:moveTo>
                    <a:lnTo>
                      <a:pt x="940062" y="0"/>
                    </a:lnTo>
                    <a:cubicBezTo>
                      <a:pt x="955717" y="0"/>
                      <a:pt x="970732" y="6219"/>
                      <a:pt x="981802" y="17290"/>
                    </a:cubicBezTo>
                    <a:cubicBezTo>
                      <a:pt x="992873" y="28360"/>
                      <a:pt x="999092" y="43374"/>
                      <a:pt x="999092" y="59030"/>
                    </a:cubicBezTo>
                    <a:lnTo>
                      <a:pt x="999092" y="1244271"/>
                    </a:lnTo>
                    <a:cubicBezTo>
                      <a:pt x="999092" y="1276872"/>
                      <a:pt x="972663" y="1303301"/>
                      <a:pt x="940062" y="1303301"/>
                    </a:cubicBezTo>
                    <a:lnTo>
                      <a:pt x="59030" y="1303301"/>
                    </a:lnTo>
                    <a:cubicBezTo>
                      <a:pt x="26429" y="1303301"/>
                      <a:pt x="0" y="1276872"/>
                      <a:pt x="0" y="1244271"/>
                    </a:cubicBezTo>
                    <a:lnTo>
                      <a:pt x="0" y="59030"/>
                    </a:lnTo>
                    <a:cubicBezTo>
                      <a:pt x="0" y="26429"/>
                      <a:pt x="26429" y="0"/>
                      <a:pt x="5903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59" name="TextBox 27">
                <a:extLst>
                  <a:ext uri="{FF2B5EF4-FFF2-40B4-BE49-F238E27FC236}">
                    <a16:creationId xmlns:a16="http://schemas.microsoft.com/office/drawing/2014/main" id="{4DE2DEC3-723B-0371-BCCF-4A1ED452A5F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99092" cy="13509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56" name="TextBox 29">
              <a:extLst>
                <a:ext uri="{FF2B5EF4-FFF2-40B4-BE49-F238E27FC236}">
                  <a16:creationId xmlns:a16="http://schemas.microsoft.com/office/drawing/2014/main" id="{71368AA0-1222-986D-F7AD-1D4C3E39EC3A}"/>
                </a:ext>
              </a:extLst>
            </p:cNvPr>
            <p:cNvSpPr txBox="1"/>
            <p:nvPr/>
          </p:nvSpPr>
          <p:spPr>
            <a:xfrm>
              <a:off x="8657350" y="6954981"/>
              <a:ext cx="2304639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Rozšíření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o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nové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módy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funkce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57" name="TextBox 35">
              <a:extLst>
                <a:ext uri="{FF2B5EF4-FFF2-40B4-BE49-F238E27FC236}">
                  <a16:creationId xmlns:a16="http://schemas.microsoft.com/office/drawing/2014/main" id="{7E17A46C-2419-2DA0-5E9C-6C06B8DFC315}"/>
                </a:ext>
              </a:extLst>
            </p:cNvPr>
            <p:cNvSpPr txBox="1"/>
            <p:nvPr/>
          </p:nvSpPr>
          <p:spPr>
            <a:xfrm>
              <a:off x="8692697" y="5289228"/>
              <a:ext cx="2233944" cy="1464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03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Herní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mechaniky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sp>
        <p:nvSpPr>
          <p:cNvPr id="3" name="Freeform 3"/>
          <p:cNvSpPr/>
          <p:nvPr/>
        </p:nvSpPr>
        <p:spPr>
          <a:xfrm rot="-10800000">
            <a:off x="11134744" y="-2575651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-3966503" y="-3368396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6" y="0"/>
                </a:lnTo>
                <a:lnTo>
                  <a:pt x="9990406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-957630" y="5022528"/>
            <a:ext cx="7736552" cy="7407749"/>
          </a:xfrm>
          <a:custGeom>
            <a:avLst/>
            <a:gdLst/>
            <a:ahLst/>
            <a:cxnLst/>
            <a:rect l="l" t="t" r="r" b="b"/>
            <a:pathLst>
              <a:path w="7736552" h="7407749">
                <a:moveTo>
                  <a:pt x="0" y="0"/>
                </a:moveTo>
                <a:lnTo>
                  <a:pt x="7736552" y="0"/>
                </a:lnTo>
                <a:lnTo>
                  <a:pt x="7736552" y="7407749"/>
                </a:lnTo>
                <a:lnTo>
                  <a:pt x="0" y="74077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28" name="AutoShape 28"/>
          <p:cNvSpPr/>
          <p:nvPr/>
        </p:nvSpPr>
        <p:spPr>
          <a:xfrm>
            <a:off x="-693513" y="3979541"/>
            <a:ext cx="10503182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32" name="TextBox 32"/>
          <p:cNvSpPr txBox="1"/>
          <p:nvPr/>
        </p:nvSpPr>
        <p:spPr>
          <a:xfrm>
            <a:off x="1805524" y="1813714"/>
            <a:ext cx="8923216" cy="770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180"/>
              </a:lnSpc>
              <a:spcBef>
                <a:spcPct val="0"/>
              </a:spcBef>
            </a:pPr>
            <a:r>
              <a:rPr lang="en-US" sz="7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BUDOUCÍ</a:t>
            </a:r>
            <a:r>
              <a:rPr lang="en-US" sz="7000" u="none" strike="noStrike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 VÝVOJ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B5D91FB-F831-98A6-5B0F-861E346FC2AB}"/>
              </a:ext>
            </a:extLst>
          </p:cNvPr>
          <p:cNvGrpSpPr/>
          <p:nvPr/>
        </p:nvGrpSpPr>
        <p:grpSpPr>
          <a:xfrm>
            <a:off x="1271247" y="4666830"/>
            <a:ext cx="3278799" cy="4277145"/>
            <a:chOff x="1271247" y="4666830"/>
            <a:chExt cx="3278799" cy="4277145"/>
          </a:xfrm>
        </p:grpSpPr>
        <p:grpSp>
          <p:nvGrpSpPr>
            <p:cNvPr id="37" name="Group 19">
              <a:extLst>
                <a:ext uri="{FF2B5EF4-FFF2-40B4-BE49-F238E27FC236}">
                  <a16:creationId xmlns:a16="http://schemas.microsoft.com/office/drawing/2014/main" id="{B7F41C72-DCDF-010A-5C79-45D31172834F}"/>
                </a:ext>
              </a:extLst>
            </p:cNvPr>
            <p:cNvGrpSpPr/>
            <p:nvPr/>
          </p:nvGrpSpPr>
          <p:grpSpPr>
            <a:xfrm>
              <a:off x="1271247" y="4666830"/>
              <a:ext cx="3278799" cy="4277145"/>
              <a:chOff x="0" y="0"/>
              <a:chExt cx="999092" cy="1303301"/>
            </a:xfrm>
          </p:grpSpPr>
          <p:sp>
            <p:nvSpPr>
              <p:cNvPr id="40" name="Freeform 20">
                <a:extLst>
                  <a:ext uri="{FF2B5EF4-FFF2-40B4-BE49-F238E27FC236}">
                    <a16:creationId xmlns:a16="http://schemas.microsoft.com/office/drawing/2014/main" id="{5ACE9E50-AFE6-91B4-BE7E-C879744D57A7}"/>
                  </a:ext>
                </a:extLst>
              </p:cNvPr>
              <p:cNvSpPr/>
              <p:nvPr/>
            </p:nvSpPr>
            <p:spPr>
              <a:xfrm>
                <a:off x="0" y="0"/>
                <a:ext cx="999092" cy="1303301"/>
              </a:xfrm>
              <a:custGeom>
                <a:avLst/>
                <a:gdLst/>
                <a:ahLst/>
                <a:cxnLst/>
                <a:rect l="l" t="t" r="r" b="b"/>
                <a:pathLst>
                  <a:path w="999092" h="1303301">
                    <a:moveTo>
                      <a:pt x="59030" y="0"/>
                    </a:moveTo>
                    <a:lnTo>
                      <a:pt x="940062" y="0"/>
                    </a:lnTo>
                    <a:cubicBezTo>
                      <a:pt x="955717" y="0"/>
                      <a:pt x="970732" y="6219"/>
                      <a:pt x="981802" y="17290"/>
                    </a:cubicBezTo>
                    <a:cubicBezTo>
                      <a:pt x="992873" y="28360"/>
                      <a:pt x="999092" y="43374"/>
                      <a:pt x="999092" y="59030"/>
                    </a:cubicBezTo>
                    <a:lnTo>
                      <a:pt x="999092" y="1244271"/>
                    </a:lnTo>
                    <a:cubicBezTo>
                      <a:pt x="999092" y="1276872"/>
                      <a:pt x="972663" y="1303301"/>
                      <a:pt x="940062" y="1303301"/>
                    </a:cubicBezTo>
                    <a:lnTo>
                      <a:pt x="59030" y="1303301"/>
                    </a:lnTo>
                    <a:cubicBezTo>
                      <a:pt x="26429" y="1303301"/>
                      <a:pt x="0" y="1276872"/>
                      <a:pt x="0" y="1244271"/>
                    </a:cubicBezTo>
                    <a:lnTo>
                      <a:pt x="0" y="59030"/>
                    </a:lnTo>
                    <a:cubicBezTo>
                      <a:pt x="0" y="26429"/>
                      <a:pt x="26429" y="0"/>
                      <a:pt x="5903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1" name="TextBox 21">
                <a:extLst>
                  <a:ext uri="{FF2B5EF4-FFF2-40B4-BE49-F238E27FC236}">
                    <a16:creationId xmlns:a16="http://schemas.microsoft.com/office/drawing/2014/main" id="{B4644ACB-F8DB-F1FD-330D-3F775FA2FE3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99092" cy="13509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8" name="TextBox 31">
              <a:extLst>
                <a:ext uri="{FF2B5EF4-FFF2-40B4-BE49-F238E27FC236}">
                  <a16:creationId xmlns:a16="http://schemas.microsoft.com/office/drawing/2014/main" id="{40F629FB-A1FD-4A37-AB28-8237E711FEA5}"/>
                </a:ext>
              </a:extLst>
            </p:cNvPr>
            <p:cNvSpPr txBox="1"/>
            <p:nvPr/>
          </p:nvSpPr>
          <p:spPr>
            <a:xfrm>
              <a:off x="1758327" y="6954981"/>
              <a:ext cx="2304639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Osazení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oživení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nové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verze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hůlky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9" name="TextBox 33">
              <a:extLst>
                <a:ext uri="{FF2B5EF4-FFF2-40B4-BE49-F238E27FC236}">
                  <a16:creationId xmlns:a16="http://schemas.microsoft.com/office/drawing/2014/main" id="{B6B7C613-7294-F6F0-B073-5E3A1F16DEA6}"/>
                </a:ext>
              </a:extLst>
            </p:cNvPr>
            <p:cNvSpPr txBox="1"/>
            <p:nvPr/>
          </p:nvSpPr>
          <p:spPr>
            <a:xfrm>
              <a:off x="1724788" y="5289228"/>
              <a:ext cx="2371717" cy="1464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Dokončení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PCB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49EF8D9F-24C1-017F-1261-3FDC80B5810B}"/>
              </a:ext>
            </a:extLst>
          </p:cNvPr>
          <p:cNvGrpSpPr/>
          <p:nvPr/>
        </p:nvGrpSpPr>
        <p:grpSpPr>
          <a:xfrm>
            <a:off x="4712561" y="4666830"/>
            <a:ext cx="3278799" cy="4277145"/>
            <a:chOff x="4712561" y="4666830"/>
            <a:chExt cx="3278799" cy="4277145"/>
          </a:xfrm>
        </p:grpSpPr>
        <p:grpSp>
          <p:nvGrpSpPr>
            <p:cNvPr id="43" name="Group 22">
              <a:extLst>
                <a:ext uri="{FF2B5EF4-FFF2-40B4-BE49-F238E27FC236}">
                  <a16:creationId xmlns:a16="http://schemas.microsoft.com/office/drawing/2014/main" id="{9796DE42-78B2-C26D-8AE9-FB8A9A25E165}"/>
                </a:ext>
              </a:extLst>
            </p:cNvPr>
            <p:cNvGrpSpPr/>
            <p:nvPr/>
          </p:nvGrpSpPr>
          <p:grpSpPr>
            <a:xfrm>
              <a:off x="4712561" y="4666830"/>
              <a:ext cx="3278799" cy="4277145"/>
              <a:chOff x="0" y="0"/>
              <a:chExt cx="999092" cy="1303301"/>
            </a:xfrm>
          </p:grpSpPr>
          <p:sp>
            <p:nvSpPr>
              <p:cNvPr id="46" name="Freeform 23">
                <a:extLst>
                  <a:ext uri="{FF2B5EF4-FFF2-40B4-BE49-F238E27FC236}">
                    <a16:creationId xmlns:a16="http://schemas.microsoft.com/office/drawing/2014/main" id="{7443416E-88C2-490C-EF5A-3772D4784D69}"/>
                  </a:ext>
                </a:extLst>
              </p:cNvPr>
              <p:cNvSpPr/>
              <p:nvPr/>
            </p:nvSpPr>
            <p:spPr>
              <a:xfrm>
                <a:off x="0" y="0"/>
                <a:ext cx="999092" cy="1303301"/>
              </a:xfrm>
              <a:custGeom>
                <a:avLst/>
                <a:gdLst/>
                <a:ahLst/>
                <a:cxnLst/>
                <a:rect l="l" t="t" r="r" b="b"/>
                <a:pathLst>
                  <a:path w="999092" h="1303301">
                    <a:moveTo>
                      <a:pt x="59030" y="0"/>
                    </a:moveTo>
                    <a:lnTo>
                      <a:pt x="940062" y="0"/>
                    </a:lnTo>
                    <a:cubicBezTo>
                      <a:pt x="955717" y="0"/>
                      <a:pt x="970732" y="6219"/>
                      <a:pt x="981802" y="17290"/>
                    </a:cubicBezTo>
                    <a:cubicBezTo>
                      <a:pt x="992873" y="28360"/>
                      <a:pt x="999092" y="43374"/>
                      <a:pt x="999092" y="59030"/>
                    </a:cubicBezTo>
                    <a:lnTo>
                      <a:pt x="999092" y="1244271"/>
                    </a:lnTo>
                    <a:cubicBezTo>
                      <a:pt x="999092" y="1276872"/>
                      <a:pt x="972663" y="1303301"/>
                      <a:pt x="940062" y="1303301"/>
                    </a:cubicBezTo>
                    <a:lnTo>
                      <a:pt x="59030" y="1303301"/>
                    </a:lnTo>
                    <a:cubicBezTo>
                      <a:pt x="26429" y="1303301"/>
                      <a:pt x="0" y="1276872"/>
                      <a:pt x="0" y="1244271"/>
                    </a:cubicBezTo>
                    <a:lnTo>
                      <a:pt x="0" y="59030"/>
                    </a:lnTo>
                    <a:cubicBezTo>
                      <a:pt x="0" y="26429"/>
                      <a:pt x="26429" y="0"/>
                      <a:pt x="5903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47" name="TextBox 24">
                <a:extLst>
                  <a:ext uri="{FF2B5EF4-FFF2-40B4-BE49-F238E27FC236}">
                    <a16:creationId xmlns:a16="http://schemas.microsoft.com/office/drawing/2014/main" id="{EA9A1DCA-26C4-BF5A-0D39-4948ECD3786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99092" cy="13509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44" name="TextBox 30">
              <a:extLst>
                <a:ext uri="{FF2B5EF4-FFF2-40B4-BE49-F238E27FC236}">
                  <a16:creationId xmlns:a16="http://schemas.microsoft.com/office/drawing/2014/main" id="{3BE8DD40-12E0-373B-7A80-A83793B3CC3A}"/>
                </a:ext>
              </a:extLst>
            </p:cNvPr>
            <p:cNvSpPr txBox="1"/>
            <p:nvPr/>
          </p:nvSpPr>
          <p:spPr>
            <a:xfrm>
              <a:off x="5199641" y="6954981"/>
              <a:ext cx="2304639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Přesná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lokalizace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hráče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prostoru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45" name="TextBox 34">
              <a:extLst>
                <a:ext uri="{FF2B5EF4-FFF2-40B4-BE49-F238E27FC236}">
                  <a16:creationId xmlns:a16="http://schemas.microsoft.com/office/drawing/2014/main" id="{FA0352DB-6849-8BB0-31AB-D911455B218A}"/>
                </a:ext>
              </a:extLst>
            </p:cNvPr>
            <p:cNvSpPr txBox="1"/>
            <p:nvPr/>
          </p:nvSpPr>
          <p:spPr>
            <a:xfrm>
              <a:off x="5234989" y="5289228"/>
              <a:ext cx="2233944" cy="1464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Integrace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UWB</a:t>
              </a:r>
            </a:p>
          </p:txBody>
        </p:sp>
      </p:grpSp>
      <p:grpSp>
        <p:nvGrpSpPr>
          <p:cNvPr id="60" name="Group 7">
            <a:extLst>
              <a:ext uri="{FF2B5EF4-FFF2-40B4-BE49-F238E27FC236}">
                <a16:creationId xmlns:a16="http://schemas.microsoft.com/office/drawing/2014/main" id="{2DA886BB-0EF4-1629-5C4E-9092BEF61EB7}"/>
              </a:ext>
            </a:extLst>
          </p:cNvPr>
          <p:cNvGrpSpPr>
            <a:grpSpLocks noChangeAspect="1"/>
          </p:cNvGrpSpPr>
          <p:nvPr/>
        </p:nvGrpSpPr>
        <p:grpSpPr>
          <a:xfrm>
            <a:off x="11183983" y="786757"/>
            <a:ext cx="6113417" cy="8471543"/>
            <a:chOff x="0" y="0"/>
            <a:chExt cx="4734560" cy="6560820"/>
          </a:xfrm>
        </p:grpSpPr>
        <p:sp>
          <p:nvSpPr>
            <p:cNvPr id="61" name="Freeform 8">
              <a:extLst>
                <a:ext uri="{FF2B5EF4-FFF2-40B4-BE49-F238E27FC236}">
                  <a16:creationId xmlns:a16="http://schemas.microsoft.com/office/drawing/2014/main" id="{4968EBA1-D348-0B05-EEB3-95355DBAC1CE}"/>
                </a:ext>
              </a:extLst>
            </p:cNvPr>
            <p:cNvSpPr/>
            <p:nvPr/>
          </p:nvSpPr>
          <p:spPr>
            <a:xfrm>
              <a:off x="36830" y="50800"/>
              <a:ext cx="4645660" cy="6473190"/>
            </a:xfrm>
            <a:custGeom>
              <a:avLst/>
              <a:gdLst/>
              <a:ahLst/>
              <a:cxnLst/>
              <a:rect l="l" t="t" r="r" b="b"/>
              <a:pathLst>
                <a:path w="4645660" h="6473190">
                  <a:moveTo>
                    <a:pt x="4368800" y="0"/>
                  </a:moveTo>
                  <a:lnTo>
                    <a:pt x="276860" y="0"/>
                  </a:lnTo>
                  <a:cubicBezTo>
                    <a:pt x="124460" y="0"/>
                    <a:pt x="0" y="123190"/>
                    <a:pt x="0" y="276860"/>
                  </a:cubicBezTo>
                  <a:lnTo>
                    <a:pt x="0" y="6196330"/>
                  </a:lnTo>
                  <a:cubicBezTo>
                    <a:pt x="0" y="6350000"/>
                    <a:pt x="124460" y="6473190"/>
                    <a:pt x="276860" y="6473190"/>
                  </a:cubicBezTo>
                  <a:lnTo>
                    <a:pt x="4368800" y="6473190"/>
                  </a:lnTo>
                  <a:cubicBezTo>
                    <a:pt x="4522470" y="6473190"/>
                    <a:pt x="4645660" y="6348730"/>
                    <a:pt x="4645660" y="6196330"/>
                  </a:cubicBezTo>
                  <a:lnTo>
                    <a:pt x="4645660" y="276860"/>
                  </a:lnTo>
                  <a:cubicBezTo>
                    <a:pt x="4645660" y="123190"/>
                    <a:pt x="4522470" y="0"/>
                    <a:pt x="4368800" y="0"/>
                  </a:cubicBezTo>
                  <a:close/>
                  <a:moveTo>
                    <a:pt x="4425950" y="6156960"/>
                  </a:moveTo>
                  <a:cubicBezTo>
                    <a:pt x="4425950" y="6212840"/>
                    <a:pt x="4380230" y="6258560"/>
                    <a:pt x="4324350" y="6258560"/>
                  </a:cubicBezTo>
                  <a:lnTo>
                    <a:pt x="321310" y="6258560"/>
                  </a:lnTo>
                  <a:cubicBezTo>
                    <a:pt x="265430" y="6258560"/>
                    <a:pt x="219710" y="6212840"/>
                    <a:pt x="219710" y="6156960"/>
                  </a:cubicBezTo>
                  <a:lnTo>
                    <a:pt x="219710" y="316230"/>
                  </a:lnTo>
                  <a:cubicBezTo>
                    <a:pt x="219710" y="260350"/>
                    <a:pt x="265430" y="214630"/>
                    <a:pt x="321310" y="214630"/>
                  </a:cubicBezTo>
                  <a:lnTo>
                    <a:pt x="4325620" y="214630"/>
                  </a:lnTo>
                  <a:cubicBezTo>
                    <a:pt x="4381500" y="214630"/>
                    <a:pt x="4427220" y="260350"/>
                    <a:pt x="4427220" y="316230"/>
                  </a:cubicBezTo>
                  <a:lnTo>
                    <a:pt x="4427220" y="61569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62" name="Freeform 9">
              <a:extLst>
                <a:ext uri="{FF2B5EF4-FFF2-40B4-BE49-F238E27FC236}">
                  <a16:creationId xmlns:a16="http://schemas.microsoft.com/office/drawing/2014/main" id="{329560A6-F16B-AA8F-BD2F-D8930567479F}"/>
                </a:ext>
              </a:extLst>
            </p:cNvPr>
            <p:cNvSpPr/>
            <p:nvPr/>
          </p:nvSpPr>
          <p:spPr>
            <a:xfrm>
              <a:off x="0" y="16511"/>
              <a:ext cx="4716780" cy="6544310"/>
            </a:xfrm>
            <a:custGeom>
              <a:avLst/>
              <a:gdLst/>
              <a:ahLst/>
              <a:cxnLst/>
              <a:rect l="l" t="t" r="r" b="b"/>
              <a:pathLst>
                <a:path w="4716780" h="6544310">
                  <a:moveTo>
                    <a:pt x="4395470" y="36829"/>
                  </a:moveTo>
                  <a:cubicBezTo>
                    <a:pt x="4552950" y="36829"/>
                    <a:pt x="4681220" y="165099"/>
                    <a:pt x="4681220" y="322579"/>
                  </a:cubicBezTo>
                  <a:lnTo>
                    <a:pt x="4681220" y="6222999"/>
                  </a:lnTo>
                  <a:cubicBezTo>
                    <a:pt x="4681220" y="6380479"/>
                    <a:pt x="4552950" y="6508750"/>
                    <a:pt x="4395470" y="6508750"/>
                  </a:cubicBezTo>
                  <a:lnTo>
                    <a:pt x="321310" y="6508750"/>
                  </a:lnTo>
                  <a:cubicBezTo>
                    <a:pt x="163830" y="6508750"/>
                    <a:pt x="35560" y="6380480"/>
                    <a:pt x="35560" y="6223000"/>
                  </a:cubicBezTo>
                  <a:lnTo>
                    <a:pt x="35560" y="322580"/>
                  </a:lnTo>
                  <a:cubicBezTo>
                    <a:pt x="35560" y="165100"/>
                    <a:pt x="163830" y="36830"/>
                    <a:pt x="321310" y="36830"/>
                  </a:cubicBezTo>
                  <a:lnTo>
                    <a:pt x="4395470" y="36830"/>
                  </a:lnTo>
                  <a:moveTo>
                    <a:pt x="4395470" y="0"/>
                  </a:moveTo>
                  <a:lnTo>
                    <a:pt x="321310" y="0"/>
                  </a:lnTo>
                  <a:cubicBezTo>
                    <a:pt x="143510" y="0"/>
                    <a:pt x="0" y="144780"/>
                    <a:pt x="0" y="322580"/>
                  </a:cubicBezTo>
                  <a:lnTo>
                    <a:pt x="0" y="6223000"/>
                  </a:lnTo>
                  <a:cubicBezTo>
                    <a:pt x="0" y="6400800"/>
                    <a:pt x="143510" y="6544309"/>
                    <a:pt x="321310" y="6544309"/>
                  </a:cubicBezTo>
                  <a:lnTo>
                    <a:pt x="4395470" y="6544309"/>
                  </a:lnTo>
                  <a:cubicBezTo>
                    <a:pt x="4573270" y="6544309"/>
                    <a:pt x="4716780" y="6400800"/>
                    <a:pt x="4716780" y="6223000"/>
                  </a:cubicBezTo>
                  <a:lnTo>
                    <a:pt x="4716780" y="322580"/>
                  </a:lnTo>
                  <a:cubicBezTo>
                    <a:pt x="4716780" y="144780"/>
                    <a:pt x="4573270" y="0"/>
                    <a:pt x="439547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63" name="Freeform 10">
              <a:extLst>
                <a:ext uri="{FF2B5EF4-FFF2-40B4-BE49-F238E27FC236}">
                  <a16:creationId xmlns:a16="http://schemas.microsoft.com/office/drawing/2014/main" id="{8637EE34-401F-EB59-E8B2-5BA631BA39C7}"/>
                </a:ext>
              </a:extLst>
            </p:cNvPr>
            <p:cNvSpPr/>
            <p:nvPr/>
          </p:nvSpPr>
          <p:spPr>
            <a:xfrm>
              <a:off x="256540" y="265430"/>
              <a:ext cx="4207510" cy="6043930"/>
            </a:xfrm>
            <a:custGeom>
              <a:avLst/>
              <a:gdLst/>
              <a:ahLst/>
              <a:cxnLst/>
              <a:rect l="l" t="t" r="r" b="b"/>
              <a:pathLst>
                <a:path w="4207510" h="6043930">
                  <a:moveTo>
                    <a:pt x="4206240" y="5942330"/>
                  </a:moveTo>
                  <a:cubicBezTo>
                    <a:pt x="4206240" y="5998210"/>
                    <a:pt x="4160520" y="6043930"/>
                    <a:pt x="4104640" y="6043930"/>
                  </a:cubicBezTo>
                  <a:lnTo>
                    <a:pt x="101600" y="6043930"/>
                  </a:lnTo>
                  <a:cubicBezTo>
                    <a:pt x="45720" y="6043930"/>
                    <a:pt x="0" y="5998210"/>
                    <a:pt x="0" y="5942330"/>
                  </a:cubicBezTo>
                  <a:lnTo>
                    <a:pt x="0" y="101600"/>
                  </a:lnTo>
                  <a:cubicBezTo>
                    <a:pt x="0" y="45720"/>
                    <a:pt x="45720" y="0"/>
                    <a:pt x="101600" y="0"/>
                  </a:cubicBezTo>
                  <a:lnTo>
                    <a:pt x="4105910" y="0"/>
                  </a:lnTo>
                  <a:cubicBezTo>
                    <a:pt x="4161790" y="0"/>
                    <a:pt x="4207510" y="45720"/>
                    <a:pt x="4207510" y="101600"/>
                  </a:cubicBezTo>
                  <a:lnTo>
                    <a:pt x="4207510" y="5942330"/>
                  </a:lnTo>
                  <a:close/>
                </a:path>
              </a:pathLst>
            </a:custGeom>
            <a:blipFill>
              <a:blip r:embed="rId4"/>
              <a:stretch>
                <a:fillRect r="-87161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64" name="Freeform 11">
              <a:extLst>
                <a:ext uri="{FF2B5EF4-FFF2-40B4-BE49-F238E27FC236}">
                  <a16:creationId xmlns:a16="http://schemas.microsoft.com/office/drawing/2014/main" id="{8A87EBC5-50CB-6266-98C5-7E8051B4D9AE}"/>
                </a:ext>
              </a:extLst>
            </p:cNvPr>
            <p:cNvSpPr/>
            <p:nvPr/>
          </p:nvSpPr>
          <p:spPr>
            <a:xfrm>
              <a:off x="1953089" y="120650"/>
              <a:ext cx="76541" cy="76201"/>
            </a:xfrm>
            <a:custGeom>
              <a:avLst/>
              <a:gdLst/>
              <a:ahLst/>
              <a:cxnLst/>
              <a:rect l="l" t="t" r="r" b="b"/>
              <a:pathLst>
                <a:path w="76541" h="76201">
                  <a:moveTo>
                    <a:pt x="38271" y="0"/>
                  </a:moveTo>
                  <a:cubicBezTo>
                    <a:pt x="24619" y="-61"/>
                    <a:pt x="11977" y="7187"/>
                    <a:pt x="5133" y="19001"/>
                  </a:cubicBezTo>
                  <a:cubicBezTo>
                    <a:pt x="-1711" y="30814"/>
                    <a:pt x="-1711" y="45386"/>
                    <a:pt x="5133" y="57199"/>
                  </a:cubicBezTo>
                  <a:cubicBezTo>
                    <a:pt x="11977" y="69013"/>
                    <a:pt x="24619" y="76261"/>
                    <a:pt x="38271" y="76200"/>
                  </a:cubicBezTo>
                  <a:cubicBezTo>
                    <a:pt x="51923" y="76261"/>
                    <a:pt x="64565" y="69013"/>
                    <a:pt x="71409" y="57199"/>
                  </a:cubicBezTo>
                  <a:cubicBezTo>
                    <a:pt x="78253" y="45386"/>
                    <a:pt x="78253" y="30814"/>
                    <a:pt x="71409" y="19001"/>
                  </a:cubicBezTo>
                  <a:cubicBezTo>
                    <a:pt x="64565" y="7187"/>
                    <a:pt x="51923" y="-61"/>
                    <a:pt x="38271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65" name="Freeform 12">
              <a:extLst>
                <a:ext uri="{FF2B5EF4-FFF2-40B4-BE49-F238E27FC236}">
                  <a16:creationId xmlns:a16="http://schemas.microsoft.com/office/drawing/2014/main" id="{8658C80E-5418-3FB8-B45E-26060895720C}"/>
                </a:ext>
              </a:extLst>
            </p:cNvPr>
            <p:cNvSpPr/>
            <p:nvPr/>
          </p:nvSpPr>
          <p:spPr>
            <a:xfrm>
              <a:off x="2121925" y="104139"/>
              <a:ext cx="109709" cy="109221"/>
            </a:xfrm>
            <a:custGeom>
              <a:avLst/>
              <a:gdLst/>
              <a:ahLst/>
              <a:cxnLst/>
              <a:rect l="l" t="t" r="r" b="b"/>
              <a:pathLst>
                <a:path w="109709" h="109221">
                  <a:moveTo>
                    <a:pt x="54855" y="1"/>
                  </a:moveTo>
                  <a:cubicBezTo>
                    <a:pt x="35287" y="-87"/>
                    <a:pt x="17167" y="10303"/>
                    <a:pt x="7357" y="27235"/>
                  </a:cubicBezTo>
                  <a:cubicBezTo>
                    <a:pt x="-2452" y="44168"/>
                    <a:pt x="-2452" y="65054"/>
                    <a:pt x="7357" y="81987"/>
                  </a:cubicBezTo>
                  <a:cubicBezTo>
                    <a:pt x="17167" y="98919"/>
                    <a:pt x="35287" y="109309"/>
                    <a:pt x="54855" y="109221"/>
                  </a:cubicBezTo>
                  <a:cubicBezTo>
                    <a:pt x="74423" y="109309"/>
                    <a:pt x="92543" y="98919"/>
                    <a:pt x="102352" y="81987"/>
                  </a:cubicBezTo>
                  <a:cubicBezTo>
                    <a:pt x="112162" y="65054"/>
                    <a:pt x="112162" y="44168"/>
                    <a:pt x="102352" y="27235"/>
                  </a:cubicBezTo>
                  <a:cubicBezTo>
                    <a:pt x="92543" y="10303"/>
                    <a:pt x="74423" y="-87"/>
                    <a:pt x="54855" y="1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66" name="Freeform 13">
              <a:extLst>
                <a:ext uri="{FF2B5EF4-FFF2-40B4-BE49-F238E27FC236}">
                  <a16:creationId xmlns:a16="http://schemas.microsoft.com/office/drawing/2014/main" id="{EF8ACDF7-E077-2768-36A6-2E55A8C098D2}"/>
                </a:ext>
              </a:extLst>
            </p:cNvPr>
            <p:cNvSpPr/>
            <p:nvPr/>
          </p:nvSpPr>
          <p:spPr>
            <a:xfrm>
              <a:off x="2330313" y="128270"/>
              <a:ext cx="61233" cy="60961"/>
            </a:xfrm>
            <a:custGeom>
              <a:avLst/>
              <a:gdLst/>
              <a:ahLst/>
              <a:cxnLst/>
              <a:rect l="l" t="t" r="r" b="b"/>
              <a:pathLst>
                <a:path w="61233" h="60961">
                  <a:moveTo>
                    <a:pt x="30617" y="0"/>
                  </a:moveTo>
                  <a:cubicBezTo>
                    <a:pt x="19695" y="-49"/>
                    <a:pt x="9582" y="5750"/>
                    <a:pt x="4107" y="15201"/>
                  </a:cubicBezTo>
                  <a:cubicBezTo>
                    <a:pt x="-1369" y="24651"/>
                    <a:pt x="-1369" y="36309"/>
                    <a:pt x="4107" y="45759"/>
                  </a:cubicBezTo>
                  <a:cubicBezTo>
                    <a:pt x="9582" y="55210"/>
                    <a:pt x="19695" y="61009"/>
                    <a:pt x="30617" y="60960"/>
                  </a:cubicBezTo>
                  <a:cubicBezTo>
                    <a:pt x="41539" y="61009"/>
                    <a:pt x="51652" y="55210"/>
                    <a:pt x="57127" y="45759"/>
                  </a:cubicBezTo>
                  <a:cubicBezTo>
                    <a:pt x="62602" y="36309"/>
                    <a:pt x="62602" y="24651"/>
                    <a:pt x="57127" y="15201"/>
                  </a:cubicBezTo>
                  <a:cubicBezTo>
                    <a:pt x="51652" y="5750"/>
                    <a:pt x="41539" y="-49"/>
                    <a:pt x="30617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67" name="Freeform 14">
              <a:extLst>
                <a:ext uri="{FF2B5EF4-FFF2-40B4-BE49-F238E27FC236}">
                  <a16:creationId xmlns:a16="http://schemas.microsoft.com/office/drawing/2014/main" id="{3C3B606A-ACF9-D2E5-E5F4-C7842C4B3E5D}"/>
                </a:ext>
              </a:extLst>
            </p:cNvPr>
            <p:cNvSpPr/>
            <p:nvPr/>
          </p:nvSpPr>
          <p:spPr>
            <a:xfrm>
              <a:off x="2346897" y="144780"/>
              <a:ext cx="28065" cy="27940"/>
            </a:xfrm>
            <a:custGeom>
              <a:avLst/>
              <a:gdLst/>
              <a:ahLst/>
              <a:cxnLst/>
              <a:rect l="l" t="t" r="r" b="b"/>
              <a:pathLst>
                <a:path w="28065" h="27940">
                  <a:moveTo>
                    <a:pt x="14033" y="0"/>
                  </a:moveTo>
                  <a:cubicBezTo>
                    <a:pt x="9027" y="-22"/>
                    <a:pt x="4392" y="2635"/>
                    <a:pt x="1882" y="6967"/>
                  </a:cubicBezTo>
                  <a:cubicBezTo>
                    <a:pt x="-627" y="11298"/>
                    <a:pt x="-627" y="16642"/>
                    <a:pt x="1882" y="20973"/>
                  </a:cubicBezTo>
                  <a:cubicBezTo>
                    <a:pt x="4392" y="25305"/>
                    <a:pt x="9027" y="27962"/>
                    <a:pt x="14033" y="27940"/>
                  </a:cubicBezTo>
                  <a:cubicBezTo>
                    <a:pt x="19039" y="27962"/>
                    <a:pt x="23674" y="25305"/>
                    <a:pt x="26184" y="20973"/>
                  </a:cubicBezTo>
                  <a:cubicBezTo>
                    <a:pt x="28693" y="16642"/>
                    <a:pt x="28693" y="11298"/>
                    <a:pt x="26184" y="6967"/>
                  </a:cubicBezTo>
                  <a:cubicBezTo>
                    <a:pt x="23674" y="2635"/>
                    <a:pt x="19039" y="-22"/>
                    <a:pt x="14033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68" name="Freeform 15">
              <a:extLst>
                <a:ext uri="{FF2B5EF4-FFF2-40B4-BE49-F238E27FC236}">
                  <a16:creationId xmlns:a16="http://schemas.microsoft.com/office/drawing/2014/main" id="{5562BD88-7450-A03A-DEDC-13A202A1186E}"/>
                </a:ext>
              </a:extLst>
            </p:cNvPr>
            <p:cNvSpPr/>
            <p:nvPr/>
          </p:nvSpPr>
          <p:spPr>
            <a:xfrm>
              <a:off x="2344386" y="144780"/>
              <a:ext cx="15308" cy="15240"/>
            </a:xfrm>
            <a:custGeom>
              <a:avLst/>
              <a:gdLst/>
              <a:ahLst/>
              <a:cxnLst/>
              <a:rect l="l" t="t" r="r" b="b"/>
              <a:pathLst>
                <a:path w="15308" h="15240">
                  <a:moveTo>
                    <a:pt x="7654" y="0"/>
                  </a:moveTo>
                  <a:cubicBezTo>
                    <a:pt x="4924" y="-12"/>
                    <a:pt x="2395" y="1437"/>
                    <a:pt x="1026" y="3800"/>
                  </a:cubicBezTo>
                  <a:cubicBezTo>
                    <a:pt x="-342" y="6163"/>
                    <a:pt x="-342" y="9077"/>
                    <a:pt x="1026" y="11440"/>
                  </a:cubicBezTo>
                  <a:cubicBezTo>
                    <a:pt x="2395" y="13803"/>
                    <a:pt x="4924" y="15252"/>
                    <a:pt x="7654" y="15240"/>
                  </a:cubicBezTo>
                  <a:cubicBezTo>
                    <a:pt x="10384" y="15252"/>
                    <a:pt x="12913" y="13803"/>
                    <a:pt x="14281" y="11440"/>
                  </a:cubicBezTo>
                  <a:cubicBezTo>
                    <a:pt x="15650" y="9077"/>
                    <a:pt x="15650" y="6163"/>
                    <a:pt x="14281" y="3800"/>
                  </a:cubicBezTo>
                  <a:cubicBezTo>
                    <a:pt x="12913" y="1437"/>
                    <a:pt x="10384" y="-12"/>
                    <a:pt x="7654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69" name="Freeform 16">
              <a:extLst>
                <a:ext uri="{FF2B5EF4-FFF2-40B4-BE49-F238E27FC236}">
                  <a16:creationId xmlns:a16="http://schemas.microsoft.com/office/drawing/2014/main" id="{41824F2C-F126-8272-22F6-37AC8B46DD29}"/>
                </a:ext>
              </a:extLst>
            </p:cNvPr>
            <p:cNvSpPr/>
            <p:nvPr/>
          </p:nvSpPr>
          <p:spPr>
            <a:xfrm>
              <a:off x="4716780" y="53467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70" name="Freeform 17">
              <a:extLst>
                <a:ext uri="{FF2B5EF4-FFF2-40B4-BE49-F238E27FC236}">
                  <a16:creationId xmlns:a16="http://schemas.microsoft.com/office/drawing/2014/main" id="{45E592C9-FD05-768A-4DAC-0789206DF16F}"/>
                </a:ext>
              </a:extLst>
            </p:cNvPr>
            <p:cNvSpPr/>
            <p:nvPr/>
          </p:nvSpPr>
          <p:spPr>
            <a:xfrm>
              <a:off x="4716780" y="86106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71" name="Freeform 18">
              <a:extLst>
                <a:ext uri="{FF2B5EF4-FFF2-40B4-BE49-F238E27FC236}">
                  <a16:creationId xmlns:a16="http://schemas.microsoft.com/office/drawing/2014/main" id="{23C952DD-A6C0-EC06-E13A-E27029398FC3}"/>
                </a:ext>
              </a:extLst>
            </p:cNvPr>
            <p:cNvSpPr/>
            <p:nvPr/>
          </p:nvSpPr>
          <p:spPr>
            <a:xfrm>
              <a:off x="4064000" y="-113"/>
              <a:ext cx="320040" cy="16623"/>
            </a:xfrm>
            <a:custGeom>
              <a:avLst/>
              <a:gdLst/>
              <a:ahLst/>
              <a:cxnLst/>
              <a:rect l="l" t="t" r="r" b="b"/>
              <a:pathLst>
                <a:path w="320040" h="16623">
                  <a:moveTo>
                    <a:pt x="0" y="16623"/>
                  </a:moveTo>
                  <a:lnTo>
                    <a:pt x="320040" y="16623"/>
                  </a:lnTo>
                  <a:cubicBezTo>
                    <a:pt x="320040" y="-2427"/>
                    <a:pt x="304800" y="113"/>
                    <a:pt x="285750" y="113"/>
                  </a:cubicBezTo>
                  <a:lnTo>
                    <a:pt x="34290" y="113"/>
                  </a:lnTo>
                  <a:cubicBezTo>
                    <a:pt x="15240" y="113"/>
                    <a:pt x="0" y="-2427"/>
                    <a:pt x="0" y="16623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3969638" y="4666830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 rot="-5400000">
            <a:off x="6605895" y="-120972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2" y="0"/>
                </a:lnTo>
                <a:lnTo>
                  <a:pt x="85948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A394AC4-739F-8C86-F6C4-C291B3BB0C58}"/>
              </a:ext>
            </a:extLst>
          </p:cNvPr>
          <p:cNvGrpSpPr/>
          <p:nvPr/>
        </p:nvGrpSpPr>
        <p:grpSpPr>
          <a:xfrm>
            <a:off x="8170270" y="4666830"/>
            <a:ext cx="3278799" cy="4277145"/>
            <a:chOff x="8170270" y="4666830"/>
            <a:chExt cx="3278799" cy="4277145"/>
          </a:xfrm>
        </p:grpSpPr>
        <p:grpSp>
          <p:nvGrpSpPr>
            <p:cNvPr id="25" name="Group 25"/>
            <p:cNvGrpSpPr/>
            <p:nvPr/>
          </p:nvGrpSpPr>
          <p:grpSpPr>
            <a:xfrm>
              <a:off x="8170270" y="4666830"/>
              <a:ext cx="3278799" cy="4277145"/>
              <a:chOff x="0" y="0"/>
              <a:chExt cx="999092" cy="1303301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999092" cy="1303301"/>
              </a:xfrm>
              <a:custGeom>
                <a:avLst/>
                <a:gdLst/>
                <a:ahLst/>
                <a:cxnLst/>
                <a:rect l="l" t="t" r="r" b="b"/>
                <a:pathLst>
                  <a:path w="999092" h="1303301">
                    <a:moveTo>
                      <a:pt x="59030" y="0"/>
                    </a:moveTo>
                    <a:lnTo>
                      <a:pt x="940062" y="0"/>
                    </a:lnTo>
                    <a:cubicBezTo>
                      <a:pt x="955717" y="0"/>
                      <a:pt x="970732" y="6219"/>
                      <a:pt x="981802" y="17290"/>
                    </a:cubicBezTo>
                    <a:cubicBezTo>
                      <a:pt x="992873" y="28360"/>
                      <a:pt x="999092" y="43374"/>
                      <a:pt x="999092" y="59030"/>
                    </a:cubicBezTo>
                    <a:lnTo>
                      <a:pt x="999092" y="1244271"/>
                    </a:lnTo>
                    <a:cubicBezTo>
                      <a:pt x="999092" y="1276872"/>
                      <a:pt x="972663" y="1303301"/>
                      <a:pt x="940062" y="1303301"/>
                    </a:cubicBezTo>
                    <a:lnTo>
                      <a:pt x="59030" y="1303301"/>
                    </a:lnTo>
                    <a:cubicBezTo>
                      <a:pt x="26429" y="1303301"/>
                      <a:pt x="0" y="1276872"/>
                      <a:pt x="0" y="1244271"/>
                    </a:cubicBezTo>
                    <a:lnTo>
                      <a:pt x="0" y="59030"/>
                    </a:lnTo>
                    <a:cubicBezTo>
                      <a:pt x="0" y="26429"/>
                      <a:pt x="26429" y="0"/>
                      <a:pt x="5903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47625"/>
                <a:ext cx="999092" cy="13509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8657350" y="6954981"/>
              <a:ext cx="2304639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Rozšíření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o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nové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herní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módy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funkce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692697" y="5289228"/>
              <a:ext cx="2233944" cy="1464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03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Herní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mechaniky</a:t>
              </a:r>
              <a:endParaRPr lang="en-US" sz="4200" dirty="0">
                <a:solidFill>
                  <a:srgbClr val="000000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endParaRPr>
            </a:p>
          </p:txBody>
        </p:sp>
      </p:grpSp>
      <p:sp>
        <p:nvSpPr>
          <p:cNvPr id="3" name="Freeform 3"/>
          <p:cNvSpPr/>
          <p:nvPr/>
        </p:nvSpPr>
        <p:spPr>
          <a:xfrm rot="-10800000">
            <a:off x="11134744" y="-2575651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7" y="0"/>
                </a:lnTo>
                <a:lnTo>
                  <a:pt x="9990407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-3966503" y="-3368396"/>
            <a:ext cx="9990407" cy="9266102"/>
          </a:xfrm>
          <a:custGeom>
            <a:avLst/>
            <a:gdLst/>
            <a:ahLst/>
            <a:cxnLst/>
            <a:rect l="l" t="t" r="r" b="b"/>
            <a:pathLst>
              <a:path w="9990407" h="9266102">
                <a:moveTo>
                  <a:pt x="0" y="0"/>
                </a:moveTo>
                <a:lnTo>
                  <a:pt x="9990406" y="0"/>
                </a:lnTo>
                <a:lnTo>
                  <a:pt x="9990406" y="9266102"/>
                </a:lnTo>
                <a:lnTo>
                  <a:pt x="0" y="9266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-10800000">
            <a:off x="-957630" y="5022528"/>
            <a:ext cx="7736552" cy="7407749"/>
          </a:xfrm>
          <a:custGeom>
            <a:avLst/>
            <a:gdLst/>
            <a:ahLst/>
            <a:cxnLst/>
            <a:rect l="l" t="t" r="r" b="b"/>
            <a:pathLst>
              <a:path w="7736552" h="7407749">
                <a:moveTo>
                  <a:pt x="0" y="0"/>
                </a:moveTo>
                <a:lnTo>
                  <a:pt x="7736552" y="0"/>
                </a:lnTo>
                <a:lnTo>
                  <a:pt x="7736552" y="7407749"/>
                </a:lnTo>
                <a:lnTo>
                  <a:pt x="0" y="74077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1183983" y="786757"/>
            <a:ext cx="6113417" cy="8471543"/>
            <a:chOff x="0" y="0"/>
            <a:chExt cx="4734560" cy="6560820"/>
          </a:xfrm>
        </p:grpSpPr>
        <p:sp>
          <p:nvSpPr>
            <p:cNvPr id="8" name="Freeform 8"/>
            <p:cNvSpPr/>
            <p:nvPr/>
          </p:nvSpPr>
          <p:spPr>
            <a:xfrm>
              <a:off x="36830" y="50800"/>
              <a:ext cx="4645660" cy="6473190"/>
            </a:xfrm>
            <a:custGeom>
              <a:avLst/>
              <a:gdLst/>
              <a:ahLst/>
              <a:cxnLst/>
              <a:rect l="l" t="t" r="r" b="b"/>
              <a:pathLst>
                <a:path w="4645660" h="6473190">
                  <a:moveTo>
                    <a:pt x="4368800" y="0"/>
                  </a:moveTo>
                  <a:lnTo>
                    <a:pt x="276860" y="0"/>
                  </a:lnTo>
                  <a:cubicBezTo>
                    <a:pt x="124460" y="0"/>
                    <a:pt x="0" y="123190"/>
                    <a:pt x="0" y="276860"/>
                  </a:cubicBezTo>
                  <a:lnTo>
                    <a:pt x="0" y="6196330"/>
                  </a:lnTo>
                  <a:cubicBezTo>
                    <a:pt x="0" y="6350000"/>
                    <a:pt x="124460" y="6473190"/>
                    <a:pt x="276860" y="6473190"/>
                  </a:cubicBezTo>
                  <a:lnTo>
                    <a:pt x="4368800" y="6473190"/>
                  </a:lnTo>
                  <a:cubicBezTo>
                    <a:pt x="4522470" y="6473190"/>
                    <a:pt x="4645660" y="6348730"/>
                    <a:pt x="4645660" y="6196330"/>
                  </a:cubicBezTo>
                  <a:lnTo>
                    <a:pt x="4645660" y="276860"/>
                  </a:lnTo>
                  <a:cubicBezTo>
                    <a:pt x="4645660" y="123190"/>
                    <a:pt x="4522470" y="0"/>
                    <a:pt x="4368800" y="0"/>
                  </a:cubicBezTo>
                  <a:close/>
                  <a:moveTo>
                    <a:pt x="4425950" y="6156960"/>
                  </a:moveTo>
                  <a:cubicBezTo>
                    <a:pt x="4425950" y="6212840"/>
                    <a:pt x="4380230" y="6258560"/>
                    <a:pt x="4324350" y="6258560"/>
                  </a:cubicBezTo>
                  <a:lnTo>
                    <a:pt x="321310" y="6258560"/>
                  </a:lnTo>
                  <a:cubicBezTo>
                    <a:pt x="265430" y="6258560"/>
                    <a:pt x="219710" y="6212840"/>
                    <a:pt x="219710" y="6156960"/>
                  </a:cubicBezTo>
                  <a:lnTo>
                    <a:pt x="219710" y="316230"/>
                  </a:lnTo>
                  <a:cubicBezTo>
                    <a:pt x="219710" y="260350"/>
                    <a:pt x="265430" y="214630"/>
                    <a:pt x="321310" y="214630"/>
                  </a:cubicBezTo>
                  <a:lnTo>
                    <a:pt x="4325620" y="214630"/>
                  </a:lnTo>
                  <a:cubicBezTo>
                    <a:pt x="4381500" y="214630"/>
                    <a:pt x="4427220" y="260350"/>
                    <a:pt x="4427220" y="316230"/>
                  </a:cubicBezTo>
                  <a:lnTo>
                    <a:pt x="4427220" y="6156960"/>
                  </a:ln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16511"/>
              <a:ext cx="4716780" cy="6544310"/>
            </a:xfrm>
            <a:custGeom>
              <a:avLst/>
              <a:gdLst/>
              <a:ahLst/>
              <a:cxnLst/>
              <a:rect l="l" t="t" r="r" b="b"/>
              <a:pathLst>
                <a:path w="4716780" h="6544310">
                  <a:moveTo>
                    <a:pt x="4395470" y="36829"/>
                  </a:moveTo>
                  <a:cubicBezTo>
                    <a:pt x="4552950" y="36829"/>
                    <a:pt x="4681220" y="165099"/>
                    <a:pt x="4681220" y="322579"/>
                  </a:cubicBezTo>
                  <a:lnTo>
                    <a:pt x="4681220" y="6222999"/>
                  </a:lnTo>
                  <a:cubicBezTo>
                    <a:pt x="4681220" y="6380479"/>
                    <a:pt x="4552950" y="6508750"/>
                    <a:pt x="4395470" y="6508750"/>
                  </a:cubicBezTo>
                  <a:lnTo>
                    <a:pt x="321310" y="6508750"/>
                  </a:lnTo>
                  <a:cubicBezTo>
                    <a:pt x="163830" y="6508750"/>
                    <a:pt x="35560" y="6380480"/>
                    <a:pt x="35560" y="6223000"/>
                  </a:cubicBezTo>
                  <a:lnTo>
                    <a:pt x="35560" y="322580"/>
                  </a:lnTo>
                  <a:cubicBezTo>
                    <a:pt x="35560" y="165100"/>
                    <a:pt x="163830" y="36830"/>
                    <a:pt x="321310" y="36830"/>
                  </a:cubicBezTo>
                  <a:lnTo>
                    <a:pt x="4395470" y="36830"/>
                  </a:lnTo>
                  <a:moveTo>
                    <a:pt x="4395470" y="0"/>
                  </a:moveTo>
                  <a:lnTo>
                    <a:pt x="321310" y="0"/>
                  </a:lnTo>
                  <a:cubicBezTo>
                    <a:pt x="143510" y="0"/>
                    <a:pt x="0" y="144780"/>
                    <a:pt x="0" y="322580"/>
                  </a:cubicBezTo>
                  <a:lnTo>
                    <a:pt x="0" y="6223000"/>
                  </a:lnTo>
                  <a:cubicBezTo>
                    <a:pt x="0" y="6400800"/>
                    <a:pt x="143510" y="6544309"/>
                    <a:pt x="321310" y="6544309"/>
                  </a:cubicBezTo>
                  <a:lnTo>
                    <a:pt x="4395470" y="6544309"/>
                  </a:lnTo>
                  <a:cubicBezTo>
                    <a:pt x="4573270" y="6544309"/>
                    <a:pt x="4716780" y="6400800"/>
                    <a:pt x="4716780" y="6223000"/>
                  </a:cubicBezTo>
                  <a:lnTo>
                    <a:pt x="4716780" y="322580"/>
                  </a:lnTo>
                  <a:cubicBezTo>
                    <a:pt x="4716780" y="144780"/>
                    <a:pt x="4573270" y="0"/>
                    <a:pt x="439547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56540" y="265430"/>
              <a:ext cx="4207510" cy="6043930"/>
            </a:xfrm>
            <a:custGeom>
              <a:avLst/>
              <a:gdLst/>
              <a:ahLst/>
              <a:cxnLst/>
              <a:rect l="l" t="t" r="r" b="b"/>
              <a:pathLst>
                <a:path w="4207510" h="6043930">
                  <a:moveTo>
                    <a:pt x="4206240" y="5942330"/>
                  </a:moveTo>
                  <a:cubicBezTo>
                    <a:pt x="4206240" y="5998210"/>
                    <a:pt x="4160520" y="6043930"/>
                    <a:pt x="4104640" y="6043930"/>
                  </a:cubicBezTo>
                  <a:lnTo>
                    <a:pt x="101600" y="6043930"/>
                  </a:lnTo>
                  <a:cubicBezTo>
                    <a:pt x="45720" y="6043930"/>
                    <a:pt x="0" y="5998210"/>
                    <a:pt x="0" y="5942330"/>
                  </a:cubicBezTo>
                  <a:lnTo>
                    <a:pt x="0" y="101600"/>
                  </a:lnTo>
                  <a:cubicBezTo>
                    <a:pt x="0" y="45720"/>
                    <a:pt x="45720" y="0"/>
                    <a:pt x="101600" y="0"/>
                  </a:cubicBezTo>
                  <a:lnTo>
                    <a:pt x="4105910" y="0"/>
                  </a:lnTo>
                  <a:cubicBezTo>
                    <a:pt x="4161790" y="0"/>
                    <a:pt x="4207510" y="45720"/>
                    <a:pt x="4207510" y="101600"/>
                  </a:cubicBezTo>
                  <a:lnTo>
                    <a:pt x="4207510" y="5942330"/>
                  </a:lnTo>
                  <a:close/>
                </a:path>
              </a:pathLst>
            </a:custGeom>
            <a:blipFill>
              <a:blip r:embed="rId4"/>
              <a:stretch>
                <a:fillRect r="-87161"/>
              </a:stretch>
            </a:blipFill>
          </p:spPr>
          <p:txBody>
            <a:bodyPr/>
            <a:lstStyle/>
            <a:p>
              <a:endParaRPr lang="cs-CZ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953089" y="120650"/>
              <a:ext cx="76541" cy="76201"/>
            </a:xfrm>
            <a:custGeom>
              <a:avLst/>
              <a:gdLst/>
              <a:ahLst/>
              <a:cxnLst/>
              <a:rect l="l" t="t" r="r" b="b"/>
              <a:pathLst>
                <a:path w="76541" h="76201">
                  <a:moveTo>
                    <a:pt x="38271" y="0"/>
                  </a:moveTo>
                  <a:cubicBezTo>
                    <a:pt x="24619" y="-61"/>
                    <a:pt x="11977" y="7187"/>
                    <a:pt x="5133" y="19001"/>
                  </a:cubicBezTo>
                  <a:cubicBezTo>
                    <a:pt x="-1711" y="30814"/>
                    <a:pt x="-1711" y="45386"/>
                    <a:pt x="5133" y="57199"/>
                  </a:cubicBezTo>
                  <a:cubicBezTo>
                    <a:pt x="11977" y="69013"/>
                    <a:pt x="24619" y="76261"/>
                    <a:pt x="38271" y="76200"/>
                  </a:cubicBezTo>
                  <a:cubicBezTo>
                    <a:pt x="51923" y="76261"/>
                    <a:pt x="64565" y="69013"/>
                    <a:pt x="71409" y="57199"/>
                  </a:cubicBezTo>
                  <a:cubicBezTo>
                    <a:pt x="78253" y="45386"/>
                    <a:pt x="78253" y="30814"/>
                    <a:pt x="71409" y="19001"/>
                  </a:cubicBezTo>
                  <a:cubicBezTo>
                    <a:pt x="64565" y="7187"/>
                    <a:pt x="51923" y="-61"/>
                    <a:pt x="38271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2121925" y="104139"/>
              <a:ext cx="109709" cy="109221"/>
            </a:xfrm>
            <a:custGeom>
              <a:avLst/>
              <a:gdLst/>
              <a:ahLst/>
              <a:cxnLst/>
              <a:rect l="l" t="t" r="r" b="b"/>
              <a:pathLst>
                <a:path w="109709" h="109221">
                  <a:moveTo>
                    <a:pt x="54855" y="1"/>
                  </a:moveTo>
                  <a:cubicBezTo>
                    <a:pt x="35287" y="-87"/>
                    <a:pt x="17167" y="10303"/>
                    <a:pt x="7357" y="27235"/>
                  </a:cubicBezTo>
                  <a:cubicBezTo>
                    <a:pt x="-2452" y="44168"/>
                    <a:pt x="-2452" y="65054"/>
                    <a:pt x="7357" y="81987"/>
                  </a:cubicBezTo>
                  <a:cubicBezTo>
                    <a:pt x="17167" y="98919"/>
                    <a:pt x="35287" y="109309"/>
                    <a:pt x="54855" y="109221"/>
                  </a:cubicBezTo>
                  <a:cubicBezTo>
                    <a:pt x="74423" y="109309"/>
                    <a:pt x="92543" y="98919"/>
                    <a:pt x="102352" y="81987"/>
                  </a:cubicBezTo>
                  <a:cubicBezTo>
                    <a:pt x="112162" y="65054"/>
                    <a:pt x="112162" y="44168"/>
                    <a:pt x="102352" y="27235"/>
                  </a:cubicBezTo>
                  <a:cubicBezTo>
                    <a:pt x="92543" y="10303"/>
                    <a:pt x="74423" y="-87"/>
                    <a:pt x="54855" y="1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2330313" y="128270"/>
              <a:ext cx="61233" cy="60961"/>
            </a:xfrm>
            <a:custGeom>
              <a:avLst/>
              <a:gdLst/>
              <a:ahLst/>
              <a:cxnLst/>
              <a:rect l="l" t="t" r="r" b="b"/>
              <a:pathLst>
                <a:path w="61233" h="60961">
                  <a:moveTo>
                    <a:pt x="30617" y="0"/>
                  </a:moveTo>
                  <a:cubicBezTo>
                    <a:pt x="19695" y="-49"/>
                    <a:pt x="9582" y="5750"/>
                    <a:pt x="4107" y="15201"/>
                  </a:cubicBezTo>
                  <a:cubicBezTo>
                    <a:pt x="-1369" y="24651"/>
                    <a:pt x="-1369" y="36309"/>
                    <a:pt x="4107" y="45759"/>
                  </a:cubicBezTo>
                  <a:cubicBezTo>
                    <a:pt x="9582" y="55210"/>
                    <a:pt x="19695" y="61009"/>
                    <a:pt x="30617" y="60960"/>
                  </a:cubicBezTo>
                  <a:cubicBezTo>
                    <a:pt x="41539" y="61009"/>
                    <a:pt x="51652" y="55210"/>
                    <a:pt x="57127" y="45759"/>
                  </a:cubicBezTo>
                  <a:cubicBezTo>
                    <a:pt x="62602" y="36309"/>
                    <a:pt x="62602" y="24651"/>
                    <a:pt x="57127" y="15201"/>
                  </a:cubicBezTo>
                  <a:cubicBezTo>
                    <a:pt x="51652" y="5750"/>
                    <a:pt x="41539" y="-49"/>
                    <a:pt x="30617" y="0"/>
                  </a:cubicBezTo>
                  <a:close/>
                </a:path>
              </a:pathLst>
            </a:custGeom>
            <a:solidFill>
              <a:srgbClr val="333333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2346897" y="144780"/>
              <a:ext cx="28065" cy="27940"/>
            </a:xfrm>
            <a:custGeom>
              <a:avLst/>
              <a:gdLst/>
              <a:ahLst/>
              <a:cxnLst/>
              <a:rect l="l" t="t" r="r" b="b"/>
              <a:pathLst>
                <a:path w="28065" h="27940">
                  <a:moveTo>
                    <a:pt x="14033" y="0"/>
                  </a:moveTo>
                  <a:cubicBezTo>
                    <a:pt x="9027" y="-22"/>
                    <a:pt x="4392" y="2635"/>
                    <a:pt x="1882" y="6967"/>
                  </a:cubicBezTo>
                  <a:cubicBezTo>
                    <a:pt x="-627" y="11298"/>
                    <a:pt x="-627" y="16642"/>
                    <a:pt x="1882" y="20973"/>
                  </a:cubicBezTo>
                  <a:cubicBezTo>
                    <a:pt x="4392" y="25305"/>
                    <a:pt x="9027" y="27962"/>
                    <a:pt x="14033" y="27940"/>
                  </a:cubicBezTo>
                  <a:cubicBezTo>
                    <a:pt x="19039" y="27962"/>
                    <a:pt x="23674" y="25305"/>
                    <a:pt x="26184" y="20973"/>
                  </a:cubicBezTo>
                  <a:cubicBezTo>
                    <a:pt x="28693" y="16642"/>
                    <a:pt x="28693" y="11298"/>
                    <a:pt x="26184" y="6967"/>
                  </a:cubicBezTo>
                  <a:cubicBezTo>
                    <a:pt x="23674" y="2635"/>
                    <a:pt x="19039" y="-22"/>
                    <a:pt x="14033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344386" y="144780"/>
              <a:ext cx="15308" cy="15240"/>
            </a:xfrm>
            <a:custGeom>
              <a:avLst/>
              <a:gdLst/>
              <a:ahLst/>
              <a:cxnLst/>
              <a:rect l="l" t="t" r="r" b="b"/>
              <a:pathLst>
                <a:path w="15308" h="15240">
                  <a:moveTo>
                    <a:pt x="7654" y="0"/>
                  </a:moveTo>
                  <a:cubicBezTo>
                    <a:pt x="4924" y="-12"/>
                    <a:pt x="2395" y="1437"/>
                    <a:pt x="1026" y="3800"/>
                  </a:cubicBezTo>
                  <a:cubicBezTo>
                    <a:pt x="-342" y="6163"/>
                    <a:pt x="-342" y="9077"/>
                    <a:pt x="1026" y="11440"/>
                  </a:cubicBezTo>
                  <a:cubicBezTo>
                    <a:pt x="2395" y="13803"/>
                    <a:pt x="4924" y="15252"/>
                    <a:pt x="7654" y="15240"/>
                  </a:cubicBezTo>
                  <a:cubicBezTo>
                    <a:pt x="10384" y="15252"/>
                    <a:pt x="12913" y="13803"/>
                    <a:pt x="14281" y="11440"/>
                  </a:cubicBezTo>
                  <a:cubicBezTo>
                    <a:pt x="15650" y="9077"/>
                    <a:pt x="15650" y="6163"/>
                    <a:pt x="14281" y="3800"/>
                  </a:cubicBezTo>
                  <a:cubicBezTo>
                    <a:pt x="12913" y="1437"/>
                    <a:pt x="10384" y="-12"/>
                    <a:pt x="7654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4716780" y="53467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4716780" y="861060"/>
              <a:ext cx="16622" cy="278130"/>
            </a:xfrm>
            <a:custGeom>
              <a:avLst/>
              <a:gdLst/>
              <a:ahLst/>
              <a:cxnLst/>
              <a:rect l="l" t="t" r="r" b="b"/>
              <a:pathLst>
                <a:path w="16622" h="278130">
                  <a:moveTo>
                    <a:pt x="0" y="0"/>
                  </a:moveTo>
                  <a:lnTo>
                    <a:pt x="0" y="278130"/>
                  </a:lnTo>
                  <a:cubicBezTo>
                    <a:pt x="19050" y="278130"/>
                    <a:pt x="16510" y="262890"/>
                    <a:pt x="16510" y="243840"/>
                  </a:cubicBezTo>
                  <a:lnTo>
                    <a:pt x="16510" y="35560"/>
                  </a:lnTo>
                  <a:cubicBezTo>
                    <a:pt x="16510" y="16510"/>
                    <a:pt x="19050" y="0"/>
                    <a:pt x="0" y="0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4064000" y="-113"/>
              <a:ext cx="320040" cy="16623"/>
            </a:xfrm>
            <a:custGeom>
              <a:avLst/>
              <a:gdLst/>
              <a:ahLst/>
              <a:cxnLst/>
              <a:rect l="l" t="t" r="r" b="b"/>
              <a:pathLst>
                <a:path w="320040" h="16623">
                  <a:moveTo>
                    <a:pt x="0" y="16623"/>
                  </a:moveTo>
                  <a:lnTo>
                    <a:pt x="320040" y="16623"/>
                  </a:lnTo>
                  <a:cubicBezTo>
                    <a:pt x="320040" y="-2427"/>
                    <a:pt x="304800" y="113"/>
                    <a:pt x="285750" y="113"/>
                  </a:cubicBezTo>
                  <a:lnTo>
                    <a:pt x="34290" y="113"/>
                  </a:lnTo>
                  <a:cubicBezTo>
                    <a:pt x="15240" y="113"/>
                    <a:pt x="0" y="-2427"/>
                    <a:pt x="0" y="16623"/>
                  </a:cubicBezTo>
                  <a:close/>
                </a:path>
              </a:pathLst>
            </a:custGeom>
            <a:solidFill>
              <a:srgbClr val="010101"/>
            </a:solidFill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8" name="AutoShape 28"/>
          <p:cNvSpPr/>
          <p:nvPr/>
        </p:nvSpPr>
        <p:spPr>
          <a:xfrm>
            <a:off x="-693513" y="3979541"/>
            <a:ext cx="10503182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cs-CZ"/>
          </a:p>
        </p:txBody>
      </p:sp>
      <p:sp>
        <p:nvSpPr>
          <p:cNvPr id="32" name="TextBox 32"/>
          <p:cNvSpPr txBox="1"/>
          <p:nvPr/>
        </p:nvSpPr>
        <p:spPr>
          <a:xfrm>
            <a:off x="1805524" y="1813714"/>
            <a:ext cx="8923216" cy="770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180"/>
              </a:lnSpc>
              <a:spcBef>
                <a:spcPct val="0"/>
              </a:spcBef>
            </a:pPr>
            <a:r>
              <a:rPr lang="en-US" sz="7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BUDOUCÍ</a:t>
            </a:r>
            <a:r>
              <a:rPr lang="en-US" sz="7000" u="none" strike="noStrike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 VÝVOJ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B74AA70-2F6C-D9CD-B5B3-1C9DD76A58D9}"/>
              </a:ext>
            </a:extLst>
          </p:cNvPr>
          <p:cNvGrpSpPr/>
          <p:nvPr/>
        </p:nvGrpSpPr>
        <p:grpSpPr>
          <a:xfrm>
            <a:off x="1271247" y="4666830"/>
            <a:ext cx="3278799" cy="4277145"/>
            <a:chOff x="1271247" y="4666830"/>
            <a:chExt cx="3278799" cy="4277145"/>
          </a:xfrm>
        </p:grpSpPr>
        <p:grpSp>
          <p:nvGrpSpPr>
            <p:cNvPr id="19" name="Group 19"/>
            <p:cNvGrpSpPr/>
            <p:nvPr/>
          </p:nvGrpSpPr>
          <p:grpSpPr>
            <a:xfrm>
              <a:off x="1271247" y="4666830"/>
              <a:ext cx="3278799" cy="4277145"/>
              <a:chOff x="0" y="0"/>
              <a:chExt cx="999092" cy="1303301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999092" cy="1303301"/>
              </a:xfrm>
              <a:custGeom>
                <a:avLst/>
                <a:gdLst/>
                <a:ahLst/>
                <a:cxnLst/>
                <a:rect l="l" t="t" r="r" b="b"/>
                <a:pathLst>
                  <a:path w="999092" h="1303301">
                    <a:moveTo>
                      <a:pt x="59030" y="0"/>
                    </a:moveTo>
                    <a:lnTo>
                      <a:pt x="940062" y="0"/>
                    </a:lnTo>
                    <a:cubicBezTo>
                      <a:pt x="955717" y="0"/>
                      <a:pt x="970732" y="6219"/>
                      <a:pt x="981802" y="17290"/>
                    </a:cubicBezTo>
                    <a:cubicBezTo>
                      <a:pt x="992873" y="28360"/>
                      <a:pt x="999092" y="43374"/>
                      <a:pt x="999092" y="59030"/>
                    </a:cubicBezTo>
                    <a:lnTo>
                      <a:pt x="999092" y="1244271"/>
                    </a:lnTo>
                    <a:cubicBezTo>
                      <a:pt x="999092" y="1276872"/>
                      <a:pt x="972663" y="1303301"/>
                      <a:pt x="940062" y="1303301"/>
                    </a:cubicBezTo>
                    <a:lnTo>
                      <a:pt x="59030" y="1303301"/>
                    </a:lnTo>
                    <a:cubicBezTo>
                      <a:pt x="26429" y="1303301"/>
                      <a:pt x="0" y="1276872"/>
                      <a:pt x="0" y="1244271"/>
                    </a:cubicBezTo>
                    <a:lnTo>
                      <a:pt x="0" y="59030"/>
                    </a:lnTo>
                    <a:cubicBezTo>
                      <a:pt x="0" y="26429"/>
                      <a:pt x="26429" y="0"/>
                      <a:pt x="5903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47625"/>
                <a:ext cx="999092" cy="13509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1758327" y="6954981"/>
              <a:ext cx="2304639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Osazení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a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oživení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nové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verze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hůlky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724788" y="5289228"/>
              <a:ext cx="2371717" cy="1464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01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Dokončení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PCB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E210F50-EAF1-4B04-30CE-F7A3C1183973}"/>
              </a:ext>
            </a:extLst>
          </p:cNvPr>
          <p:cNvGrpSpPr/>
          <p:nvPr/>
        </p:nvGrpSpPr>
        <p:grpSpPr>
          <a:xfrm>
            <a:off x="4712561" y="4666830"/>
            <a:ext cx="3278799" cy="4277145"/>
            <a:chOff x="4712561" y="4666830"/>
            <a:chExt cx="3278799" cy="4277145"/>
          </a:xfrm>
        </p:grpSpPr>
        <p:grpSp>
          <p:nvGrpSpPr>
            <p:cNvPr id="22" name="Group 22"/>
            <p:cNvGrpSpPr/>
            <p:nvPr/>
          </p:nvGrpSpPr>
          <p:grpSpPr>
            <a:xfrm>
              <a:off x="4712561" y="4666830"/>
              <a:ext cx="3278799" cy="4277145"/>
              <a:chOff x="0" y="0"/>
              <a:chExt cx="999092" cy="1303301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999092" cy="1303301"/>
              </a:xfrm>
              <a:custGeom>
                <a:avLst/>
                <a:gdLst/>
                <a:ahLst/>
                <a:cxnLst/>
                <a:rect l="l" t="t" r="r" b="b"/>
                <a:pathLst>
                  <a:path w="999092" h="1303301">
                    <a:moveTo>
                      <a:pt x="59030" y="0"/>
                    </a:moveTo>
                    <a:lnTo>
                      <a:pt x="940062" y="0"/>
                    </a:lnTo>
                    <a:cubicBezTo>
                      <a:pt x="955717" y="0"/>
                      <a:pt x="970732" y="6219"/>
                      <a:pt x="981802" y="17290"/>
                    </a:cubicBezTo>
                    <a:cubicBezTo>
                      <a:pt x="992873" y="28360"/>
                      <a:pt x="999092" y="43374"/>
                      <a:pt x="999092" y="59030"/>
                    </a:cubicBezTo>
                    <a:lnTo>
                      <a:pt x="999092" y="1244271"/>
                    </a:lnTo>
                    <a:cubicBezTo>
                      <a:pt x="999092" y="1276872"/>
                      <a:pt x="972663" y="1303301"/>
                      <a:pt x="940062" y="1303301"/>
                    </a:cubicBezTo>
                    <a:lnTo>
                      <a:pt x="59030" y="1303301"/>
                    </a:lnTo>
                    <a:cubicBezTo>
                      <a:pt x="26429" y="1303301"/>
                      <a:pt x="0" y="1276872"/>
                      <a:pt x="0" y="1244271"/>
                    </a:cubicBezTo>
                    <a:lnTo>
                      <a:pt x="0" y="59030"/>
                    </a:lnTo>
                    <a:cubicBezTo>
                      <a:pt x="0" y="26429"/>
                      <a:pt x="26429" y="0"/>
                      <a:pt x="5903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cs-CZ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47625"/>
                <a:ext cx="999092" cy="13509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5199641" y="6954981"/>
              <a:ext cx="2304639" cy="6058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00"/>
                </a:lnSpc>
                <a:spcBef>
                  <a:spcPct val="0"/>
                </a:spcBef>
              </a:pP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Přesná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lokalizace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hráče</a:t>
              </a:r>
              <a:r>
                <a:rPr lang="en-US" sz="1600" dirty="0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 v </a:t>
              </a:r>
              <a:r>
                <a:rPr lang="en-US" sz="1600" dirty="0" err="1">
                  <a:solidFill>
                    <a:srgbClr val="555555"/>
                  </a:solidFill>
                  <a:latin typeface="DM Sans"/>
                  <a:ea typeface="DM Sans"/>
                  <a:cs typeface="DM Sans"/>
                  <a:sym typeface="DM Sans"/>
                </a:rPr>
                <a:t>prostoru</a:t>
              </a:r>
              <a:endParaRPr lang="en-US" sz="1600" dirty="0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234989" y="5289228"/>
              <a:ext cx="2233944" cy="1464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880"/>
                </a:lnSpc>
              </a:pP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02 </a:t>
              </a:r>
              <a:r>
                <a:rPr lang="en-US" sz="4200" dirty="0" err="1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Integrace</a:t>
              </a:r>
              <a:r>
                <a:rPr lang="en-US" sz="4200" dirty="0">
                  <a:solidFill>
                    <a:srgbClr val="000000"/>
                  </a:solidFill>
                  <a:latin typeface="Alternate Gothic No3"/>
                  <a:ea typeface="Alternate Gothic No3"/>
                  <a:cs typeface="Alternate Gothic No3"/>
                  <a:sym typeface="Alternate Gothic No3"/>
                </a:rPr>
                <a:t> UWB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9599056" y="7347530"/>
            <a:ext cx="8280581" cy="7680238"/>
          </a:xfrm>
          <a:custGeom>
            <a:avLst/>
            <a:gdLst/>
            <a:ahLst/>
            <a:cxnLst/>
            <a:rect l="l" t="t" r="r" b="b"/>
            <a:pathLst>
              <a:path w="8280581" h="7680238">
                <a:moveTo>
                  <a:pt x="0" y="0"/>
                </a:moveTo>
                <a:lnTo>
                  <a:pt x="8280580" y="0"/>
                </a:lnTo>
                <a:lnTo>
                  <a:pt x="8280580" y="7680238"/>
                </a:lnTo>
                <a:lnTo>
                  <a:pt x="0" y="76802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>
            <a:off x="15809280" y="6084963"/>
            <a:ext cx="5403739" cy="5174080"/>
          </a:xfrm>
          <a:custGeom>
            <a:avLst/>
            <a:gdLst/>
            <a:ahLst/>
            <a:cxnLst/>
            <a:rect l="l" t="t" r="r" b="b"/>
            <a:pathLst>
              <a:path w="5403739" h="5174080">
                <a:moveTo>
                  <a:pt x="0" y="0"/>
                </a:moveTo>
                <a:lnTo>
                  <a:pt x="5403738" y="0"/>
                </a:lnTo>
                <a:lnTo>
                  <a:pt x="5403738" y="5174080"/>
                </a:lnTo>
                <a:lnTo>
                  <a:pt x="0" y="51740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-4436442" y="-2259467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5400000">
            <a:off x="3164008" y="-3268741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 rot="-10800000">
            <a:off x="-1560524" y="5143500"/>
            <a:ext cx="7096674" cy="6795066"/>
          </a:xfrm>
          <a:custGeom>
            <a:avLst/>
            <a:gdLst/>
            <a:ahLst/>
            <a:cxnLst/>
            <a:rect l="l" t="t" r="r" b="b"/>
            <a:pathLst>
              <a:path w="7096674" h="6795066">
                <a:moveTo>
                  <a:pt x="0" y="0"/>
                </a:moveTo>
                <a:lnTo>
                  <a:pt x="7096674" y="0"/>
                </a:lnTo>
                <a:lnTo>
                  <a:pt x="7096674" y="6795066"/>
                </a:lnTo>
                <a:lnTo>
                  <a:pt x="0" y="67950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5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9599056" y="7347530"/>
            <a:ext cx="8280581" cy="7680238"/>
          </a:xfrm>
          <a:custGeom>
            <a:avLst/>
            <a:gdLst/>
            <a:ahLst/>
            <a:cxnLst/>
            <a:rect l="l" t="t" r="r" b="b"/>
            <a:pathLst>
              <a:path w="8280581" h="7680238">
                <a:moveTo>
                  <a:pt x="0" y="0"/>
                </a:moveTo>
                <a:lnTo>
                  <a:pt x="8280580" y="0"/>
                </a:lnTo>
                <a:lnTo>
                  <a:pt x="8280580" y="7680238"/>
                </a:lnTo>
                <a:lnTo>
                  <a:pt x="0" y="76802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3" name="Freeform 3"/>
          <p:cNvSpPr/>
          <p:nvPr/>
        </p:nvSpPr>
        <p:spPr>
          <a:xfrm>
            <a:off x="15809280" y="6084963"/>
            <a:ext cx="5403739" cy="5174080"/>
          </a:xfrm>
          <a:custGeom>
            <a:avLst/>
            <a:gdLst/>
            <a:ahLst/>
            <a:cxnLst/>
            <a:rect l="l" t="t" r="r" b="b"/>
            <a:pathLst>
              <a:path w="5403739" h="5174080">
                <a:moveTo>
                  <a:pt x="0" y="0"/>
                </a:moveTo>
                <a:lnTo>
                  <a:pt x="5403738" y="0"/>
                </a:lnTo>
                <a:lnTo>
                  <a:pt x="5403738" y="5174080"/>
                </a:lnTo>
                <a:lnTo>
                  <a:pt x="0" y="51740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4" name="Freeform 4"/>
          <p:cNvSpPr/>
          <p:nvPr/>
        </p:nvSpPr>
        <p:spPr>
          <a:xfrm rot="-10800000">
            <a:off x="-4436442" y="-2259467"/>
            <a:ext cx="8872884" cy="8229600"/>
          </a:xfrm>
          <a:custGeom>
            <a:avLst/>
            <a:gdLst/>
            <a:ahLst/>
            <a:cxnLst/>
            <a:rect l="l" t="t" r="r" b="b"/>
            <a:pathLst>
              <a:path w="8872884" h="8229600">
                <a:moveTo>
                  <a:pt x="0" y="0"/>
                </a:moveTo>
                <a:lnTo>
                  <a:pt x="8872884" y="0"/>
                </a:lnTo>
                <a:lnTo>
                  <a:pt x="887288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5" name="Freeform 5"/>
          <p:cNvSpPr/>
          <p:nvPr/>
        </p:nvSpPr>
        <p:spPr>
          <a:xfrm rot="5400000">
            <a:off x="3164008" y="-3268741"/>
            <a:ext cx="8594883" cy="8229600"/>
          </a:xfrm>
          <a:custGeom>
            <a:avLst/>
            <a:gdLst/>
            <a:ahLst/>
            <a:cxnLst/>
            <a:rect l="l" t="t" r="r" b="b"/>
            <a:pathLst>
              <a:path w="8594883" h="8229600">
                <a:moveTo>
                  <a:pt x="0" y="0"/>
                </a:moveTo>
                <a:lnTo>
                  <a:pt x="8594883" y="0"/>
                </a:lnTo>
                <a:lnTo>
                  <a:pt x="859488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6" name="Freeform 6"/>
          <p:cNvSpPr/>
          <p:nvPr/>
        </p:nvSpPr>
        <p:spPr>
          <a:xfrm rot="-10800000">
            <a:off x="-1560524" y="5143500"/>
            <a:ext cx="7096674" cy="6795066"/>
          </a:xfrm>
          <a:custGeom>
            <a:avLst/>
            <a:gdLst/>
            <a:ahLst/>
            <a:cxnLst/>
            <a:rect l="l" t="t" r="r" b="b"/>
            <a:pathLst>
              <a:path w="7096674" h="6795066">
                <a:moveTo>
                  <a:pt x="0" y="0"/>
                </a:moveTo>
                <a:lnTo>
                  <a:pt x="7096674" y="0"/>
                </a:lnTo>
                <a:lnTo>
                  <a:pt x="7096674" y="6795066"/>
                </a:lnTo>
                <a:lnTo>
                  <a:pt x="0" y="67950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cs-CZ"/>
          </a:p>
        </p:txBody>
      </p:sp>
      <p:sp>
        <p:nvSpPr>
          <p:cNvPr id="7" name="TextBox 7"/>
          <p:cNvSpPr txBox="1"/>
          <p:nvPr/>
        </p:nvSpPr>
        <p:spPr>
          <a:xfrm>
            <a:off x="4671248" y="3819552"/>
            <a:ext cx="8945505" cy="349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18000">
                <a:solidFill>
                  <a:srgbClr val="FFFFFF"/>
                </a:solidFill>
                <a:latin typeface="Alternate Gothic No3"/>
                <a:ea typeface="Alternate Gothic No3"/>
                <a:cs typeface="Alternate Gothic No3"/>
                <a:sym typeface="Alternate Gothic No3"/>
              </a:rPr>
              <a:t>DĚKUJI ZA POZORNOST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1232</Words>
  <Application>Microsoft Office PowerPoint</Application>
  <PresentationFormat>Custom</PresentationFormat>
  <Paragraphs>255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DM Sans</vt:lpstr>
      <vt:lpstr>Horizon</vt:lpstr>
      <vt:lpstr>Arial</vt:lpstr>
      <vt:lpstr>Alternate Gothic No3</vt:lpstr>
      <vt:lpstr>DM Sans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LASERWANDS</dc:title>
  <cp:lastModifiedBy>Josef Strachoň (3ITB)</cp:lastModifiedBy>
  <cp:revision>9</cp:revision>
  <dcterms:created xsi:type="dcterms:W3CDTF">2006-08-16T00:00:00Z</dcterms:created>
  <dcterms:modified xsi:type="dcterms:W3CDTF">2026-06-08T09:11:31Z</dcterms:modified>
  <dc:identifier>DAHL4pbMnKM</dc:identifier>
</cp:coreProperties>
</file>